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57" r:id="rId3"/>
    <p:sldId id="258" r:id="rId4"/>
    <p:sldId id="259" r:id="rId5"/>
    <p:sldId id="264" r:id="rId6"/>
    <p:sldId id="261" r:id="rId7"/>
    <p:sldId id="262" r:id="rId8"/>
    <p:sldId id="265" r:id="rId9"/>
    <p:sldId id="266" r:id="rId10"/>
    <p:sldId id="267" r:id="rId11"/>
    <p:sldId id="269" r:id="rId12"/>
    <p:sldId id="270" r:id="rId13"/>
    <p:sldId id="271" r:id="rId14"/>
    <p:sldId id="272" r:id="rId15"/>
    <p:sldId id="273" r:id="rId16"/>
    <p:sldId id="274" r:id="rId17"/>
    <p:sldId id="275" r:id="rId18"/>
    <p:sldId id="276" r:id="rId19"/>
    <p:sldId id="277" r:id="rId20"/>
    <p:sldId id="279" r:id="rId21"/>
    <p:sldId id="278" r:id="rId22"/>
    <p:sldId id="280" r:id="rId23"/>
    <p:sldId id="281" r:id="rId24"/>
    <p:sldId id="282" r:id="rId25"/>
    <p:sldId id="283" r:id="rId26"/>
    <p:sldId id="284" r:id="rId27"/>
    <p:sldId id="285" r:id="rId28"/>
    <p:sldId id="286" r:id="rId29"/>
    <p:sldId id="288" r:id="rId30"/>
    <p:sldId id="289" r:id="rId31"/>
    <p:sldId id="290" r:id="rId32"/>
    <p:sldId id="291" r:id="rId33"/>
    <p:sldId id="292" r:id="rId34"/>
    <p:sldId id="293" r:id="rId35"/>
    <p:sldId id="294" r:id="rId36"/>
    <p:sldId id="295" r:id="rId37"/>
    <p:sldId id="296" r:id="rId38"/>
    <p:sldId id="297" r:id="rId39"/>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596" autoAdjust="0"/>
  </p:normalViewPr>
  <p:slideViewPr>
    <p:cSldViewPr snapToGrid="0">
      <p:cViewPr varScale="1">
        <p:scale>
          <a:sx n="48" d="100"/>
          <a:sy n="48" d="100"/>
        </p:scale>
        <p:origin x="53" y="638"/>
      </p:cViewPr>
      <p:guideLst/>
    </p:cSldViewPr>
  </p:slideViewPr>
  <p:notesTextViewPr>
    <p:cViewPr>
      <p:scale>
        <a:sx n="1" d="1"/>
        <a:sy n="1" d="1"/>
      </p:scale>
      <p:origin x="0" y="-3346"/>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8C9817-72E1-404C-8C75-0DF6D2F6AC41}" type="datetimeFigureOut">
              <a:rPr lang="LID4096" smtClean="0"/>
              <a:t>11/18/2025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437634-803D-425C-A560-89E337058F6D}" type="slidenum">
              <a:rPr lang="LID4096" smtClean="0"/>
              <a:t>‹#›</a:t>
            </a:fld>
            <a:endParaRPr lang="LID4096"/>
          </a:p>
        </p:txBody>
      </p:sp>
    </p:spTree>
    <p:extLst>
      <p:ext uri="{BB962C8B-B14F-4D97-AF65-F5344CB8AC3E}">
        <p14:creationId xmlns:p14="http://schemas.microsoft.com/office/powerpoint/2010/main" val="1907394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 1957 lanceerde de Sovjetunie de Spoetnik, de eerste satelliet. </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2</a:t>
            </a:fld>
            <a:endParaRPr lang="LID4096"/>
          </a:p>
        </p:txBody>
      </p:sp>
    </p:spTree>
    <p:extLst>
      <p:ext uri="{BB962C8B-B14F-4D97-AF65-F5344CB8AC3E}">
        <p14:creationId xmlns:p14="http://schemas.microsoft.com/office/powerpoint/2010/main" val="4259292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Verenigde Staten wilden niet achter blijven en richtten een jaar later het Advanced Research Projects Agency (ARPA) op, dat er anderhalf jaar later eveneens in slaagde om een satelliet de ruimte in te sturen. Het waren de hoogdagen van de koude oorlog tussen beide grootmachten. Het leger had een aantal mainframe-computers in gebruik verspreid over het Amerikaans grondgebied. Als zo’n computer bij een nucleaire aanval uitgeschakeld werd, gingen alle gegevens van die mainframe onherroepelijk verloren.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Mainframe-fabrikant Remington RAND kwam met het idee om een nationaal netwerk te maken die alle computers van het leger zou verbinden om gegevens met elkaar te delen. Maar volgens sommige bronnen klopt dat verhaal niet, en bestond er eerder een wetenschappelijke nood om communicatie tussen computers te ontwikkelen. Feit is wel dat ARPA in de schoot van het ministerie van defensie werd opgericht.</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 1965 werden voor het eerst twee computers succesvol met een gewone telefoonlijn verbonden.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3</a:t>
            </a:fld>
            <a:endParaRPr lang="LID4096"/>
          </a:p>
        </p:txBody>
      </p:sp>
    </p:spTree>
    <p:extLst>
      <p:ext uri="{BB962C8B-B14F-4D97-AF65-F5344CB8AC3E}">
        <p14:creationId xmlns:p14="http://schemas.microsoft.com/office/powerpoint/2010/main" val="3050776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Ontelbare lokale netwerken zijn verbonden met het internet. Om communicatie mogelijk te maken tussen een lokaal netwerk en het internet zijn routers nodig. Dat zijn apparaten die IP-pakketten doorsturen naar een volgende router (zie 3.3.4) tot de bestemmeling bereikt wordt. </a:t>
            </a:r>
          </a:p>
          <a:p>
            <a:endParaRPr lang="nl-BE" dirty="0"/>
          </a:p>
          <a:p>
            <a:r>
              <a:rPr lang="nl-BE" dirty="0"/>
              <a:t>Wanneer door een configuratiefout pakketjes tussen routers blijven circuleren, moeten die pakketjes onschadelijk worden gemaakt om de bandbreedte voor de andere routers niet te hypothekeren. Daarom krijgt elk IP-pakket een zogenaamde “time to live” mee, een teller die bij elke router waar hij passeert met één waarde verlaagd wordt. Krijgt de teller uiteindelijk de waarde 0, dan wordt het pakket niet meer verder doorgegeven en wordt er een foutbericht naar de afzender verstuurd.</a:t>
            </a:r>
          </a:p>
          <a:p>
            <a:endParaRPr lang="nl-BE" dirty="0"/>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4</a:t>
            </a:fld>
            <a:endParaRPr lang="LID4096"/>
          </a:p>
        </p:txBody>
      </p:sp>
    </p:spTree>
    <p:extLst>
      <p:ext uri="{BB962C8B-B14F-4D97-AF65-F5344CB8AC3E}">
        <p14:creationId xmlns:p14="http://schemas.microsoft.com/office/powerpoint/2010/main" val="2116059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5</a:t>
            </a:fld>
            <a:endParaRPr lang="LID4096"/>
          </a:p>
        </p:txBody>
      </p:sp>
    </p:spTree>
    <p:extLst>
      <p:ext uri="{BB962C8B-B14F-4D97-AF65-F5344CB8AC3E}">
        <p14:creationId xmlns:p14="http://schemas.microsoft.com/office/powerpoint/2010/main" val="386155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Er bestaan drie manieren waarop de route van IP-pakketjes kan worden bepaald. Bij de hot potato-strategie wordt een binnengekomen bericht doorgegeven naar de uitgang met de kortste wachtrij. Dat leidt doorgaans tot een lange route over veel knooppunten, wat de overdrachtssnelheid niet ten goede komt. Bovendien is er een grote kans dat de “time to live” overschreden wordt en het pakketje de bestemmeling niet bereikt.</a:t>
            </a:r>
          </a:p>
          <a:p>
            <a:endParaRPr lang="nl-BE" dirty="0"/>
          </a:p>
          <a:p>
            <a:r>
              <a:rPr lang="nl-BE" dirty="0"/>
              <a:t>Het doorsturen van pakketjes kan gebeuren volgens een vastgestelde route (static of fixed routing), maar dat is op het internet weinig efficiënt aangezien er regelmatig routers bijkomen of weggenomen worden. Ook wanneer een bepaalde router erg veel gegevensverkeer te verwerken krijgt, wordt bij static routing geen nieuwe route gezocht en treden er vertragingen op bij de gegevensoverdracht.</a:t>
            </a:r>
          </a:p>
          <a:p>
            <a:endParaRPr lang="nl-BE" dirty="0"/>
          </a:p>
          <a:p>
            <a:r>
              <a:rPr lang="nl-BE" dirty="0"/>
              <a:t>Op het internet wordt steeds gebruik gemaakt van dynamic of adaptive routing. Daarbij leert een router van de andere routers in de buurt wat de meest efficiënte route is naar een bestemming. </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6</a:t>
            </a:fld>
            <a:endParaRPr lang="LID4096"/>
          </a:p>
        </p:txBody>
      </p:sp>
    </p:spTree>
    <p:extLst>
      <p:ext uri="{BB962C8B-B14F-4D97-AF65-F5344CB8AC3E}">
        <p14:creationId xmlns:p14="http://schemas.microsoft.com/office/powerpoint/2010/main" val="3162652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Hot Potato </a:t>
            </a:r>
            <a:r>
              <a:rPr lang="en-US" dirty="0" err="1"/>
              <a:t>gaat</a:t>
            </a:r>
            <a:r>
              <a:rPr lang="en-US" dirty="0"/>
              <a:t> het </a:t>
            </a:r>
            <a:r>
              <a:rPr lang="en-US" dirty="0" err="1"/>
              <a:t>pakketje</a:t>
            </a:r>
            <a:r>
              <a:rPr lang="en-US" dirty="0"/>
              <a:t> </a:t>
            </a:r>
            <a:r>
              <a:rPr lang="en-US" dirty="0" err="1"/>
              <a:t>naar</a:t>
            </a:r>
            <a:r>
              <a:rPr lang="en-US" dirty="0"/>
              <a:t> de </a:t>
            </a:r>
            <a:r>
              <a:rPr lang="en-US" dirty="0" err="1"/>
              <a:t>eerst</a:t>
            </a:r>
            <a:r>
              <a:rPr lang="en-US" dirty="0"/>
              <a:t> </a:t>
            </a:r>
            <a:r>
              <a:rPr lang="en-US" dirty="0" err="1"/>
              <a:t>beschikbare</a:t>
            </a:r>
            <a:r>
              <a:rPr lang="en-US" dirty="0"/>
              <a:t> router, </a:t>
            </a:r>
            <a:r>
              <a:rPr lang="en-US" dirty="0" err="1"/>
              <a:t>kortste</a:t>
            </a:r>
            <a:r>
              <a:rPr lang="en-US" dirty="0"/>
              <a:t> </a:t>
            </a:r>
            <a:r>
              <a:rPr lang="en-US" dirty="0" err="1"/>
              <a:t>wachttijd</a:t>
            </a:r>
            <a:r>
              <a:rPr lang="en-US" dirty="0"/>
              <a:t>.</a:t>
            </a:r>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7</a:t>
            </a:fld>
            <a:endParaRPr lang="LID4096"/>
          </a:p>
        </p:txBody>
      </p:sp>
    </p:spTree>
    <p:extLst>
      <p:ext uri="{BB962C8B-B14F-4D97-AF65-F5344CB8AC3E}">
        <p14:creationId xmlns:p14="http://schemas.microsoft.com/office/powerpoint/2010/main" val="2957205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 Static Routing </a:t>
            </a:r>
            <a:r>
              <a:rPr lang="en-US" dirty="0" err="1"/>
              <a:t>kiest</a:t>
            </a:r>
            <a:r>
              <a:rPr lang="en-US" dirty="0"/>
              <a:t> het </a:t>
            </a:r>
            <a:r>
              <a:rPr lang="en-US" dirty="0" err="1"/>
              <a:t>pakketje</a:t>
            </a:r>
            <a:r>
              <a:rPr lang="en-US" dirty="0"/>
              <a:t> </a:t>
            </a:r>
            <a:r>
              <a:rPr lang="en-US" dirty="0" err="1"/>
              <a:t>een</a:t>
            </a:r>
            <a:r>
              <a:rPr lang="en-US" dirty="0"/>
              <a:t> </a:t>
            </a:r>
            <a:r>
              <a:rPr lang="en-US" dirty="0" err="1"/>
              <a:t>vaste</a:t>
            </a:r>
            <a:r>
              <a:rPr lang="en-US" dirty="0"/>
              <a:t> route, </a:t>
            </a:r>
            <a:r>
              <a:rPr lang="en-US" dirty="0" err="1"/>
              <a:t>dit</a:t>
            </a:r>
            <a:r>
              <a:rPr lang="en-US" dirty="0"/>
              <a:t> is </a:t>
            </a:r>
            <a:r>
              <a:rPr lang="en-US" dirty="0" err="1"/>
              <a:t>niet</a:t>
            </a:r>
            <a:r>
              <a:rPr lang="en-US" dirty="0"/>
              <a:t> </a:t>
            </a:r>
            <a:r>
              <a:rPr lang="en-US" dirty="0" err="1"/>
              <a:t>handig</a:t>
            </a:r>
            <a:r>
              <a:rPr lang="en-US" dirty="0"/>
              <a:t> </a:t>
            </a:r>
            <a:r>
              <a:rPr lang="en-US" dirty="0" err="1"/>
              <a:t>aangezien</a:t>
            </a:r>
            <a:r>
              <a:rPr lang="en-US" dirty="0"/>
              <a:t> routers </a:t>
            </a:r>
            <a:r>
              <a:rPr lang="en-US" dirty="0" err="1"/>
              <a:t>kunnen</a:t>
            </a:r>
            <a:r>
              <a:rPr lang="en-US" dirty="0"/>
              <a:t> </a:t>
            </a:r>
            <a:r>
              <a:rPr lang="en-US" dirty="0" err="1"/>
              <a:t>verdwijen</a:t>
            </a:r>
            <a:r>
              <a:rPr lang="en-US" dirty="0"/>
              <a:t> of </a:t>
            </a:r>
            <a:r>
              <a:rPr lang="en-US" dirty="0" err="1"/>
              <a:t>wijzigen</a:t>
            </a:r>
            <a:r>
              <a:rPr lang="en-US" dirty="0"/>
              <a:t>.</a:t>
            </a:r>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8</a:t>
            </a:fld>
            <a:endParaRPr lang="LID4096"/>
          </a:p>
        </p:txBody>
      </p:sp>
    </p:spTree>
    <p:extLst>
      <p:ext uri="{BB962C8B-B14F-4D97-AF65-F5344CB8AC3E}">
        <p14:creationId xmlns:p14="http://schemas.microsoft.com/office/powerpoint/2010/main" val="2013900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dynamic routing </a:t>
            </a:r>
            <a:r>
              <a:rPr lang="en-US" dirty="0" err="1"/>
              <a:t>kiest</a:t>
            </a:r>
            <a:r>
              <a:rPr lang="en-US" dirty="0"/>
              <a:t> het packet het </a:t>
            </a:r>
            <a:r>
              <a:rPr lang="en-US" dirty="0" err="1"/>
              <a:t>beste</a:t>
            </a:r>
            <a:r>
              <a:rPr lang="en-US" dirty="0"/>
              <a:t> pad op basis van de info die de </a:t>
            </a:r>
            <a:r>
              <a:rPr lang="en-US" dirty="0" err="1"/>
              <a:t>huidige</a:t>
            </a:r>
            <a:r>
              <a:rPr lang="en-US" dirty="0"/>
              <a:t> router </a:t>
            </a:r>
            <a:r>
              <a:rPr lang="en-US" dirty="0" err="1"/>
              <a:t>bezit</a:t>
            </a:r>
            <a:r>
              <a:rPr lang="en-US" dirty="0"/>
              <a:t>.</a:t>
            </a:r>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10</a:t>
            </a:fld>
            <a:endParaRPr lang="LID4096"/>
          </a:p>
        </p:txBody>
      </p:sp>
    </p:spTree>
    <p:extLst>
      <p:ext uri="{BB962C8B-B14F-4D97-AF65-F5344CB8AC3E}">
        <p14:creationId xmlns:p14="http://schemas.microsoft.com/office/powerpoint/2010/main" val="690069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In de router wordt daarvoor een routing table opgebouwd. Wanneer een bepaalde bestemming niet in die tabel voorkomt, wordt er een nieuwe route gezocht. Als een succesvolle route gevonden wordt, kan die in de routing table van de router worden opgenomen. </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17</a:t>
            </a:fld>
            <a:endParaRPr lang="LID4096"/>
          </a:p>
        </p:txBody>
      </p:sp>
    </p:spTree>
    <p:extLst>
      <p:ext uri="{BB962C8B-B14F-4D97-AF65-F5344CB8AC3E}">
        <p14:creationId xmlns:p14="http://schemas.microsoft.com/office/powerpoint/2010/main" val="1633183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Routers kunnen gegevens uitwisselen over hun wachtrijen, zodat vertragingen bij verzadigde routers vermeden wordt. Dat heet DAR (distributed adaptive routing) en is de gangbare techniek op het internet.</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18</a:t>
            </a:fld>
            <a:endParaRPr lang="LID4096"/>
          </a:p>
        </p:txBody>
      </p:sp>
    </p:spTree>
    <p:extLst>
      <p:ext uri="{BB962C8B-B14F-4D97-AF65-F5344CB8AC3E}">
        <p14:creationId xmlns:p14="http://schemas.microsoft.com/office/powerpoint/2010/main" val="2088192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Wanneer elke router de informatie over zijn bezetting naar een centraal knooppunt op het netwerk stuurt, spreken we van CAR (centralized adaptive routing). Alle routers kunnen daar dan de nodige informatie vinden om de route van een pakket efficiënt te bepalen. Die techniek wordt soms toegepast in uitgebreide bedrijfsnetwerken.</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19</a:t>
            </a:fld>
            <a:endParaRPr lang="LID4096"/>
          </a:p>
        </p:txBody>
      </p:sp>
    </p:spTree>
    <p:extLst>
      <p:ext uri="{BB962C8B-B14F-4D97-AF65-F5344CB8AC3E}">
        <p14:creationId xmlns:p14="http://schemas.microsoft.com/office/powerpoint/2010/main" val="1136533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Een computer kan pas communiceren met het internet als hij over een publiek IP-adres beschikt. Die krijg je van je provider. Als je niet één computer, maar een volledig computernetwerk met dit publieke IP-adres verbindt, hebben de computers in je netwerk wel een lokaal maar geen publiek IP-adres. Toch moeten ze met andere computers op het internet communiceren. </a:t>
            </a:r>
          </a:p>
          <a:p>
            <a:endParaRPr lang="nl-BE" dirty="0"/>
          </a:p>
          <a:p>
            <a:r>
              <a:rPr lang="nl-BE" dirty="0">
                <a:sym typeface="Wingdings" panose="05000000000000000000" pitchFamily="2" charset="2"/>
              </a:rPr>
              <a:t>  </a:t>
            </a:r>
            <a:r>
              <a:rPr lang="nl-BE" dirty="0"/>
              <a:t>Daarvoor wordt NAT (network address translation) gebruikt als een tussenschakel.  Stel dat een computer met het lokale IP-adres 192.168.0.2 een website met het publieke ip-adres 185.70.72.103 raadpleegt. </a:t>
            </a:r>
          </a:p>
          <a:p>
            <a:endParaRPr lang="nl-BE" dirty="0"/>
          </a:p>
          <a:p>
            <a:r>
              <a:rPr lang="nl-BE" dirty="0">
                <a:sym typeface="Wingdings" panose="05000000000000000000" pitchFamily="2" charset="2"/>
              </a:rPr>
              <a:t>  </a:t>
            </a:r>
            <a:r>
              <a:rPr lang="nl-BE" dirty="0"/>
              <a:t>De router bewaart het lokale IP-adres van die computer en de poort waarop de computer het antwoord wil in een tabel: de NAT running table. </a:t>
            </a:r>
          </a:p>
          <a:p>
            <a:endParaRPr lang="nl-BE" dirty="0"/>
          </a:p>
          <a:p>
            <a:r>
              <a:rPr lang="nl-BE" dirty="0">
                <a:sym typeface="Wingdings" panose="05000000000000000000" pitchFamily="2" charset="2"/>
              </a:rPr>
              <a:t>  </a:t>
            </a:r>
            <a:r>
              <a:rPr lang="nl-BE" dirty="0"/>
              <a:t>De router die jouw netwerk met het internet verbindt, stuurt vervolgens een nieuwe aanvraag naar de webserver met een willekeurig gekozen bronpoort, bijvoorbeeld 20 000, en bewaart dat poortnummer eveneens in de tabel. Het pakketje heeft nu als bron het publieke IP-adres van je internetverbinding met poortnummer 20 000 gekregen. </a:t>
            </a:r>
          </a:p>
          <a:p>
            <a:endParaRPr lang="nl-BE" dirty="0"/>
          </a:p>
          <a:p>
            <a:r>
              <a:rPr lang="nl-BE" dirty="0">
                <a:sym typeface="Wingdings" panose="05000000000000000000" pitchFamily="2" charset="2"/>
              </a:rPr>
              <a:t>  </a:t>
            </a:r>
            <a:r>
              <a:rPr lang="nl-BE" dirty="0"/>
              <a:t>De gegevens van de bestemming blijven natuurlijk dezelfde. De webserver ontvangt het verzoek voor de pagina en stuurt het antwoord terug naar jouw router op het publieke IP-adres met poortnummer 20 000. Met behulp van dat poortnummer kan de router in de NAT running table achterhalen dat de informatie bestemd is voor de computer met het lokale IP-adres 192.168.0.2 en dat de computer het antwoord verwacht op poortnummer 80, waar het dan ook netjes afgeleverd wordt. </a:t>
            </a:r>
          </a:p>
          <a:p>
            <a:endParaRPr lang="nl-BE" dirty="0"/>
          </a:p>
          <a:p>
            <a:pPr marL="171450" indent="-171450">
              <a:buFont typeface="Wingdings" panose="05000000000000000000" pitchFamily="2" charset="2"/>
              <a:buChar char="8"/>
            </a:pPr>
            <a:r>
              <a:rPr lang="nl-BE" dirty="0"/>
              <a:t>Deze manier van werken wordt PAT (port address translation) genoemd. </a:t>
            </a:r>
          </a:p>
          <a:p>
            <a:pPr marL="171450" indent="-171450">
              <a:buFont typeface="Wingdings" panose="05000000000000000000" pitchFamily="2" charset="2"/>
              <a:buChar char="8"/>
            </a:pPr>
            <a:endParaRPr lang="nl-BE" dirty="0"/>
          </a:p>
          <a:p>
            <a:r>
              <a:rPr lang="nl-BE" dirty="0"/>
              <a:t>Entries in de NAT running table worden aangemaakt op het moment dat een dienst iets opvraagt en weer verwijderd wanneer de communicatie tussen afzender en bestemmeling is beëindigd, of indien de lokale computer gedurende een bepaalde tijd niet meer actief is. Met deze techniek kan een router veel meer dan slechts één verbinding beheren. Alle computers in het netwerk kunnen elk met hun eigen lokale IP-adres op die manier informatie op het internet opvragen. Tegelijk blijven van op het internet de lokale computers verborgen. NAT zorgt dus ook voor een elementaire vorm van beveiliging van je lokale netwerk.</a:t>
            </a:r>
          </a:p>
          <a:p>
            <a:endParaRPr lang="nl-BE" dirty="0"/>
          </a:p>
          <a:p>
            <a:r>
              <a:rPr lang="nl-BE" dirty="0"/>
              <a:t>Al het bovenstaande geldt uiteraard enkel indien een lokaal netwerk met IPv4 werd geconfigureerd. Bij IPv6 is NAT overbodig, aangezien alle computers in het lokale netwerk een publiek toegankelijk IP-adres hebben.</a:t>
            </a:r>
          </a:p>
          <a:p>
            <a:endParaRPr lang="nl-BE" dirty="0"/>
          </a:p>
          <a:p>
            <a:endParaRPr lang="nl-BE" dirty="0"/>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20</a:t>
            </a:fld>
            <a:endParaRPr lang="LID4096"/>
          </a:p>
        </p:txBody>
      </p:sp>
    </p:spTree>
    <p:extLst>
      <p:ext uri="{BB962C8B-B14F-4D97-AF65-F5344CB8AC3E}">
        <p14:creationId xmlns:p14="http://schemas.microsoft.com/office/powerpoint/2010/main" val="2330601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Alle communicatie tussen computersystemen is gebaseerd op IP-adressen. Die bestaan uit numerieke waarden en dat is voor mensen moeilijk te hanteren. Mensen gebruiken liever taal. Daarom werd er een systeem voor leesbare, semantische computeradressen ontwikkeld om webservers op het internet te bereiken. Dat systeem wordt DNS (domain name system) genoemd en werkt op basis van een wereldwijd gedistribueerde gegevensbank waarin de koppelingen tussen IP-adressen en semantische adressen wordt bewaard. </a:t>
            </a:r>
          </a:p>
          <a:p>
            <a:endParaRPr lang="nl-BE" dirty="0"/>
          </a:p>
          <a:p>
            <a:r>
              <a:rPr lang="nl-BE" dirty="0"/>
              <a:t>Die semantische adressen worden URL’s (uniform resource locator) genoemd.</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22</a:t>
            </a:fld>
            <a:endParaRPr lang="LID4096"/>
          </a:p>
        </p:txBody>
      </p:sp>
    </p:spTree>
    <p:extLst>
      <p:ext uri="{BB962C8B-B14F-4D97-AF65-F5344CB8AC3E}">
        <p14:creationId xmlns:p14="http://schemas.microsoft.com/office/powerpoint/2010/main" val="3086166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URL’s worden voorafgegaan door het protocol waarmee de informatie kan wor-den opgehaald, gevolgd door een dubbele punt en twee slashes. In de adresre-gel van je browser hoef je het protocol niet in te geven. Je browser zal automa-tisch het correcte protocol toevoegen.</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23</a:t>
            </a:fld>
            <a:endParaRPr lang="LID4096"/>
          </a:p>
        </p:txBody>
      </p:sp>
    </p:spTree>
    <p:extLst>
      <p:ext uri="{BB962C8B-B14F-4D97-AF65-F5344CB8AC3E}">
        <p14:creationId xmlns:p14="http://schemas.microsoft.com/office/powerpoint/2010/main" val="676993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meeste URL’s beginnen met de letters www (world wide web), maar dit hoeft niet altijd het geval te zijn. Sommige domeinen worden onderverdeeld in subdomeinen, die dan voor de echte domeinnaam worden geschreven, zoals  “http://</a:t>
            </a:r>
            <a:r>
              <a:rPr lang="nl-BE" u="sng" dirty="0"/>
              <a:t>maps</a:t>
            </a:r>
            <a:r>
              <a:rPr lang="nl-BE" dirty="0"/>
              <a:t>.google.com”. De letters www kan je vaak weglaten: “sleutelboek.eu” of “www.sleutelboek.eu” leidt je naar precies dezelfde webpagina.</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24</a:t>
            </a:fld>
            <a:endParaRPr lang="LID4096"/>
          </a:p>
        </p:txBody>
      </p:sp>
    </p:spTree>
    <p:extLst>
      <p:ext uri="{BB962C8B-B14F-4D97-AF65-F5344CB8AC3E}">
        <p14:creationId xmlns:p14="http://schemas.microsoft.com/office/powerpoint/2010/main" val="20732196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Daarna volgt het second level domain. Dat is de eigenlijke domeinnaam die de eigenaar ervan zelf kan kiezen, binnen de beperkingen die gelden binnen het top level domein. Bedrijven en organisaties kiezen doorgaans hun bedrijfs- of merknaam als domein.</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25</a:t>
            </a:fld>
            <a:endParaRPr lang="LID4096"/>
          </a:p>
        </p:txBody>
      </p:sp>
    </p:spTree>
    <p:extLst>
      <p:ext uri="{BB962C8B-B14F-4D97-AF65-F5344CB8AC3E}">
        <p14:creationId xmlns:p14="http://schemas.microsoft.com/office/powerpoint/2010/main" val="2299657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Hierna komt het TLD (top level domain) of de domeinextensie. </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26</a:t>
            </a:fld>
            <a:endParaRPr lang="LID4096"/>
          </a:p>
        </p:txBody>
      </p:sp>
    </p:spTree>
    <p:extLst>
      <p:ext uri="{BB962C8B-B14F-4D97-AF65-F5344CB8AC3E}">
        <p14:creationId xmlns:p14="http://schemas.microsoft.com/office/powerpoint/2010/main" val="9438379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Een ccTLD (country-code TLD) verwijst naar een land of regio, zoals .be voor België, .nl voor Nederland of .eu voor Europa. Een gTLD (generic TLD) heeft een speciale betekenis, zoals .com voor een commerciële website, .mil voor een Amerikaanse militaire website, .org naar een niet-commerciële organisatie, .edu voor een (meestal Amerikaanse) website van onderwijsinstellingen, enz. Sinds 2012 kunnen bedrijven en organisaties hun eigen gTLD aanvragen, maar zo’n eigen domeinextensie is bijzonder duur.</a:t>
            </a:r>
          </a:p>
          <a:p>
            <a:endParaRPr lang="nl-BE" dirty="0"/>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27</a:t>
            </a:fld>
            <a:endParaRPr lang="LID4096"/>
          </a:p>
        </p:txBody>
      </p:sp>
    </p:spTree>
    <p:extLst>
      <p:ext uri="{BB962C8B-B14F-4D97-AF65-F5344CB8AC3E}">
        <p14:creationId xmlns:p14="http://schemas.microsoft.com/office/powerpoint/2010/main" val="23028134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De beheerder van een domein kan zelf een mapstructuur aanbrengen binnen het domein. Je kan de manier van werken vergelijken met een mapstructuur binnen een besturingssysteem. Het aantal mappen is niet beperkt, maar met het oog op gebruiksvriendelijkheid wordt de mapstructuur best niet te diep uitgewerkt</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28</a:t>
            </a:fld>
            <a:endParaRPr lang="LID4096"/>
          </a:p>
        </p:txBody>
      </p:sp>
    </p:spTree>
    <p:extLst>
      <p:ext uri="{BB962C8B-B14F-4D97-AF65-F5344CB8AC3E}">
        <p14:creationId xmlns:p14="http://schemas.microsoft.com/office/powerpoint/2010/main" val="23311700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Ook individuele gebruikers vinden hun weg naar online gegevensopslag en applicaties, die vooral met de komst van mobiele apparaten als smartphones en tablets sterk in populariteit zijn toegenomen. Zo luister je muziek tegenwoordig via streamingdiensten op het internet in plaats van via gedownloade bestanden. Daardoor is het belang van een grote opslagcapaciteit op je toestel sterk afgenomen. </a:t>
            </a:r>
          </a:p>
          <a:p>
            <a:endParaRPr lang="nl-BE" dirty="0"/>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30</a:t>
            </a:fld>
            <a:endParaRPr lang="LID4096"/>
          </a:p>
        </p:txBody>
      </p:sp>
    </p:spTree>
    <p:extLst>
      <p:ext uri="{BB962C8B-B14F-4D97-AF65-F5344CB8AC3E}">
        <p14:creationId xmlns:p14="http://schemas.microsoft.com/office/powerpoint/2010/main" val="1899789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Software as a service (SaaS) is de vorm van cloud computing die bij het grote publiek het best bekend is. Hierbij kan je gebruik maken van een computertoepassing binnen in je browser. De toepassing zelf draait op een web application server van de cloud provider. Bekende voorbeelden zijn Microsoft Office Online of Google Apps. Ook bedrijven kunnen software op maat laten ontwikkelen, die dan door de ontwikkelaar via een cloud provider beschikbaar wordt gemaakt.</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31</a:t>
            </a:fld>
            <a:endParaRPr lang="LID4096"/>
          </a:p>
        </p:txBody>
      </p:sp>
    </p:spTree>
    <p:extLst>
      <p:ext uri="{BB962C8B-B14F-4D97-AF65-F5344CB8AC3E}">
        <p14:creationId xmlns:p14="http://schemas.microsoft.com/office/powerpoint/2010/main" val="25322301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Bedrijven die regelmatig nieuwe software willen gebruiken of bestaande software regelmatig en zelf willen aanpassen, zijn meer gebaat bij een online ontwikkelomgeving – dat heet Platform as a Service (PaaS). Softwareontwikkelaars, zowel extern als intern binnen het bedrijf, kunnen toepassingen ontwikkelen en ze in de cloud beschikbaar stellen binnen zo’n platform.  Bekende voorbeelden van dergelijke platformen zijn Citrix en Microsoft Azure.</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32</a:t>
            </a:fld>
            <a:endParaRPr lang="LID4096"/>
          </a:p>
        </p:txBody>
      </p:sp>
    </p:spTree>
    <p:extLst>
      <p:ext uri="{BB962C8B-B14F-4D97-AF65-F5344CB8AC3E}">
        <p14:creationId xmlns:p14="http://schemas.microsoft.com/office/powerpoint/2010/main" val="10839568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Bedrijven kunnen nog verder gaan: in plaats van diensten te huren, kunnen ze ook volledige servers, routers en andere netwerkapparatuur in de cloud huren. Dan spreken we over Infrastructure as a Service (IaaS). De cloud-aanbieder stelt dan één of meerdere virtuele servers ter beschikking van het bedrijf. Die kan deze virtuele toestellen dan helemaal zelf beheren, net alsof het om toestellen in het eigen lokale netwerk gaat. Dit heeft tal van voordelen, niet in het minst dat het bedrijf zelf niet hoeft in te staan voor de installatie en onderhoud van de hardware.</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33</a:t>
            </a:fld>
            <a:endParaRPr lang="LID4096"/>
          </a:p>
        </p:txBody>
      </p:sp>
    </p:spTree>
    <p:extLst>
      <p:ext uri="{BB962C8B-B14F-4D97-AF65-F5344CB8AC3E}">
        <p14:creationId xmlns:p14="http://schemas.microsoft.com/office/powerpoint/2010/main" val="1790074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Wanneer bedrijven of organisaties ervoor kiezen om gebruik te maken van clouddiensten die op maat gemaakt werden en enkel voor dat bedrijf of die organisatie worden ingezet, spreken we van private cloud computing. Het bedrijf of de organisatie heeft daarbij de volledig controle over de clouddiensten die aangeboden worden. Het beheer en onderhoud van zo’n private cloud wordt doorgaans overgelaten aan gespecialiseerde aanbieders. De diensten van een private cloud draaien meestal op virtuele servers die gehost worden in een datacenter, maar kunnen ook deels op lokale servers van het bedrijf zelf worden geplaatst (wat eigenlijk niet echt in de cloud is).</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34</a:t>
            </a:fld>
            <a:endParaRPr lang="LID4096"/>
          </a:p>
        </p:txBody>
      </p:sp>
    </p:spTree>
    <p:extLst>
      <p:ext uri="{BB962C8B-B14F-4D97-AF65-F5344CB8AC3E}">
        <p14:creationId xmlns:p14="http://schemas.microsoft.com/office/powerpoint/2010/main" val="7676285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Sommige aanbieders van clouddiensten ontwikkelen webtoepassingen op maat voor een welbepaalde sector, bijvoorbeeld de gezondheidszorg of de chemische nijverheid. Dat heet dan community cloud computing. Meerdere organisaties of bedrijven in die sector maken gebruik van deze clouddiensten, die doorgaans ter beschikking worden gesteld via de servers van de aanbieder. Een mooi voorbeeld hiervan is het digitale schoolplatform Smartschool.</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35</a:t>
            </a:fld>
            <a:endParaRPr lang="LID4096"/>
          </a:p>
        </p:txBody>
      </p:sp>
    </p:spTree>
    <p:extLst>
      <p:ext uri="{BB962C8B-B14F-4D97-AF65-F5344CB8AC3E}">
        <p14:creationId xmlns:p14="http://schemas.microsoft.com/office/powerpoint/2010/main" val="18732264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Wanneer aanbieders clouddiensten openbaar ter beschikking stellen van bedrijven of individuele gebruikers, heet dat public cloud computing. Bekende voorbeelden van deze vorm van cloud computing voor particulieren zijn diensten als Google Docs, Dropbox en Spotify. Voor bedrijven en organisaties worden een hele waaier van generieke webapplicaties aangeboden. De software voor public clouddiensten staan altijd op de eigen webservers van de aanbieder.</a:t>
            </a:r>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36</a:t>
            </a:fld>
            <a:endParaRPr lang="LID4096"/>
          </a:p>
        </p:txBody>
      </p:sp>
    </p:spTree>
    <p:extLst>
      <p:ext uri="{BB962C8B-B14F-4D97-AF65-F5344CB8AC3E}">
        <p14:creationId xmlns:p14="http://schemas.microsoft.com/office/powerpoint/2010/main" val="33152044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computing ken heel wat </a:t>
            </a:r>
            <a:r>
              <a:rPr lang="en-US" dirty="0" err="1"/>
              <a:t>voordelen</a:t>
            </a:r>
            <a:endParaRPr lang="en-US" dirty="0"/>
          </a:p>
          <a:p>
            <a:endParaRPr lang="en-US" dirty="0"/>
          </a:p>
          <a:p>
            <a:r>
              <a:rPr lang="nl-BE" dirty="0"/>
              <a:t>Het werken met clouddiensten kent heel wat voordelen ten opzichte van lokaal geïnstalleerde of gehoste toepassingen:</a:t>
            </a:r>
          </a:p>
          <a:p>
            <a:endParaRPr lang="nl-BE" dirty="0"/>
          </a:p>
          <a:p>
            <a:r>
              <a:rPr lang="nl-BE" dirty="0"/>
              <a:t>Je bent onafhankelijk van plaats en van toestel; je kan de online diensten en je online opslagcapaciteit eender waar ter wereld en van op eender welk apparaat met een internetverbinding bereiken. Dat maakt het makkelijk om nieuwe vormen van werken in een bedrijf te introduceren, zoals thuiswerken en BYOD (bring your own device), waarbij werknemers gebruik kunnen maken van eigen toestellen in het bedrijfsnetwerk.</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Vaak is het werken met clouddiensten voor grote organisaties goedkoper dan ze intern te verzorgen. Niet alleen scheelt dat in licenties, maar ook worden dure IT-diensten uitbesteed aan aanbieders die dergelijke diensten dankzij hun grootschaligheid goedkoper kunnen aanbieden.</a:t>
            </a:r>
          </a:p>
          <a:p>
            <a:endParaRPr lang="nl-BE" dirty="0"/>
          </a:p>
          <a:p>
            <a:pPr lvl="0"/>
            <a:r>
              <a:rPr lang="nl-BE" dirty="0"/>
              <a:t>Clouddiensten werken veel flexibeler. Voor een nieuwe werknemer hoeft geen heel nieuwe computerinstallatie op maat te worden klaargemaakt. Een standaardcomputersysteem en een nieuwe account met de juiste rechten op het cloud-platform is veel sneller geregeld.</a:t>
            </a:r>
          </a:p>
          <a:p>
            <a:pPr lvl="0"/>
            <a:endParaRPr lang="nl-BE" dirty="0"/>
          </a:p>
          <a:p>
            <a:pPr lvl="0"/>
            <a:r>
              <a:rPr lang="nl-BE" dirty="0"/>
              <a:t>Clouddiensten zijn makkelijker schaalbaar. Een organisatie huurt precies de capaciteit die op dat ogenblik nodig is. De gehuurde capaciteit kan bovendien zeer snel worden aangepast aan wijzigende behoeften binnen de organisatie. Vooral voor startende bedrijven kan dit een enorm voordeel zijn: dankzij een doordacht gebruik van clouddiensten hoeven zij zelf niet zwaar te investeren in eigen server-infrastructuur waarvan het nog onzeker is of die in de toekomst wel voldoende rendeert.</a:t>
            </a:r>
          </a:p>
          <a:p>
            <a:endParaRPr lang="nl-BE" dirty="0"/>
          </a:p>
          <a:p>
            <a:pPr lvl="0"/>
            <a:r>
              <a:rPr lang="nl-BE" dirty="0"/>
              <a:t>Clouddiensten kennen een hoger niveau van beveiliging dan wat in een gewoon bedrijf mogelijk is. Het is immers precies omdat datacenters gegeerde doelwitten zijn voor hackers, dat de beveiliging er zeer extreem is. In datacenters werken ook echte beveiligingsspecialisten, iets wat in de gewone bedrijfsomgeving wellicht niet betaalbaar is. Omdat datacenters eveneens voorzien in redundantie en een efficiënte backup-politiek, is de kans op verlies van gegevens nagenoeg onbestaande.</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Het up-to-date houden van applicaties en het vernieuwen van softwarelicenties is niet langer de zorg van het bedrijf of de organisatie, maar die van de aanbieder van de clouddiensten, voor wie dat de corebusiness is.</a:t>
            </a:r>
          </a:p>
          <a:p>
            <a:endParaRPr lang="nl-BE" dirty="0"/>
          </a:p>
          <a:p>
            <a:r>
              <a:rPr lang="nl-BE" dirty="0"/>
              <a:t>Cloud computing doet het aantal servers binnen het bedrijf sterk verminderen, wat een positief effect heeft op het energieverbruik. </a:t>
            </a:r>
          </a:p>
          <a:p>
            <a:endParaRPr lang="nl-BE" dirty="0"/>
          </a:p>
          <a:p>
            <a:r>
              <a:rPr lang="nl-BE" dirty="0"/>
              <a:t>Cloud computing kan dus bijdragen tot een meer ecologische bedrijfsvoering.</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Clouddiensten kunnen het samenwerken aan een project makkelijker maken. Met tools als Google Docs en Microsoft Online Apps kunnen werknemers samen aan rapporten of spreadsheets werken, terwijl met cloudopslag makkelijk bronnen door alle teamleden gedeeld kunnen worden.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endParaRPr lang="nl-BE" dirty="0"/>
          </a:p>
          <a:p>
            <a:endParaRPr lang="nl-BE" dirty="0"/>
          </a:p>
          <a:p>
            <a:endParaRPr lang="nl-BE" dirty="0"/>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37</a:t>
            </a:fld>
            <a:endParaRPr lang="LID4096"/>
          </a:p>
        </p:txBody>
      </p:sp>
    </p:spTree>
    <p:extLst>
      <p:ext uri="{BB962C8B-B14F-4D97-AF65-F5344CB8AC3E}">
        <p14:creationId xmlns:p14="http://schemas.microsoft.com/office/powerpoint/2010/main" val="27868306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Maar </a:t>
            </a:r>
            <a:r>
              <a:rPr lang="en-US" dirty="0" err="1"/>
              <a:t>ook</a:t>
            </a:r>
            <a:r>
              <a:rPr lang="en-US" dirty="0"/>
              <a:t> heel wat </a:t>
            </a:r>
            <a:r>
              <a:rPr lang="en-US" dirty="0" err="1"/>
              <a:t>nadelen</a:t>
            </a:r>
            <a:br>
              <a:rPr lang="en-US" dirty="0"/>
            </a:br>
            <a:br>
              <a:rPr lang="en-US" dirty="0"/>
            </a:br>
            <a:r>
              <a:rPr lang="nl-BE" dirty="0"/>
              <a:t>Tegelijk zijn er ook nogal wat bedenkingen en nadelen bij cloud computing:</a:t>
            </a:r>
          </a:p>
          <a:p>
            <a:endParaRPr lang="nl-BE" dirty="0"/>
          </a:p>
          <a:p>
            <a:r>
              <a:rPr lang="nl-BE" dirty="0"/>
              <a:t>Je wordt afhankelijk van veel externe bronnen voor je computerwerk: de internetverbinding, de hardware in het datacenter en de deskundigheid van de technici van de aanbieder. Als er iets misloopt, ben je volledig afhankelijk van de aanbieder van de clouddiensten om het probleem snel op te lossen. En wanneer door een probleem bij de internetprovider de internetverbinding wegvalt, zijn je clouddiensten onbereikbaar.</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Vooral bij het outsourcen van gevoelige bedrijfsgegevens is er voldoende vertrouwen nodig in de discretie van de aanbieder van clouddiensten dat bedrijfsgeheimen niet op de straatstenen komen te liggen. Voor sommige bedrijven is dat een drempel. Bovendien is het belangrijk te weten wat er met je gegevens gebeurt indien je het contract met de cloud-aanbieder beëindigt. Hoewel het niet vaak gebeurt, dient men al bij het afsluiten van een overeenkomst met een cloud-aanbieder een exit-strategie in het achterhoofd te houden.</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Er kunnen zich juridische problemen voordoen met betrekking tot het eigendom van gegevens en applicaties. Die regels zijn niet in alle landen dezelfde, terwijl je als bedrijf zelden zeker kan weten waar in de wereld precies het datacenter zich bevindt. Zo eisen de Amerikaanse geheime diensten vaak verregaande inzage in de data die zich op datacenters in de Verenigde Staten bevinden. Dat is voor veel bedrijven geen prettig idee. Bovendien is het niet altijd toegestaan om bepaalde gegevens in datacenters op te slaan. Overheden moeten bijvoorbeeld privacy-gevoelige gegevens steeds op eigen servers bewaren.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lvl="0"/>
            <a:r>
              <a:rPr lang="nl-BE" dirty="0"/>
              <a:t>Aanbieders van clouddiensten zijn een gegeerd doelwit voor hackers en DDOS-aanvallen. Hoewel dergelijke aanbieders erg veel in beveiliging investeren, is geen enkele beveiliging helemaal waterdicht. Zo kan een organisatie ongewild slachtoffer worden van een aanval die helemaal niet tegen die organisatie gericht was, maar wel tegen het datacenter.</a:t>
            </a:r>
          </a:p>
          <a:p>
            <a:endParaRPr lang="nl-BE" dirty="0"/>
          </a:p>
          <a:p>
            <a:pPr lvl="0"/>
            <a:r>
              <a:rPr lang="nl-BE" dirty="0"/>
              <a:t>Hoewel het nog weinig gebeurd is, kan een bedrijf vrezen voor de eigen continuïteit wanneer een clouddienst plots ophoudt te bestaan, bijvoorbeeld door een faillissement of een natuurramp.</a:t>
            </a:r>
          </a:p>
          <a:p>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Wanneer een bedrijf eenmaal de keuze heeft gemaakt voor een bepaalde cloud-aanbieder, is het niet eenvoudig om later over te stappen naar een andere aanbieder. Elke cloud-aanbieder gebruikt immers eigen platformen, protocollen en databankstructuren, waardoor het migreren van clouddiensten tussen verschillende aanbieders niet evident is. Dit fenomeen heet “vendor lock-in”.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endParaRPr lang="nl-BE" dirty="0"/>
          </a:p>
          <a:p>
            <a:endParaRPr lang="LID4096" dirty="0"/>
          </a:p>
        </p:txBody>
      </p:sp>
      <p:sp>
        <p:nvSpPr>
          <p:cNvPr id="4" name="Slide Number Placeholder 3"/>
          <p:cNvSpPr>
            <a:spLocks noGrp="1"/>
          </p:cNvSpPr>
          <p:nvPr>
            <p:ph type="sldNum" sz="quarter" idx="5"/>
          </p:nvPr>
        </p:nvSpPr>
        <p:spPr/>
        <p:txBody>
          <a:bodyPr/>
          <a:lstStyle/>
          <a:p>
            <a:fld id="{5D437634-803D-425C-A560-89E337058F6D}" type="slidenum">
              <a:rPr lang="LID4096" smtClean="0"/>
              <a:t>38</a:t>
            </a:fld>
            <a:endParaRPr lang="LID4096"/>
          </a:p>
        </p:txBody>
      </p:sp>
    </p:spTree>
    <p:extLst>
      <p:ext uri="{BB962C8B-B14F-4D97-AF65-F5344CB8AC3E}">
        <p14:creationId xmlns:p14="http://schemas.microsoft.com/office/powerpoint/2010/main" val="3188187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7E52B-C915-52C7-300E-0CD880067D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E36D73BF-3219-4E8B-0034-9165223B04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ED269C5B-9B63-427A-6ADF-73B2FA574E44}"/>
              </a:ext>
            </a:extLst>
          </p:cNvPr>
          <p:cNvSpPr>
            <a:spLocks noGrp="1"/>
          </p:cNvSpPr>
          <p:nvPr>
            <p:ph type="dt" sz="half" idx="10"/>
          </p:nvPr>
        </p:nvSpPr>
        <p:spPr/>
        <p:txBody>
          <a:bodyPr/>
          <a:lstStyle/>
          <a:p>
            <a:fld id="{A6977AC5-78E7-4A2A-A17A-C41856993086}" type="datetimeFigureOut">
              <a:rPr lang="LID4096" smtClean="0"/>
              <a:t>11/18/2025</a:t>
            </a:fld>
            <a:endParaRPr lang="LID4096"/>
          </a:p>
        </p:txBody>
      </p:sp>
      <p:sp>
        <p:nvSpPr>
          <p:cNvPr id="5" name="Footer Placeholder 4">
            <a:extLst>
              <a:ext uri="{FF2B5EF4-FFF2-40B4-BE49-F238E27FC236}">
                <a16:creationId xmlns:a16="http://schemas.microsoft.com/office/drawing/2014/main" id="{11ACAFEA-1FD9-75A2-0DC7-A70392D122B3}"/>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FACFC56-0CA5-7365-E248-CEFB3265DAB2}"/>
              </a:ext>
            </a:extLst>
          </p:cNvPr>
          <p:cNvSpPr>
            <a:spLocks noGrp="1"/>
          </p:cNvSpPr>
          <p:nvPr>
            <p:ph type="sldNum" sz="quarter" idx="12"/>
          </p:nvPr>
        </p:nvSpPr>
        <p:spPr/>
        <p:txBody>
          <a:bodyPr/>
          <a:lstStyle/>
          <a:p>
            <a:fld id="{A6204286-161C-425E-A057-C2E8669CF4EB}" type="slidenum">
              <a:rPr lang="LID4096" smtClean="0"/>
              <a:t>‹#›</a:t>
            </a:fld>
            <a:endParaRPr lang="LID4096"/>
          </a:p>
        </p:txBody>
      </p:sp>
    </p:spTree>
    <p:extLst>
      <p:ext uri="{BB962C8B-B14F-4D97-AF65-F5344CB8AC3E}">
        <p14:creationId xmlns:p14="http://schemas.microsoft.com/office/powerpoint/2010/main" val="2697161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ABB54-4DF2-E490-C5DC-B3FD3488D35F}"/>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C27D550E-05A5-D84E-C5C5-A4D4D76713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24217B3-A869-8395-42F5-8B1083F97166}"/>
              </a:ext>
            </a:extLst>
          </p:cNvPr>
          <p:cNvSpPr>
            <a:spLocks noGrp="1"/>
          </p:cNvSpPr>
          <p:nvPr>
            <p:ph type="dt" sz="half" idx="10"/>
          </p:nvPr>
        </p:nvSpPr>
        <p:spPr/>
        <p:txBody>
          <a:bodyPr/>
          <a:lstStyle/>
          <a:p>
            <a:fld id="{A6977AC5-78E7-4A2A-A17A-C41856993086}" type="datetimeFigureOut">
              <a:rPr lang="LID4096" smtClean="0"/>
              <a:t>11/18/2025</a:t>
            </a:fld>
            <a:endParaRPr lang="LID4096"/>
          </a:p>
        </p:txBody>
      </p:sp>
      <p:sp>
        <p:nvSpPr>
          <p:cNvPr id="5" name="Footer Placeholder 4">
            <a:extLst>
              <a:ext uri="{FF2B5EF4-FFF2-40B4-BE49-F238E27FC236}">
                <a16:creationId xmlns:a16="http://schemas.microsoft.com/office/drawing/2014/main" id="{1547F600-40E7-0319-691B-63781A2EFDAA}"/>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9B294A22-98A8-9D0F-AC6D-BB82923E3123}"/>
              </a:ext>
            </a:extLst>
          </p:cNvPr>
          <p:cNvSpPr>
            <a:spLocks noGrp="1"/>
          </p:cNvSpPr>
          <p:nvPr>
            <p:ph type="sldNum" sz="quarter" idx="12"/>
          </p:nvPr>
        </p:nvSpPr>
        <p:spPr/>
        <p:txBody>
          <a:bodyPr/>
          <a:lstStyle/>
          <a:p>
            <a:fld id="{A6204286-161C-425E-A057-C2E8669CF4EB}" type="slidenum">
              <a:rPr lang="LID4096" smtClean="0"/>
              <a:t>‹#›</a:t>
            </a:fld>
            <a:endParaRPr lang="LID4096"/>
          </a:p>
        </p:txBody>
      </p:sp>
    </p:spTree>
    <p:extLst>
      <p:ext uri="{BB962C8B-B14F-4D97-AF65-F5344CB8AC3E}">
        <p14:creationId xmlns:p14="http://schemas.microsoft.com/office/powerpoint/2010/main" val="1893506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968A2-D122-7F49-D46E-69D86ED6D0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30A778A6-952D-959E-C0C6-FA64B78AFE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396C57-22A7-EDE1-3C79-E24D0F72C261}"/>
              </a:ext>
            </a:extLst>
          </p:cNvPr>
          <p:cNvSpPr>
            <a:spLocks noGrp="1"/>
          </p:cNvSpPr>
          <p:nvPr>
            <p:ph type="dt" sz="half" idx="10"/>
          </p:nvPr>
        </p:nvSpPr>
        <p:spPr/>
        <p:txBody>
          <a:bodyPr/>
          <a:lstStyle/>
          <a:p>
            <a:fld id="{A6977AC5-78E7-4A2A-A17A-C41856993086}" type="datetimeFigureOut">
              <a:rPr lang="LID4096" smtClean="0"/>
              <a:t>11/18/2025</a:t>
            </a:fld>
            <a:endParaRPr lang="LID4096"/>
          </a:p>
        </p:txBody>
      </p:sp>
      <p:sp>
        <p:nvSpPr>
          <p:cNvPr id="5" name="Footer Placeholder 4">
            <a:extLst>
              <a:ext uri="{FF2B5EF4-FFF2-40B4-BE49-F238E27FC236}">
                <a16:creationId xmlns:a16="http://schemas.microsoft.com/office/drawing/2014/main" id="{B3E639AF-779B-AF0C-F150-FDC7A766085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33562A8-81A4-BD71-5335-3F7E743A5C86}"/>
              </a:ext>
            </a:extLst>
          </p:cNvPr>
          <p:cNvSpPr>
            <a:spLocks noGrp="1"/>
          </p:cNvSpPr>
          <p:nvPr>
            <p:ph type="sldNum" sz="quarter" idx="12"/>
          </p:nvPr>
        </p:nvSpPr>
        <p:spPr/>
        <p:txBody>
          <a:bodyPr/>
          <a:lstStyle/>
          <a:p>
            <a:fld id="{A6204286-161C-425E-A057-C2E8669CF4EB}" type="slidenum">
              <a:rPr lang="LID4096" smtClean="0"/>
              <a:t>‹#›</a:t>
            </a:fld>
            <a:endParaRPr lang="LID4096"/>
          </a:p>
        </p:txBody>
      </p:sp>
    </p:spTree>
    <p:extLst>
      <p:ext uri="{BB962C8B-B14F-4D97-AF65-F5344CB8AC3E}">
        <p14:creationId xmlns:p14="http://schemas.microsoft.com/office/powerpoint/2010/main" val="1543639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A7B8E-3EA1-AD5C-CFEE-2AB7B46A522F}"/>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2C9D660F-7BA6-A601-D64F-FC7CFD76AE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CCD98444-25E3-61E4-2D44-5DB7D0ABDA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59936293-AF61-261C-6E5B-1D3DD2C01A39}"/>
              </a:ext>
            </a:extLst>
          </p:cNvPr>
          <p:cNvSpPr>
            <a:spLocks noGrp="1"/>
          </p:cNvSpPr>
          <p:nvPr>
            <p:ph type="dt" sz="half" idx="10"/>
          </p:nvPr>
        </p:nvSpPr>
        <p:spPr/>
        <p:txBody>
          <a:bodyPr/>
          <a:lstStyle/>
          <a:p>
            <a:fld id="{A6977AC5-78E7-4A2A-A17A-C41856993086}" type="datetimeFigureOut">
              <a:rPr lang="LID4096" smtClean="0"/>
              <a:t>11/18/2025</a:t>
            </a:fld>
            <a:endParaRPr lang="LID4096"/>
          </a:p>
        </p:txBody>
      </p:sp>
      <p:sp>
        <p:nvSpPr>
          <p:cNvPr id="6" name="Footer Placeholder 5">
            <a:extLst>
              <a:ext uri="{FF2B5EF4-FFF2-40B4-BE49-F238E27FC236}">
                <a16:creationId xmlns:a16="http://schemas.microsoft.com/office/drawing/2014/main" id="{4AF202F9-6372-463A-417D-7E6626DC0C01}"/>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7A7AB79A-F842-478E-4894-5851B751746A}"/>
              </a:ext>
            </a:extLst>
          </p:cNvPr>
          <p:cNvSpPr>
            <a:spLocks noGrp="1"/>
          </p:cNvSpPr>
          <p:nvPr>
            <p:ph type="sldNum" sz="quarter" idx="12"/>
          </p:nvPr>
        </p:nvSpPr>
        <p:spPr/>
        <p:txBody>
          <a:bodyPr/>
          <a:lstStyle/>
          <a:p>
            <a:fld id="{A6204286-161C-425E-A057-C2E8669CF4EB}" type="slidenum">
              <a:rPr lang="LID4096" smtClean="0"/>
              <a:t>‹#›</a:t>
            </a:fld>
            <a:endParaRPr lang="LID4096"/>
          </a:p>
        </p:txBody>
      </p:sp>
    </p:spTree>
    <p:extLst>
      <p:ext uri="{BB962C8B-B14F-4D97-AF65-F5344CB8AC3E}">
        <p14:creationId xmlns:p14="http://schemas.microsoft.com/office/powerpoint/2010/main" val="3303099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BFE3C-06A2-6CE5-17D3-16C0AF7FC0F5}"/>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B187E926-8006-E9AF-9955-E228330D07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719444-A261-9D59-59AA-FB68303B6D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01B0C083-7A51-3F18-6CB0-5223A9A984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70D76E-8DE9-FDDE-236B-FA8FAE1AC4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B57E204D-9C1E-9536-5519-B8FD9B0DD327}"/>
              </a:ext>
            </a:extLst>
          </p:cNvPr>
          <p:cNvSpPr>
            <a:spLocks noGrp="1"/>
          </p:cNvSpPr>
          <p:nvPr>
            <p:ph type="dt" sz="half" idx="10"/>
          </p:nvPr>
        </p:nvSpPr>
        <p:spPr/>
        <p:txBody>
          <a:bodyPr/>
          <a:lstStyle/>
          <a:p>
            <a:fld id="{A6977AC5-78E7-4A2A-A17A-C41856993086}" type="datetimeFigureOut">
              <a:rPr lang="LID4096" smtClean="0"/>
              <a:t>11/18/2025</a:t>
            </a:fld>
            <a:endParaRPr lang="LID4096"/>
          </a:p>
        </p:txBody>
      </p:sp>
      <p:sp>
        <p:nvSpPr>
          <p:cNvPr id="8" name="Footer Placeholder 7">
            <a:extLst>
              <a:ext uri="{FF2B5EF4-FFF2-40B4-BE49-F238E27FC236}">
                <a16:creationId xmlns:a16="http://schemas.microsoft.com/office/drawing/2014/main" id="{5619410F-7867-4B44-E726-21EEFCF03846}"/>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B7ACE8A9-3837-F6B9-4B13-655276715D56}"/>
              </a:ext>
            </a:extLst>
          </p:cNvPr>
          <p:cNvSpPr>
            <a:spLocks noGrp="1"/>
          </p:cNvSpPr>
          <p:nvPr>
            <p:ph type="sldNum" sz="quarter" idx="12"/>
          </p:nvPr>
        </p:nvSpPr>
        <p:spPr/>
        <p:txBody>
          <a:bodyPr/>
          <a:lstStyle/>
          <a:p>
            <a:fld id="{A6204286-161C-425E-A057-C2E8669CF4EB}" type="slidenum">
              <a:rPr lang="LID4096" smtClean="0"/>
              <a:t>‹#›</a:t>
            </a:fld>
            <a:endParaRPr lang="LID4096"/>
          </a:p>
        </p:txBody>
      </p:sp>
    </p:spTree>
    <p:extLst>
      <p:ext uri="{BB962C8B-B14F-4D97-AF65-F5344CB8AC3E}">
        <p14:creationId xmlns:p14="http://schemas.microsoft.com/office/powerpoint/2010/main" val="3423987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C7044-1B6D-F258-ABD1-84444B273EE2}"/>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58546416-706C-58DE-3C96-B887CD4D3D48}"/>
              </a:ext>
            </a:extLst>
          </p:cNvPr>
          <p:cNvSpPr>
            <a:spLocks noGrp="1"/>
          </p:cNvSpPr>
          <p:nvPr>
            <p:ph type="dt" sz="half" idx="10"/>
          </p:nvPr>
        </p:nvSpPr>
        <p:spPr/>
        <p:txBody>
          <a:bodyPr/>
          <a:lstStyle/>
          <a:p>
            <a:fld id="{A6977AC5-78E7-4A2A-A17A-C41856993086}" type="datetimeFigureOut">
              <a:rPr lang="LID4096" smtClean="0"/>
              <a:t>11/18/2025</a:t>
            </a:fld>
            <a:endParaRPr lang="LID4096"/>
          </a:p>
        </p:txBody>
      </p:sp>
      <p:sp>
        <p:nvSpPr>
          <p:cNvPr id="4" name="Footer Placeholder 3">
            <a:extLst>
              <a:ext uri="{FF2B5EF4-FFF2-40B4-BE49-F238E27FC236}">
                <a16:creationId xmlns:a16="http://schemas.microsoft.com/office/drawing/2014/main" id="{2D528B9A-CC94-6F47-BE5B-8C298C432FF4}"/>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AE3917FE-2BA6-E15D-DAA8-3D81EE54873C}"/>
              </a:ext>
            </a:extLst>
          </p:cNvPr>
          <p:cNvSpPr>
            <a:spLocks noGrp="1"/>
          </p:cNvSpPr>
          <p:nvPr>
            <p:ph type="sldNum" sz="quarter" idx="12"/>
          </p:nvPr>
        </p:nvSpPr>
        <p:spPr/>
        <p:txBody>
          <a:bodyPr/>
          <a:lstStyle/>
          <a:p>
            <a:fld id="{A6204286-161C-425E-A057-C2E8669CF4EB}" type="slidenum">
              <a:rPr lang="LID4096" smtClean="0"/>
              <a:t>‹#›</a:t>
            </a:fld>
            <a:endParaRPr lang="LID4096"/>
          </a:p>
        </p:txBody>
      </p:sp>
    </p:spTree>
    <p:extLst>
      <p:ext uri="{BB962C8B-B14F-4D97-AF65-F5344CB8AC3E}">
        <p14:creationId xmlns:p14="http://schemas.microsoft.com/office/powerpoint/2010/main" val="4139941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9A2A45-82FB-D78F-43FF-04DA4AA8DA0B}"/>
              </a:ext>
            </a:extLst>
          </p:cNvPr>
          <p:cNvSpPr>
            <a:spLocks noGrp="1"/>
          </p:cNvSpPr>
          <p:nvPr>
            <p:ph type="dt" sz="half" idx="10"/>
          </p:nvPr>
        </p:nvSpPr>
        <p:spPr/>
        <p:txBody>
          <a:bodyPr/>
          <a:lstStyle/>
          <a:p>
            <a:fld id="{A6977AC5-78E7-4A2A-A17A-C41856993086}" type="datetimeFigureOut">
              <a:rPr lang="LID4096" smtClean="0"/>
              <a:t>11/18/2025</a:t>
            </a:fld>
            <a:endParaRPr lang="LID4096"/>
          </a:p>
        </p:txBody>
      </p:sp>
      <p:sp>
        <p:nvSpPr>
          <p:cNvPr id="3" name="Footer Placeholder 2">
            <a:extLst>
              <a:ext uri="{FF2B5EF4-FFF2-40B4-BE49-F238E27FC236}">
                <a16:creationId xmlns:a16="http://schemas.microsoft.com/office/drawing/2014/main" id="{89245408-8601-0C14-1DD2-931C3C89B983}"/>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74B46A42-255E-3B1E-C101-CD6202077E9C}"/>
              </a:ext>
            </a:extLst>
          </p:cNvPr>
          <p:cNvSpPr>
            <a:spLocks noGrp="1"/>
          </p:cNvSpPr>
          <p:nvPr>
            <p:ph type="sldNum" sz="quarter" idx="12"/>
          </p:nvPr>
        </p:nvSpPr>
        <p:spPr/>
        <p:txBody>
          <a:bodyPr/>
          <a:lstStyle/>
          <a:p>
            <a:fld id="{A6204286-161C-425E-A057-C2E8669CF4EB}" type="slidenum">
              <a:rPr lang="LID4096" smtClean="0"/>
              <a:t>‹#›</a:t>
            </a:fld>
            <a:endParaRPr lang="LID4096"/>
          </a:p>
        </p:txBody>
      </p:sp>
    </p:spTree>
    <p:extLst>
      <p:ext uri="{BB962C8B-B14F-4D97-AF65-F5344CB8AC3E}">
        <p14:creationId xmlns:p14="http://schemas.microsoft.com/office/powerpoint/2010/main" val="3749998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565EE-CC91-6A00-43E8-69932D0B43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B9AA28F0-AAD0-1677-AE34-67F91638BE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F7F80BB0-A419-DB0E-662C-D6DD55210B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AF7094-2F52-DAD5-9289-A6B4775826D6}"/>
              </a:ext>
            </a:extLst>
          </p:cNvPr>
          <p:cNvSpPr>
            <a:spLocks noGrp="1"/>
          </p:cNvSpPr>
          <p:nvPr>
            <p:ph type="dt" sz="half" idx="10"/>
          </p:nvPr>
        </p:nvSpPr>
        <p:spPr/>
        <p:txBody>
          <a:bodyPr/>
          <a:lstStyle/>
          <a:p>
            <a:fld id="{A6977AC5-78E7-4A2A-A17A-C41856993086}" type="datetimeFigureOut">
              <a:rPr lang="LID4096" smtClean="0"/>
              <a:t>11/18/2025</a:t>
            </a:fld>
            <a:endParaRPr lang="LID4096"/>
          </a:p>
        </p:txBody>
      </p:sp>
      <p:sp>
        <p:nvSpPr>
          <p:cNvPr id="6" name="Footer Placeholder 5">
            <a:extLst>
              <a:ext uri="{FF2B5EF4-FFF2-40B4-BE49-F238E27FC236}">
                <a16:creationId xmlns:a16="http://schemas.microsoft.com/office/drawing/2014/main" id="{CDF4F4B9-C40F-ABB2-0193-1040B45E6CA0}"/>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4A198AD4-2E92-6108-6A92-5D1380DE8D3B}"/>
              </a:ext>
            </a:extLst>
          </p:cNvPr>
          <p:cNvSpPr>
            <a:spLocks noGrp="1"/>
          </p:cNvSpPr>
          <p:nvPr>
            <p:ph type="sldNum" sz="quarter" idx="12"/>
          </p:nvPr>
        </p:nvSpPr>
        <p:spPr/>
        <p:txBody>
          <a:bodyPr/>
          <a:lstStyle/>
          <a:p>
            <a:fld id="{A6204286-161C-425E-A057-C2E8669CF4EB}" type="slidenum">
              <a:rPr lang="LID4096" smtClean="0"/>
              <a:t>‹#›</a:t>
            </a:fld>
            <a:endParaRPr lang="LID4096"/>
          </a:p>
        </p:txBody>
      </p:sp>
    </p:spTree>
    <p:extLst>
      <p:ext uri="{BB962C8B-B14F-4D97-AF65-F5344CB8AC3E}">
        <p14:creationId xmlns:p14="http://schemas.microsoft.com/office/powerpoint/2010/main" val="87257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E88E4-E1DA-96FF-D98D-2910855441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CFA625E6-85A3-BB11-CAFE-5107D7105D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0EDE6FD9-79A7-E210-6F84-2D4422AA77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A8272E-4B8E-8FA1-F9A3-BA8E4B792597}"/>
              </a:ext>
            </a:extLst>
          </p:cNvPr>
          <p:cNvSpPr>
            <a:spLocks noGrp="1"/>
          </p:cNvSpPr>
          <p:nvPr>
            <p:ph type="dt" sz="half" idx="10"/>
          </p:nvPr>
        </p:nvSpPr>
        <p:spPr/>
        <p:txBody>
          <a:bodyPr/>
          <a:lstStyle/>
          <a:p>
            <a:fld id="{A6977AC5-78E7-4A2A-A17A-C41856993086}" type="datetimeFigureOut">
              <a:rPr lang="LID4096" smtClean="0"/>
              <a:t>11/18/2025</a:t>
            </a:fld>
            <a:endParaRPr lang="LID4096"/>
          </a:p>
        </p:txBody>
      </p:sp>
      <p:sp>
        <p:nvSpPr>
          <p:cNvPr id="6" name="Footer Placeholder 5">
            <a:extLst>
              <a:ext uri="{FF2B5EF4-FFF2-40B4-BE49-F238E27FC236}">
                <a16:creationId xmlns:a16="http://schemas.microsoft.com/office/drawing/2014/main" id="{D61015B5-2E47-7D92-21FB-C7F4AE9E1795}"/>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0EF33585-B3C4-4320-05C7-39516D1E5E67}"/>
              </a:ext>
            </a:extLst>
          </p:cNvPr>
          <p:cNvSpPr>
            <a:spLocks noGrp="1"/>
          </p:cNvSpPr>
          <p:nvPr>
            <p:ph type="sldNum" sz="quarter" idx="12"/>
          </p:nvPr>
        </p:nvSpPr>
        <p:spPr/>
        <p:txBody>
          <a:bodyPr/>
          <a:lstStyle/>
          <a:p>
            <a:fld id="{A6204286-161C-425E-A057-C2E8669CF4EB}" type="slidenum">
              <a:rPr lang="LID4096" smtClean="0"/>
              <a:t>‹#›</a:t>
            </a:fld>
            <a:endParaRPr lang="LID4096"/>
          </a:p>
        </p:txBody>
      </p:sp>
    </p:spTree>
    <p:extLst>
      <p:ext uri="{BB962C8B-B14F-4D97-AF65-F5344CB8AC3E}">
        <p14:creationId xmlns:p14="http://schemas.microsoft.com/office/powerpoint/2010/main" val="3955071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E51E7-0A3B-6013-F898-A5EA75BE5F30}"/>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990D8C14-0689-11F0-066D-4B14813EA8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D733D6F7-6575-4D81-46D5-85332BB4EEC0}"/>
              </a:ext>
            </a:extLst>
          </p:cNvPr>
          <p:cNvSpPr>
            <a:spLocks noGrp="1"/>
          </p:cNvSpPr>
          <p:nvPr>
            <p:ph type="dt" sz="half" idx="10"/>
          </p:nvPr>
        </p:nvSpPr>
        <p:spPr/>
        <p:txBody>
          <a:bodyPr/>
          <a:lstStyle/>
          <a:p>
            <a:fld id="{A6977AC5-78E7-4A2A-A17A-C41856993086}" type="datetimeFigureOut">
              <a:rPr lang="LID4096" smtClean="0"/>
              <a:t>11/18/2025</a:t>
            </a:fld>
            <a:endParaRPr lang="LID4096"/>
          </a:p>
        </p:txBody>
      </p:sp>
      <p:sp>
        <p:nvSpPr>
          <p:cNvPr id="5" name="Footer Placeholder 4">
            <a:extLst>
              <a:ext uri="{FF2B5EF4-FFF2-40B4-BE49-F238E27FC236}">
                <a16:creationId xmlns:a16="http://schemas.microsoft.com/office/drawing/2014/main" id="{A001CF1E-A946-88D9-A6A3-15C8AF1A7A87}"/>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0351CD9E-3953-2080-AA80-467CE139A539}"/>
              </a:ext>
            </a:extLst>
          </p:cNvPr>
          <p:cNvSpPr>
            <a:spLocks noGrp="1"/>
          </p:cNvSpPr>
          <p:nvPr>
            <p:ph type="sldNum" sz="quarter" idx="12"/>
          </p:nvPr>
        </p:nvSpPr>
        <p:spPr/>
        <p:txBody>
          <a:bodyPr/>
          <a:lstStyle/>
          <a:p>
            <a:fld id="{A6204286-161C-425E-A057-C2E8669CF4EB}" type="slidenum">
              <a:rPr lang="LID4096" smtClean="0"/>
              <a:t>‹#›</a:t>
            </a:fld>
            <a:endParaRPr lang="LID4096"/>
          </a:p>
        </p:txBody>
      </p:sp>
    </p:spTree>
    <p:extLst>
      <p:ext uri="{BB962C8B-B14F-4D97-AF65-F5344CB8AC3E}">
        <p14:creationId xmlns:p14="http://schemas.microsoft.com/office/powerpoint/2010/main" val="731879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DBB13F-9006-E574-A151-D9229F3A7E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BE4CE4EA-657A-624D-CE32-DC26B2A29B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8576A0C-FC19-FC69-794B-F606AF034BEF}"/>
              </a:ext>
            </a:extLst>
          </p:cNvPr>
          <p:cNvSpPr>
            <a:spLocks noGrp="1"/>
          </p:cNvSpPr>
          <p:nvPr>
            <p:ph type="dt" sz="half" idx="10"/>
          </p:nvPr>
        </p:nvSpPr>
        <p:spPr/>
        <p:txBody>
          <a:bodyPr/>
          <a:lstStyle/>
          <a:p>
            <a:fld id="{A6977AC5-78E7-4A2A-A17A-C41856993086}" type="datetimeFigureOut">
              <a:rPr lang="LID4096" smtClean="0"/>
              <a:t>11/18/2025</a:t>
            </a:fld>
            <a:endParaRPr lang="LID4096"/>
          </a:p>
        </p:txBody>
      </p:sp>
      <p:sp>
        <p:nvSpPr>
          <p:cNvPr id="5" name="Footer Placeholder 4">
            <a:extLst>
              <a:ext uri="{FF2B5EF4-FFF2-40B4-BE49-F238E27FC236}">
                <a16:creationId xmlns:a16="http://schemas.microsoft.com/office/drawing/2014/main" id="{CD3D4B49-DA51-3C83-720C-DBEF16214600}"/>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F5F0C494-095F-431C-1328-2BA00532BB67}"/>
              </a:ext>
            </a:extLst>
          </p:cNvPr>
          <p:cNvSpPr>
            <a:spLocks noGrp="1"/>
          </p:cNvSpPr>
          <p:nvPr>
            <p:ph type="sldNum" sz="quarter" idx="12"/>
          </p:nvPr>
        </p:nvSpPr>
        <p:spPr/>
        <p:txBody>
          <a:bodyPr/>
          <a:lstStyle/>
          <a:p>
            <a:fld id="{A6204286-161C-425E-A057-C2E8669CF4EB}" type="slidenum">
              <a:rPr lang="LID4096" smtClean="0"/>
              <a:t>‹#›</a:t>
            </a:fld>
            <a:endParaRPr lang="LID4096"/>
          </a:p>
        </p:txBody>
      </p:sp>
    </p:spTree>
    <p:extLst>
      <p:ext uri="{BB962C8B-B14F-4D97-AF65-F5344CB8AC3E}">
        <p14:creationId xmlns:p14="http://schemas.microsoft.com/office/powerpoint/2010/main" val="4212051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61A563-9C1D-CD89-7125-D7FEB7F4EF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124D910F-A777-3AB6-7AAA-A0C4C2CE4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E4BCA4C5-1BAD-074D-2BDB-5515E57239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977AC5-78E7-4A2A-A17A-C41856993086}" type="datetimeFigureOut">
              <a:rPr lang="LID4096" smtClean="0"/>
              <a:t>11/18/2025</a:t>
            </a:fld>
            <a:endParaRPr lang="LID4096"/>
          </a:p>
        </p:txBody>
      </p:sp>
      <p:sp>
        <p:nvSpPr>
          <p:cNvPr id="5" name="Footer Placeholder 4">
            <a:extLst>
              <a:ext uri="{FF2B5EF4-FFF2-40B4-BE49-F238E27FC236}">
                <a16:creationId xmlns:a16="http://schemas.microsoft.com/office/drawing/2014/main" id="{ACB461C1-ED14-47EE-F748-018927559F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01AF62FE-0815-D8B2-A3B9-4A886FD18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204286-161C-425E-A057-C2E8669CF4EB}" type="slidenum">
              <a:rPr lang="LID4096" smtClean="0"/>
              <a:t>‹#›</a:t>
            </a:fld>
            <a:endParaRPr lang="LID4096"/>
          </a:p>
        </p:txBody>
      </p:sp>
    </p:spTree>
    <p:extLst>
      <p:ext uri="{BB962C8B-B14F-4D97-AF65-F5344CB8AC3E}">
        <p14:creationId xmlns:p14="http://schemas.microsoft.com/office/powerpoint/2010/main" val="1450097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3.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953C0-FD7C-EE0E-5B79-846D811015D0}"/>
              </a:ext>
            </a:extLst>
          </p:cNvPr>
          <p:cNvSpPr>
            <a:spLocks noGrp="1"/>
          </p:cNvSpPr>
          <p:nvPr>
            <p:ph type="ctrTitle"/>
          </p:nvPr>
        </p:nvSpPr>
        <p:spPr>
          <a:xfrm>
            <a:off x="1524000" y="1748005"/>
            <a:ext cx="9144000" cy="2387600"/>
          </a:xfrm>
        </p:spPr>
        <p:txBody>
          <a:bodyPr/>
          <a:lstStyle/>
          <a:p>
            <a:r>
              <a:rPr lang="en-US" dirty="0"/>
              <a:t>Het Internet</a:t>
            </a:r>
            <a:endParaRPr lang="LID4096" dirty="0"/>
          </a:p>
        </p:txBody>
      </p:sp>
    </p:spTree>
    <p:extLst>
      <p:ext uri="{BB962C8B-B14F-4D97-AF65-F5344CB8AC3E}">
        <p14:creationId xmlns:p14="http://schemas.microsoft.com/office/powerpoint/2010/main" val="3558411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Russians launch Sputnik Satellite into Space - Razor Robotics">
            <a:extLst>
              <a:ext uri="{FF2B5EF4-FFF2-40B4-BE49-F238E27FC236}">
                <a16:creationId xmlns:a16="http://schemas.microsoft.com/office/drawing/2014/main" id="{19950574-7134-7405-51AB-22E75D8C3A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475" y="755926"/>
            <a:ext cx="9925050" cy="5582841"/>
          </a:xfrm>
          <a:prstGeom prst="rect">
            <a:avLst/>
          </a:prstGeom>
          <a:noFill/>
          <a:extLst>
            <a:ext uri="{909E8E84-426E-40DD-AFC4-6F175D3DCCD1}">
              <a14:hiddenFill xmlns:a14="http://schemas.microsoft.com/office/drawing/2010/main">
                <a:solidFill>
                  <a:srgbClr val="FFFFFF"/>
                </a:solidFill>
              </a14:hiddenFill>
            </a:ext>
          </a:extLst>
        </p:spPr>
      </p:pic>
      <p:sp>
        <p:nvSpPr>
          <p:cNvPr id="5" name="Tekstvak 7">
            <a:extLst>
              <a:ext uri="{FF2B5EF4-FFF2-40B4-BE49-F238E27FC236}">
                <a16:creationId xmlns:a16="http://schemas.microsoft.com/office/drawing/2014/main" id="{BE9FFDC6-D1D0-CB14-EEEE-729C0D74C472}"/>
              </a:ext>
            </a:extLst>
          </p:cNvPr>
          <p:cNvSpPr txBox="1"/>
          <p:nvPr/>
        </p:nvSpPr>
        <p:spPr>
          <a:xfrm>
            <a:off x="5526405" y="1655723"/>
            <a:ext cx="4115229" cy="1015663"/>
          </a:xfrm>
          <a:prstGeom prst="rect">
            <a:avLst/>
          </a:prstGeom>
          <a:noFill/>
        </p:spPr>
        <p:txBody>
          <a:bodyPr wrap="none" rtlCol="0">
            <a:spAutoFit/>
          </a:bodyPr>
          <a:lstStyle/>
          <a:p>
            <a:r>
              <a:rPr lang="nl-BE" sz="6000" dirty="0">
                <a:solidFill>
                  <a:schemeClr val="bg2"/>
                </a:solidFill>
                <a:latin typeface="Barlow Condensed" panose="00000506000000000000" pitchFamily="2" charset="0"/>
              </a:rPr>
              <a:t>1957 - Spoetnik</a:t>
            </a:r>
          </a:p>
        </p:txBody>
      </p:sp>
    </p:spTree>
    <p:extLst>
      <p:ext uri="{BB962C8B-B14F-4D97-AF65-F5344CB8AC3E}">
        <p14:creationId xmlns:p14="http://schemas.microsoft.com/office/powerpoint/2010/main" val="2563566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04338-6048-56CB-1EF1-A3DF0835D63B}"/>
              </a:ext>
            </a:extLst>
          </p:cNvPr>
          <p:cNvSpPr>
            <a:spLocks noGrp="1"/>
          </p:cNvSpPr>
          <p:nvPr>
            <p:ph type="title"/>
          </p:nvPr>
        </p:nvSpPr>
        <p:spPr/>
        <p:txBody>
          <a:bodyPr/>
          <a:lstStyle/>
          <a:p>
            <a:r>
              <a:rPr lang="en-US" dirty="0"/>
              <a:t>ARPA</a:t>
            </a:r>
            <a:endParaRPr lang="LID4096" dirty="0"/>
          </a:p>
        </p:txBody>
      </p:sp>
      <p:pic>
        <p:nvPicPr>
          <p:cNvPr id="1028" name="Picture 4" descr="Arpanet, conoce los inicios del internet">
            <a:extLst>
              <a:ext uri="{FF2B5EF4-FFF2-40B4-BE49-F238E27FC236}">
                <a16:creationId xmlns:a16="http://schemas.microsoft.com/office/drawing/2014/main" id="{F4102ADE-6381-0B5A-FD90-3586A503B5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9391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3CFB7-FFB9-35C6-34C7-F2B79E33C616}"/>
              </a:ext>
            </a:extLst>
          </p:cNvPr>
          <p:cNvSpPr>
            <a:spLocks noGrp="1"/>
          </p:cNvSpPr>
          <p:nvPr>
            <p:ph type="title"/>
          </p:nvPr>
        </p:nvSpPr>
        <p:spPr/>
        <p:txBody>
          <a:bodyPr/>
          <a:lstStyle/>
          <a:p>
            <a:r>
              <a:rPr lang="en-US" dirty="0"/>
              <a:t>IP-</a:t>
            </a:r>
            <a:r>
              <a:rPr lang="en-US" dirty="0" err="1"/>
              <a:t>routering</a:t>
            </a:r>
            <a:endParaRPr lang="LID4096" dirty="0"/>
          </a:p>
        </p:txBody>
      </p:sp>
      <p:pic>
        <p:nvPicPr>
          <p:cNvPr id="4" name="Picture 4" descr="Router Down Clip Art at Clker.com - vector clip art online, royalty free &amp;  public domain">
            <a:extLst>
              <a:ext uri="{FF2B5EF4-FFF2-40B4-BE49-F238E27FC236}">
                <a16:creationId xmlns:a16="http://schemas.microsoft.com/office/drawing/2014/main" id="{77D27FB9-B746-B389-6594-E89F62D520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91786" y="2410623"/>
            <a:ext cx="1169598" cy="77778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7" descr="http://vignette3.wikia.nocookie.net/gtawiki/images/c/c9/Computer_Icon.png/revision/latest?cb=20100421004434">
            <a:extLst>
              <a:ext uri="{FF2B5EF4-FFF2-40B4-BE49-F238E27FC236}">
                <a16:creationId xmlns:a16="http://schemas.microsoft.com/office/drawing/2014/main" id="{D282C280-1536-C324-C894-A67CB8ED0D61}"/>
              </a:ext>
            </a:extLst>
          </p:cNvPr>
          <p:cNvPicPr/>
          <p:nvPr/>
        </p:nvPicPr>
        <p:blipFill>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72930" y="3638160"/>
            <a:ext cx="1039663" cy="1017616"/>
          </a:xfrm>
          <a:prstGeom prst="rect">
            <a:avLst/>
          </a:prstGeom>
          <a:noFill/>
          <a:ln>
            <a:noFill/>
          </a:ln>
        </p:spPr>
      </p:pic>
      <p:pic>
        <p:nvPicPr>
          <p:cNvPr id="6" name="Picture 4" descr="Router Down Clip Art at Clker.com - vector clip art online, royalty free &amp;  public domain">
            <a:extLst>
              <a:ext uri="{FF2B5EF4-FFF2-40B4-BE49-F238E27FC236}">
                <a16:creationId xmlns:a16="http://schemas.microsoft.com/office/drawing/2014/main" id="{C3FB383F-004A-D391-FEC8-AAACB83E94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7116" y="4410542"/>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er Down Clip Art at Clker.com - vector clip art online, royalty free &amp;  public domain">
            <a:extLst>
              <a:ext uri="{FF2B5EF4-FFF2-40B4-BE49-F238E27FC236}">
                <a16:creationId xmlns:a16="http://schemas.microsoft.com/office/drawing/2014/main" id="{24E26850-3CDF-FF53-B20B-7ABD15BAF39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57761" y="3262826"/>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outer Down Clip Art at Clker.com - vector clip art online, royalty free &amp;  public domain">
            <a:extLst>
              <a:ext uri="{FF2B5EF4-FFF2-40B4-BE49-F238E27FC236}">
                <a16:creationId xmlns:a16="http://schemas.microsoft.com/office/drawing/2014/main" id="{239D89AA-86C8-EABF-E1C9-8E01D574AAA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86596" y="2262419"/>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Router Down Clip Art at Clker.com - vector clip art online, royalty free &amp;  public domain">
            <a:extLst>
              <a:ext uri="{FF2B5EF4-FFF2-40B4-BE49-F238E27FC236}">
                <a16:creationId xmlns:a16="http://schemas.microsoft.com/office/drawing/2014/main" id="{58DA9C67-C019-11BF-30C6-F93DA3B1277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4148" y="418224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Afbeelding 13">
            <a:extLst>
              <a:ext uri="{FF2B5EF4-FFF2-40B4-BE49-F238E27FC236}">
                <a16:creationId xmlns:a16="http://schemas.microsoft.com/office/drawing/2014/main" id="{DA1EAA9B-BE03-8ED1-0D0E-059E0F2ADEC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42134" y="2224096"/>
            <a:ext cx="1928619" cy="1928619"/>
          </a:xfrm>
          <a:prstGeom prst="rect">
            <a:avLst/>
          </a:prstGeom>
        </p:spPr>
      </p:pic>
      <p:cxnSp>
        <p:nvCxnSpPr>
          <p:cNvPr id="11" name="Rechte verbindingslijn 14">
            <a:extLst>
              <a:ext uri="{FF2B5EF4-FFF2-40B4-BE49-F238E27FC236}">
                <a16:creationId xmlns:a16="http://schemas.microsoft.com/office/drawing/2014/main" id="{7600ED3C-A006-E1F7-CAF4-62A385979AC3}"/>
              </a:ext>
            </a:extLst>
          </p:cNvPr>
          <p:cNvCxnSpPr/>
          <p:nvPr/>
        </p:nvCxnSpPr>
        <p:spPr>
          <a:xfrm flipV="1">
            <a:off x="2512593" y="3013088"/>
            <a:ext cx="800101" cy="7211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2" name="Rechte verbindingslijn 16">
            <a:extLst>
              <a:ext uri="{FF2B5EF4-FFF2-40B4-BE49-F238E27FC236}">
                <a16:creationId xmlns:a16="http://schemas.microsoft.com/office/drawing/2014/main" id="{FEA77859-1DB8-009E-7A65-64427C8409BF}"/>
              </a:ext>
            </a:extLst>
          </p:cNvPr>
          <p:cNvCxnSpPr/>
          <p:nvPr/>
        </p:nvCxnSpPr>
        <p:spPr>
          <a:xfrm flipH="1" flipV="1">
            <a:off x="3927583" y="3078361"/>
            <a:ext cx="333801" cy="125830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3" name="Rechte verbindingslijn 18">
            <a:extLst>
              <a:ext uri="{FF2B5EF4-FFF2-40B4-BE49-F238E27FC236}">
                <a16:creationId xmlns:a16="http://schemas.microsoft.com/office/drawing/2014/main" id="{CD76F3F0-BE93-B784-4C02-25C435F37D97}"/>
              </a:ext>
            </a:extLst>
          </p:cNvPr>
          <p:cNvCxnSpPr/>
          <p:nvPr/>
        </p:nvCxnSpPr>
        <p:spPr>
          <a:xfrm flipV="1">
            <a:off x="4904219" y="3834180"/>
            <a:ext cx="715041" cy="61724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4" name="Rechte verbindingslijn 20">
            <a:extLst>
              <a:ext uri="{FF2B5EF4-FFF2-40B4-BE49-F238E27FC236}">
                <a16:creationId xmlns:a16="http://schemas.microsoft.com/office/drawing/2014/main" id="{B18C67AE-12C8-8E17-DB5B-A226956BAEFD}"/>
              </a:ext>
            </a:extLst>
          </p:cNvPr>
          <p:cNvCxnSpPr/>
          <p:nvPr/>
        </p:nvCxnSpPr>
        <p:spPr>
          <a:xfrm flipV="1">
            <a:off x="6488790" y="2824897"/>
            <a:ext cx="894661" cy="4968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5" name="Rechte verbindingslijn 23">
            <a:extLst>
              <a:ext uri="{FF2B5EF4-FFF2-40B4-BE49-F238E27FC236}">
                <a16:creationId xmlns:a16="http://schemas.microsoft.com/office/drawing/2014/main" id="{619FCCBF-EF6D-7BD0-5462-ACD659A91DF7}"/>
              </a:ext>
            </a:extLst>
          </p:cNvPr>
          <p:cNvCxnSpPr/>
          <p:nvPr/>
        </p:nvCxnSpPr>
        <p:spPr>
          <a:xfrm>
            <a:off x="7955832" y="2936270"/>
            <a:ext cx="140245" cy="120653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6" name="Rechte verbindingslijn 25">
            <a:extLst>
              <a:ext uri="{FF2B5EF4-FFF2-40B4-BE49-F238E27FC236}">
                <a16:creationId xmlns:a16="http://schemas.microsoft.com/office/drawing/2014/main" id="{8C759CB7-0D68-225D-E554-0F79C736D2D9}"/>
              </a:ext>
            </a:extLst>
          </p:cNvPr>
          <p:cNvCxnSpPr/>
          <p:nvPr/>
        </p:nvCxnSpPr>
        <p:spPr>
          <a:xfrm flipH="1">
            <a:off x="8711924" y="3707513"/>
            <a:ext cx="860421" cy="60326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492412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par>
                          <p:cTn id="34" fill="hold">
                            <p:stCondLst>
                              <p:cond delay="1500"/>
                            </p:stCondLst>
                            <p:childTnLst>
                              <p:par>
                                <p:cTn id="35" presetID="10" presetClass="entr" presetSubtype="0"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par>
                          <p:cTn id="38" fill="hold">
                            <p:stCondLst>
                              <p:cond delay="2000"/>
                            </p:stCondLst>
                            <p:childTnLst>
                              <p:par>
                                <p:cTn id="39" presetID="10" presetClass="entr" presetSubtype="0"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par>
                          <p:cTn id="42" fill="hold">
                            <p:stCondLst>
                              <p:cond delay="2500"/>
                            </p:stCondLst>
                            <p:childTnLst>
                              <p:par>
                                <p:cTn id="43" presetID="10" presetClass="entr" presetSubtype="0" fill="hold"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childTnLst>
                          </p:cTn>
                        </p:par>
                        <p:par>
                          <p:cTn id="46" fill="hold">
                            <p:stCondLst>
                              <p:cond delay="3000"/>
                            </p:stCondLst>
                            <p:childTnLst>
                              <p:par>
                                <p:cTn id="47" presetID="10" presetClass="entr" presetSubtype="0" fill="hold"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67213-8D34-CDC7-ACFA-00EE1AA03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04122C-C655-12C4-5AF5-26812D7894C1}"/>
              </a:ext>
            </a:extLst>
          </p:cNvPr>
          <p:cNvSpPr>
            <a:spLocks noGrp="1"/>
          </p:cNvSpPr>
          <p:nvPr>
            <p:ph type="title"/>
          </p:nvPr>
        </p:nvSpPr>
        <p:spPr/>
        <p:txBody>
          <a:bodyPr/>
          <a:lstStyle/>
          <a:p>
            <a:r>
              <a:rPr lang="en-US" dirty="0"/>
              <a:t>IP-</a:t>
            </a:r>
            <a:r>
              <a:rPr lang="en-US" dirty="0" err="1"/>
              <a:t>routering</a:t>
            </a:r>
            <a:r>
              <a:rPr lang="en-US" dirty="0"/>
              <a:t> – Time to live</a:t>
            </a:r>
            <a:endParaRPr lang="LID4096" dirty="0"/>
          </a:p>
        </p:txBody>
      </p:sp>
      <p:pic>
        <p:nvPicPr>
          <p:cNvPr id="4" name="Picture 4" descr="Router Down Clip Art at Clker.com - vector clip art online, royalty free &amp;  public domain">
            <a:extLst>
              <a:ext uri="{FF2B5EF4-FFF2-40B4-BE49-F238E27FC236}">
                <a16:creationId xmlns:a16="http://schemas.microsoft.com/office/drawing/2014/main" id="{2181FCF5-27D1-5BF7-6BDC-1E17295BFC7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91786" y="2410623"/>
            <a:ext cx="1169598" cy="77778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7" descr="http://vignette3.wikia.nocookie.net/gtawiki/images/c/c9/Computer_Icon.png/revision/latest?cb=20100421004434">
            <a:extLst>
              <a:ext uri="{FF2B5EF4-FFF2-40B4-BE49-F238E27FC236}">
                <a16:creationId xmlns:a16="http://schemas.microsoft.com/office/drawing/2014/main" id="{3F6C77B2-103D-3EB1-15D9-954E98EF4294}"/>
              </a:ext>
            </a:extLst>
          </p:cNvPr>
          <p:cNvPicPr/>
          <p:nvPr/>
        </p:nvPicPr>
        <p:blipFill>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72930" y="3638160"/>
            <a:ext cx="1039663" cy="1017616"/>
          </a:xfrm>
          <a:prstGeom prst="rect">
            <a:avLst/>
          </a:prstGeom>
          <a:noFill/>
          <a:ln>
            <a:noFill/>
          </a:ln>
        </p:spPr>
      </p:pic>
      <p:pic>
        <p:nvPicPr>
          <p:cNvPr id="6" name="Picture 4" descr="Router Down Clip Art at Clker.com - vector clip art online, royalty free &amp;  public domain">
            <a:extLst>
              <a:ext uri="{FF2B5EF4-FFF2-40B4-BE49-F238E27FC236}">
                <a16:creationId xmlns:a16="http://schemas.microsoft.com/office/drawing/2014/main" id="{73E5AF90-C3C5-C776-9A7B-172B18DE974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7116" y="4410542"/>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er Down Clip Art at Clker.com - vector clip art online, royalty free &amp;  public domain">
            <a:extLst>
              <a:ext uri="{FF2B5EF4-FFF2-40B4-BE49-F238E27FC236}">
                <a16:creationId xmlns:a16="http://schemas.microsoft.com/office/drawing/2014/main" id="{31C70FA8-EA0E-27A1-99CE-EC639F6D5DF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57761" y="3262826"/>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outer Down Clip Art at Clker.com - vector clip art online, royalty free &amp;  public domain">
            <a:extLst>
              <a:ext uri="{FF2B5EF4-FFF2-40B4-BE49-F238E27FC236}">
                <a16:creationId xmlns:a16="http://schemas.microsoft.com/office/drawing/2014/main" id="{B82808BB-01E4-511E-74BA-D2D57B2E94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86596" y="2262419"/>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Router Down Clip Art at Clker.com - vector clip art online, royalty free &amp;  public domain">
            <a:extLst>
              <a:ext uri="{FF2B5EF4-FFF2-40B4-BE49-F238E27FC236}">
                <a16:creationId xmlns:a16="http://schemas.microsoft.com/office/drawing/2014/main" id="{123C255B-B782-BEC3-BE23-BDB71CF0BC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4148" y="418224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Afbeelding 13">
            <a:extLst>
              <a:ext uri="{FF2B5EF4-FFF2-40B4-BE49-F238E27FC236}">
                <a16:creationId xmlns:a16="http://schemas.microsoft.com/office/drawing/2014/main" id="{902D6BB7-7AE3-9E9B-11AB-A4B5BBAA192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42134" y="2224096"/>
            <a:ext cx="1928619" cy="1928619"/>
          </a:xfrm>
          <a:prstGeom prst="rect">
            <a:avLst/>
          </a:prstGeom>
        </p:spPr>
      </p:pic>
      <p:cxnSp>
        <p:nvCxnSpPr>
          <p:cNvPr id="11" name="Rechte verbindingslijn 14">
            <a:extLst>
              <a:ext uri="{FF2B5EF4-FFF2-40B4-BE49-F238E27FC236}">
                <a16:creationId xmlns:a16="http://schemas.microsoft.com/office/drawing/2014/main" id="{F325E8A2-DB13-1E97-068F-EE03E27F20FB}"/>
              </a:ext>
            </a:extLst>
          </p:cNvPr>
          <p:cNvCxnSpPr/>
          <p:nvPr/>
        </p:nvCxnSpPr>
        <p:spPr>
          <a:xfrm flipV="1">
            <a:off x="2512593" y="3013088"/>
            <a:ext cx="800101" cy="7211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2" name="Rechte verbindingslijn 16">
            <a:extLst>
              <a:ext uri="{FF2B5EF4-FFF2-40B4-BE49-F238E27FC236}">
                <a16:creationId xmlns:a16="http://schemas.microsoft.com/office/drawing/2014/main" id="{EFC1523D-2187-DC9C-C7CE-8F5A6A39BB70}"/>
              </a:ext>
            </a:extLst>
          </p:cNvPr>
          <p:cNvCxnSpPr/>
          <p:nvPr/>
        </p:nvCxnSpPr>
        <p:spPr>
          <a:xfrm flipH="1" flipV="1">
            <a:off x="3927583" y="3078361"/>
            <a:ext cx="333801" cy="125830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3" name="Rechte verbindingslijn 18">
            <a:extLst>
              <a:ext uri="{FF2B5EF4-FFF2-40B4-BE49-F238E27FC236}">
                <a16:creationId xmlns:a16="http://schemas.microsoft.com/office/drawing/2014/main" id="{1CFDF56F-6F19-7D09-9EEB-0720FB4F2364}"/>
              </a:ext>
            </a:extLst>
          </p:cNvPr>
          <p:cNvCxnSpPr/>
          <p:nvPr/>
        </p:nvCxnSpPr>
        <p:spPr>
          <a:xfrm flipV="1">
            <a:off x="4904219" y="3834180"/>
            <a:ext cx="715041" cy="61724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4" name="Rechte verbindingslijn 20">
            <a:extLst>
              <a:ext uri="{FF2B5EF4-FFF2-40B4-BE49-F238E27FC236}">
                <a16:creationId xmlns:a16="http://schemas.microsoft.com/office/drawing/2014/main" id="{A43B7F79-6CA1-F969-FB66-30918FF196F0}"/>
              </a:ext>
            </a:extLst>
          </p:cNvPr>
          <p:cNvCxnSpPr/>
          <p:nvPr/>
        </p:nvCxnSpPr>
        <p:spPr>
          <a:xfrm flipV="1">
            <a:off x="6488790" y="2824897"/>
            <a:ext cx="894661" cy="4968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5" name="Rechte verbindingslijn 23">
            <a:extLst>
              <a:ext uri="{FF2B5EF4-FFF2-40B4-BE49-F238E27FC236}">
                <a16:creationId xmlns:a16="http://schemas.microsoft.com/office/drawing/2014/main" id="{C994CE2F-74B4-3656-D5F0-FB011AE3F1A1}"/>
              </a:ext>
            </a:extLst>
          </p:cNvPr>
          <p:cNvCxnSpPr/>
          <p:nvPr/>
        </p:nvCxnSpPr>
        <p:spPr>
          <a:xfrm>
            <a:off x="7955832" y="2936270"/>
            <a:ext cx="140245" cy="120653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6" name="Rechte verbindingslijn 25">
            <a:extLst>
              <a:ext uri="{FF2B5EF4-FFF2-40B4-BE49-F238E27FC236}">
                <a16:creationId xmlns:a16="http://schemas.microsoft.com/office/drawing/2014/main" id="{360C5367-D846-375C-D7D2-A1462AFAF76E}"/>
              </a:ext>
            </a:extLst>
          </p:cNvPr>
          <p:cNvCxnSpPr/>
          <p:nvPr/>
        </p:nvCxnSpPr>
        <p:spPr>
          <a:xfrm flipH="1">
            <a:off x="8711924" y="3707513"/>
            <a:ext cx="860421" cy="60326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sp>
        <p:nvSpPr>
          <p:cNvPr id="17" name="Tekstvak 27">
            <a:extLst>
              <a:ext uri="{FF2B5EF4-FFF2-40B4-BE49-F238E27FC236}">
                <a16:creationId xmlns:a16="http://schemas.microsoft.com/office/drawing/2014/main" id="{080C01A3-9D4E-E28D-CF12-4850C7F5F635}"/>
              </a:ext>
            </a:extLst>
          </p:cNvPr>
          <p:cNvSpPr txBox="1"/>
          <p:nvPr/>
        </p:nvSpPr>
        <p:spPr>
          <a:xfrm>
            <a:off x="1869674" y="2923829"/>
            <a:ext cx="1007007" cy="523220"/>
          </a:xfrm>
          <a:prstGeom prst="rect">
            <a:avLst/>
          </a:prstGeom>
          <a:noFill/>
        </p:spPr>
        <p:txBody>
          <a:bodyPr wrap="none" rtlCol="0">
            <a:spAutoFit/>
          </a:bodyPr>
          <a:lstStyle/>
          <a:p>
            <a:pPr algn="ctr"/>
            <a:r>
              <a:rPr lang="nl-BE" sz="2800" dirty="0">
                <a:latin typeface="Barlow Condensed" panose="00000506000000000000" pitchFamily="2" charset="0"/>
              </a:rPr>
              <a:t>TTL 30</a:t>
            </a:r>
          </a:p>
        </p:txBody>
      </p:sp>
      <p:sp>
        <p:nvSpPr>
          <p:cNvPr id="18" name="Tekstvak 28">
            <a:extLst>
              <a:ext uri="{FF2B5EF4-FFF2-40B4-BE49-F238E27FC236}">
                <a16:creationId xmlns:a16="http://schemas.microsoft.com/office/drawing/2014/main" id="{0926D4E1-A4A5-749F-4DED-336CA48B64B5}"/>
              </a:ext>
            </a:extLst>
          </p:cNvPr>
          <p:cNvSpPr txBox="1"/>
          <p:nvPr/>
        </p:nvSpPr>
        <p:spPr>
          <a:xfrm>
            <a:off x="3114732" y="3629495"/>
            <a:ext cx="992579" cy="523220"/>
          </a:xfrm>
          <a:prstGeom prst="rect">
            <a:avLst/>
          </a:prstGeom>
          <a:noFill/>
        </p:spPr>
        <p:txBody>
          <a:bodyPr wrap="none" rtlCol="0">
            <a:spAutoFit/>
          </a:bodyPr>
          <a:lstStyle/>
          <a:p>
            <a:pPr algn="ctr"/>
            <a:r>
              <a:rPr lang="nl-BE" sz="2800" dirty="0">
                <a:latin typeface="Barlow Condensed" panose="00000506000000000000" pitchFamily="2" charset="0"/>
              </a:rPr>
              <a:t>TTL 29</a:t>
            </a:r>
          </a:p>
        </p:txBody>
      </p:sp>
      <p:sp>
        <p:nvSpPr>
          <p:cNvPr id="19" name="Tekstvak 29">
            <a:extLst>
              <a:ext uri="{FF2B5EF4-FFF2-40B4-BE49-F238E27FC236}">
                <a16:creationId xmlns:a16="http://schemas.microsoft.com/office/drawing/2014/main" id="{A23F0B58-4E53-72E4-E077-D6A0C509FDB0}"/>
              </a:ext>
            </a:extLst>
          </p:cNvPr>
          <p:cNvSpPr txBox="1"/>
          <p:nvPr/>
        </p:nvSpPr>
        <p:spPr>
          <a:xfrm>
            <a:off x="5232071" y="4061628"/>
            <a:ext cx="1000595" cy="523220"/>
          </a:xfrm>
          <a:prstGeom prst="rect">
            <a:avLst/>
          </a:prstGeom>
          <a:noFill/>
        </p:spPr>
        <p:txBody>
          <a:bodyPr wrap="none" rtlCol="0">
            <a:spAutoFit/>
          </a:bodyPr>
          <a:lstStyle/>
          <a:p>
            <a:pPr algn="ctr"/>
            <a:r>
              <a:rPr lang="nl-BE" sz="2800" dirty="0">
                <a:latin typeface="Barlow Condensed" panose="00000506000000000000" pitchFamily="2" charset="0"/>
              </a:rPr>
              <a:t>TTL 28</a:t>
            </a:r>
          </a:p>
        </p:txBody>
      </p:sp>
      <p:sp>
        <p:nvSpPr>
          <p:cNvPr id="20" name="Tekstvak 30">
            <a:extLst>
              <a:ext uri="{FF2B5EF4-FFF2-40B4-BE49-F238E27FC236}">
                <a16:creationId xmlns:a16="http://schemas.microsoft.com/office/drawing/2014/main" id="{A867CFD9-8890-ECE3-F886-9A562DB941B1}"/>
              </a:ext>
            </a:extLst>
          </p:cNvPr>
          <p:cNvSpPr txBox="1"/>
          <p:nvPr/>
        </p:nvSpPr>
        <p:spPr>
          <a:xfrm>
            <a:off x="6081316" y="2537904"/>
            <a:ext cx="979755" cy="523220"/>
          </a:xfrm>
          <a:prstGeom prst="rect">
            <a:avLst/>
          </a:prstGeom>
          <a:noFill/>
        </p:spPr>
        <p:txBody>
          <a:bodyPr wrap="none" rtlCol="0">
            <a:spAutoFit/>
          </a:bodyPr>
          <a:lstStyle/>
          <a:p>
            <a:pPr algn="ctr"/>
            <a:r>
              <a:rPr lang="nl-BE" sz="2800" dirty="0">
                <a:latin typeface="Barlow Condensed" panose="00000506000000000000" pitchFamily="2" charset="0"/>
              </a:rPr>
              <a:t>TTL 27</a:t>
            </a:r>
          </a:p>
        </p:txBody>
      </p:sp>
      <p:sp>
        <p:nvSpPr>
          <p:cNvPr id="21" name="Tekstvak 31">
            <a:extLst>
              <a:ext uri="{FF2B5EF4-FFF2-40B4-BE49-F238E27FC236}">
                <a16:creationId xmlns:a16="http://schemas.microsoft.com/office/drawing/2014/main" id="{F1065E31-4130-C76B-BD55-10B7AEED486A}"/>
              </a:ext>
            </a:extLst>
          </p:cNvPr>
          <p:cNvSpPr txBox="1"/>
          <p:nvPr/>
        </p:nvSpPr>
        <p:spPr>
          <a:xfrm>
            <a:off x="7083181" y="3377691"/>
            <a:ext cx="995786" cy="523220"/>
          </a:xfrm>
          <a:prstGeom prst="rect">
            <a:avLst/>
          </a:prstGeom>
          <a:noFill/>
        </p:spPr>
        <p:txBody>
          <a:bodyPr wrap="none" rtlCol="0">
            <a:spAutoFit/>
          </a:bodyPr>
          <a:lstStyle/>
          <a:p>
            <a:pPr algn="ctr"/>
            <a:r>
              <a:rPr lang="nl-BE" sz="2800" dirty="0">
                <a:latin typeface="Barlow Condensed" panose="00000506000000000000" pitchFamily="2" charset="0"/>
              </a:rPr>
              <a:t>TTL 26</a:t>
            </a:r>
          </a:p>
        </p:txBody>
      </p:sp>
      <p:sp>
        <p:nvSpPr>
          <p:cNvPr id="22" name="Tekstvak 32">
            <a:extLst>
              <a:ext uri="{FF2B5EF4-FFF2-40B4-BE49-F238E27FC236}">
                <a16:creationId xmlns:a16="http://schemas.microsoft.com/office/drawing/2014/main" id="{7AFE1AE2-11AF-8CA0-1EFB-4ABF6605BF59}"/>
              </a:ext>
            </a:extLst>
          </p:cNvPr>
          <p:cNvSpPr txBox="1"/>
          <p:nvPr/>
        </p:nvSpPr>
        <p:spPr>
          <a:xfrm>
            <a:off x="9031863" y="4006277"/>
            <a:ext cx="995786" cy="523220"/>
          </a:xfrm>
          <a:prstGeom prst="rect">
            <a:avLst/>
          </a:prstGeom>
          <a:noFill/>
        </p:spPr>
        <p:txBody>
          <a:bodyPr wrap="none" rtlCol="0">
            <a:spAutoFit/>
          </a:bodyPr>
          <a:lstStyle/>
          <a:p>
            <a:pPr algn="ctr"/>
            <a:r>
              <a:rPr lang="nl-BE" sz="2800" dirty="0">
                <a:latin typeface="Barlow Condensed" panose="00000506000000000000" pitchFamily="2" charset="0"/>
              </a:rPr>
              <a:t>TTL 25</a:t>
            </a:r>
          </a:p>
        </p:txBody>
      </p:sp>
      <p:pic>
        <p:nvPicPr>
          <p:cNvPr id="2050" name="Picture 2" descr="Package - Download free icons">
            <a:extLst>
              <a:ext uri="{FF2B5EF4-FFF2-40B4-BE49-F238E27FC236}">
                <a16:creationId xmlns:a16="http://schemas.microsoft.com/office/drawing/2014/main" id="{83A2E7EA-25FB-8E7A-5DD0-B629FC3BDF8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38685" y="4655776"/>
            <a:ext cx="934492" cy="934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1845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childTnLst>
                          </p:cTn>
                        </p:par>
                        <p:par>
                          <p:cTn id="47" fill="hold">
                            <p:stCondLst>
                              <p:cond delay="2000"/>
                            </p:stCondLst>
                            <p:childTnLst>
                              <p:par>
                                <p:cTn id="48" presetID="10" presetClass="entr" presetSubtype="0" fill="hold"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childTnLst>
                          </p:cTn>
                        </p:par>
                        <p:par>
                          <p:cTn id="54" fill="hold">
                            <p:stCondLst>
                              <p:cond delay="2500"/>
                            </p:stCondLst>
                            <p:childTnLst>
                              <p:par>
                                <p:cTn id="55" presetID="10" presetClass="entr" presetSubtype="0" fill="hold" nodeType="after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childTnLst>
                          </p:cTn>
                        </p:par>
                        <p:par>
                          <p:cTn id="61" fill="hold">
                            <p:stCondLst>
                              <p:cond delay="3000"/>
                            </p:stCondLst>
                            <p:childTnLst>
                              <p:par>
                                <p:cTn id="62" presetID="10" presetClass="entr" presetSubtype="0" fill="hold" nodeType="after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5CE79-DC4A-F326-CBB1-A572A7487185}"/>
              </a:ext>
            </a:extLst>
          </p:cNvPr>
          <p:cNvSpPr>
            <a:spLocks noGrp="1"/>
          </p:cNvSpPr>
          <p:nvPr>
            <p:ph type="title"/>
          </p:nvPr>
        </p:nvSpPr>
        <p:spPr/>
        <p:txBody>
          <a:bodyPr/>
          <a:lstStyle/>
          <a:p>
            <a:r>
              <a:rPr lang="en-US" dirty="0"/>
              <a:t>IP-</a:t>
            </a:r>
            <a:r>
              <a:rPr lang="en-US" dirty="0" err="1"/>
              <a:t>routering</a:t>
            </a:r>
            <a:endParaRPr lang="LID4096" dirty="0"/>
          </a:p>
        </p:txBody>
      </p:sp>
      <p:sp>
        <p:nvSpPr>
          <p:cNvPr id="3" name="Content Placeholder 2">
            <a:extLst>
              <a:ext uri="{FF2B5EF4-FFF2-40B4-BE49-F238E27FC236}">
                <a16:creationId xmlns:a16="http://schemas.microsoft.com/office/drawing/2014/main" id="{34BF3DA3-99D5-9EA4-306B-08292A85BD68}"/>
              </a:ext>
            </a:extLst>
          </p:cNvPr>
          <p:cNvSpPr>
            <a:spLocks noGrp="1"/>
          </p:cNvSpPr>
          <p:nvPr>
            <p:ph idx="1"/>
          </p:nvPr>
        </p:nvSpPr>
        <p:spPr/>
        <p:txBody>
          <a:bodyPr/>
          <a:lstStyle/>
          <a:p>
            <a:r>
              <a:rPr lang="en-US" dirty="0"/>
              <a:t>Hot Potato</a:t>
            </a:r>
          </a:p>
          <a:p>
            <a:r>
              <a:rPr lang="en-US" dirty="0"/>
              <a:t>Static Routing</a:t>
            </a:r>
          </a:p>
          <a:p>
            <a:r>
              <a:rPr lang="en-US" dirty="0"/>
              <a:t>Dynamic Routing</a:t>
            </a:r>
            <a:endParaRPr lang="LID4096" dirty="0"/>
          </a:p>
        </p:txBody>
      </p:sp>
    </p:spTree>
    <p:extLst>
      <p:ext uri="{BB962C8B-B14F-4D97-AF65-F5344CB8AC3E}">
        <p14:creationId xmlns:p14="http://schemas.microsoft.com/office/powerpoint/2010/main" val="2076460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697BE-1173-04A7-04CF-60451718C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F6527-CF30-C156-E68B-78AE57AF450F}"/>
              </a:ext>
            </a:extLst>
          </p:cNvPr>
          <p:cNvSpPr>
            <a:spLocks noGrp="1"/>
          </p:cNvSpPr>
          <p:nvPr>
            <p:ph type="title"/>
          </p:nvPr>
        </p:nvSpPr>
        <p:spPr/>
        <p:txBody>
          <a:bodyPr/>
          <a:lstStyle/>
          <a:p>
            <a:r>
              <a:rPr lang="en-US" dirty="0"/>
              <a:t>IP-</a:t>
            </a:r>
            <a:r>
              <a:rPr lang="en-US" dirty="0" err="1"/>
              <a:t>routering</a:t>
            </a:r>
            <a:r>
              <a:rPr lang="en-US" dirty="0"/>
              <a:t> – Hot Potato</a:t>
            </a:r>
            <a:endParaRPr lang="LID4096" dirty="0"/>
          </a:p>
        </p:txBody>
      </p:sp>
      <p:pic>
        <p:nvPicPr>
          <p:cNvPr id="4" name="Picture 4" descr="Router Down Clip Art at Clker.com - vector clip art online, royalty free &amp;  public domain">
            <a:extLst>
              <a:ext uri="{FF2B5EF4-FFF2-40B4-BE49-F238E27FC236}">
                <a16:creationId xmlns:a16="http://schemas.microsoft.com/office/drawing/2014/main" id="{D2A0930A-C02F-1708-C851-141059B1FD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91786" y="2410623"/>
            <a:ext cx="1169598" cy="77778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7" descr="http://vignette3.wikia.nocookie.net/gtawiki/images/c/c9/Computer_Icon.png/revision/latest?cb=20100421004434">
            <a:extLst>
              <a:ext uri="{FF2B5EF4-FFF2-40B4-BE49-F238E27FC236}">
                <a16:creationId xmlns:a16="http://schemas.microsoft.com/office/drawing/2014/main" id="{180258AB-3EAA-BCD2-C381-F1DDC63BB30B}"/>
              </a:ext>
            </a:extLst>
          </p:cNvPr>
          <p:cNvPicPr/>
          <p:nvPr/>
        </p:nvPicPr>
        <p:blipFill>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72930" y="3638160"/>
            <a:ext cx="1039663" cy="1017616"/>
          </a:xfrm>
          <a:prstGeom prst="rect">
            <a:avLst/>
          </a:prstGeom>
          <a:noFill/>
          <a:ln>
            <a:noFill/>
          </a:ln>
        </p:spPr>
      </p:pic>
      <p:pic>
        <p:nvPicPr>
          <p:cNvPr id="6" name="Picture 4" descr="Router Down Clip Art at Clker.com - vector clip art online, royalty free &amp;  public domain">
            <a:extLst>
              <a:ext uri="{FF2B5EF4-FFF2-40B4-BE49-F238E27FC236}">
                <a16:creationId xmlns:a16="http://schemas.microsoft.com/office/drawing/2014/main" id="{37C7C5F8-552A-BEED-FA95-7FF43DD0FA9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7116" y="4410542"/>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er Down Clip Art at Clker.com - vector clip art online, royalty free &amp;  public domain">
            <a:extLst>
              <a:ext uri="{FF2B5EF4-FFF2-40B4-BE49-F238E27FC236}">
                <a16:creationId xmlns:a16="http://schemas.microsoft.com/office/drawing/2014/main" id="{7F571FF1-C819-AC0B-9F86-F8DED2794EA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57761" y="3262826"/>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outer Down Clip Art at Clker.com - vector clip art online, royalty free &amp;  public domain">
            <a:extLst>
              <a:ext uri="{FF2B5EF4-FFF2-40B4-BE49-F238E27FC236}">
                <a16:creationId xmlns:a16="http://schemas.microsoft.com/office/drawing/2014/main" id="{9327BADF-CC37-6593-98F7-BCB6570D81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86596" y="2262419"/>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Router Down Clip Art at Clker.com - vector clip art online, royalty free &amp;  public domain">
            <a:extLst>
              <a:ext uri="{FF2B5EF4-FFF2-40B4-BE49-F238E27FC236}">
                <a16:creationId xmlns:a16="http://schemas.microsoft.com/office/drawing/2014/main" id="{1ADD1A2A-E845-87DD-7E64-D3BF521BAE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4148" y="418224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Afbeelding 13">
            <a:extLst>
              <a:ext uri="{FF2B5EF4-FFF2-40B4-BE49-F238E27FC236}">
                <a16:creationId xmlns:a16="http://schemas.microsoft.com/office/drawing/2014/main" id="{CFC2C40F-EFCE-B58C-9105-788399E097E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42134" y="2224096"/>
            <a:ext cx="1928619" cy="1928619"/>
          </a:xfrm>
          <a:prstGeom prst="rect">
            <a:avLst/>
          </a:prstGeom>
        </p:spPr>
      </p:pic>
      <p:cxnSp>
        <p:nvCxnSpPr>
          <p:cNvPr id="11" name="Rechte verbindingslijn 14">
            <a:extLst>
              <a:ext uri="{FF2B5EF4-FFF2-40B4-BE49-F238E27FC236}">
                <a16:creationId xmlns:a16="http://schemas.microsoft.com/office/drawing/2014/main" id="{73E743DD-5662-4143-7F17-B61A9A73D3E6}"/>
              </a:ext>
            </a:extLst>
          </p:cNvPr>
          <p:cNvCxnSpPr/>
          <p:nvPr/>
        </p:nvCxnSpPr>
        <p:spPr>
          <a:xfrm flipV="1">
            <a:off x="2512593" y="3013088"/>
            <a:ext cx="800101" cy="7211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2" name="Rechte verbindingslijn 16">
            <a:extLst>
              <a:ext uri="{FF2B5EF4-FFF2-40B4-BE49-F238E27FC236}">
                <a16:creationId xmlns:a16="http://schemas.microsoft.com/office/drawing/2014/main" id="{DD3ABB12-C6A9-5508-D96E-749BCBFAE220}"/>
              </a:ext>
            </a:extLst>
          </p:cNvPr>
          <p:cNvCxnSpPr/>
          <p:nvPr/>
        </p:nvCxnSpPr>
        <p:spPr>
          <a:xfrm flipH="1" flipV="1">
            <a:off x="3927583" y="3078361"/>
            <a:ext cx="333801" cy="125830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3" name="Rechte verbindingslijn 18">
            <a:extLst>
              <a:ext uri="{FF2B5EF4-FFF2-40B4-BE49-F238E27FC236}">
                <a16:creationId xmlns:a16="http://schemas.microsoft.com/office/drawing/2014/main" id="{F89C4F04-5894-E8DC-C347-76C50B357D73}"/>
              </a:ext>
            </a:extLst>
          </p:cNvPr>
          <p:cNvCxnSpPr/>
          <p:nvPr/>
        </p:nvCxnSpPr>
        <p:spPr>
          <a:xfrm flipV="1">
            <a:off x="4904219" y="3834180"/>
            <a:ext cx="715041" cy="61724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4" name="Rechte verbindingslijn 20">
            <a:extLst>
              <a:ext uri="{FF2B5EF4-FFF2-40B4-BE49-F238E27FC236}">
                <a16:creationId xmlns:a16="http://schemas.microsoft.com/office/drawing/2014/main" id="{A80F3466-61BF-B239-C703-ED5D22BC4B1F}"/>
              </a:ext>
            </a:extLst>
          </p:cNvPr>
          <p:cNvCxnSpPr/>
          <p:nvPr/>
        </p:nvCxnSpPr>
        <p:spPr>
          <a:xfrm flipV="1">
            <a:off x="6488790" y="2824897"/>
            <a:ext cx="894661" cy="4968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5" name="Rechte verbindingslijn 23">
            <a:extLst>
              <a:ext uri="{FF2B5EF4-FFF2-40B4-BE49-F238E27FC236}">
                <a16:creationId xmlns:a16="http://schemas.microsoft.com/office/drawing/2014/main" id="{3874E6DC-AE31-DC31-97DD-A9C3BFC80DA6}"/>
              </a:ext>
            </a:extLst>
          </p:cNvPr>
          <p:cNvCxnSpPr/>
          <p:nvPr/>
        </p:nvCxnSpPr>
        <p:spPr>
          <a:xfrm>
            <a:off x="7955832" y="2936270"/>
            <a:ext cx="140245" cy="120653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6" name="Rechte verbindingslijn 25">
            <a:extLst>
              <a:ext uri="{FF2B5EF4-FFF2-40B4-BE49-F238E27FC236}">
                <a16:creationId xmlns:a16="http://schemas.microsoft.com/office/drawing/2014/main" id="{A9EF958F-ADB5-D762-4597-6385D57E89D4}"/>
              </a:ext>
            </a:extLst>
          </p:cNvPr>
          <p:cNvCxnSpPr/>
          <p:nvPr/>
        </p:nvCxnSpPr>
        <p:spPr>
          <a:xfrm flipH="1">
            <a:off x="8711924" y="3707513"/>
            <a:ext cx="860421" cy="60326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pic>
        <p:nvPicPr>
          <p:cNvPr id="3" name="Picture 2" descr="Package - Download free icons">
            <a:extLst>
              <a:ext uri="{FF2B5EF4-FFF2-40B4-BE49-F238E27FC236}">
                <a16:creationId xmlns:a16="http://schemas.microsoft.com/office/drawing/2014/main" id="{EFC29269-4052-B16C-EA80-4EA551A7141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8101" y="4693964"/>
            <a:ext cx="934492" cy="93449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641D1620-10EC-AED6-D39A-16DE19472D71}"/>
              </a:ext>
            </a:extLst>
          </p:cNvPr>
          <p:cNvSpPr txBox="1"/>
          <p:nvPr/>
        </p:nvSpPr>
        <p:spPr>
          <a:xfrm>
            <a:off x="2617653" y="5455014"/>
            <a:ext cx="5137814" cy="830997"/>
          </a:xfrm>
          <a:prstGeom prst="rect">
            <a:avLst/>
          </a:prstGeom>
          <a:noFill/>
        </p:spPr>
        <p:txBody>
          <a:bodyPr wrap="square" rtlCol="0">
            <a:spAutoFit/>
          </a:bodyPr>
          <a:lstStyle/>
          <a:p>
            <a:r>
              <a:rPr lang="en-US" sz="2400" dirty="0" err="1"/>
              <a:t>Pakket</a:t>
            </a:r>
            <a:r>
              <a:rPr lang="en-US" sz="2400" dirty="0"/>
              <a:t> </a:t>
            </a:r>
            <a:r>
              <a:rPr lang="en-US" sz="2400" dirty="0" err="1"/>
              <a:t>wordt</a:t>
            </a:r>
            <a:r>
              <a:rPr lang="en-US" sz="2400" dirty="0"/>
              <a:t> </a:t>
            </a:r>
            <a:r>
              <a:rPr lang="en-US" sz="2400" dirty="0" err="1"/>
              <a:t>verstuurd</a:t>
            </a:r>
            <a:r>
              <a:rPr lang="en-US" sz="2400" dirty="0"/>
              <a:t> </a:t>
            </a:r>
            <a:r>
              <a:rPr lang="en-US" sz="2400" dirty="0" err="1"/>
              <a:t>naar</a:t>
            </a:r>
            <a:r>
              <a:rPr lang="en-US" sz="2400" dirty="0"/>
              <a:t> router met </a:t>
            </a:r>
            <a:r>
              <a:rPr lang="en-US" sz="2400" dirty="0" err="1"/>
              <a:t>korste</a:t>
            </a:r>
            <a:r>
              <a:rPr lang="en-US" sz="2400" dirty="0"/>
              <a:t> </a:t>
            </a:r>
            <a:r>
              <a:rPr lang="en-US" sz="2400" dirty="0" err="1"/>
              <a:t>wachttijd</a:t>
            </a:r>
            <a:endParaRPr lang="LID4096" sz="2400" dirty="0"/>
          </a:p>
        </p:txBody>
      </p:sp>
    </p:spTree>
    <p:extLst>
      <p:ext uri="{BB962C8B-B14F-4D97-AF65-F5344CB8AC3E}">
        <p14:creationId xmlns:p14="http://schemas.microsoft.com/office/powerpoint/2010/main" val="1553293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C9896-AEAB-A0B6-ADA0-02B584173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1360F-5E01-6594-1D78-DE217D404608}"/>
              </a:ext>
            </a:extLst>
          </p:cNvPr>
          <p:cNvSpPr>
            <a:spLocks noGrp="1"/>
          </p:cNvSpPr>
          <p:nvPr>
            <p:ph type="title"/>
          </p:nvPr>
        </p:nvSpPr>
        <p:spPr/>
        <p:txBody>
          <a:bodyPr/>
          <a:lstStyle/>
          <a:p>
            <a:r>
              <a:rPr lang="en-US" dirty="0"/>
              <a:t>IP-</a:t>
            </a:r>
            <a:r>
              <a:rPr lang="en-US" dirty="0" err="1"/>
              <a:t>routering</a:t>
            </a:r>
            <a:r>
              <a:rPr lang="en-US" dirty="0"/>
              <a:t> – Static Routing</a:t>
            </a:r>
            <a:endParaRPr lang="LID4096" dirty="0"/>
          </a:p>
        </p:txBody>
      </p:sp>
      <p:pic>
        <p:nvPicPr>
          <p:cNvPr id="4" name="Picture 4" descr="Router Down Clip Art at Clker.com - vector clip art online, royalty free &amp;  public domain">
            <a:extLst>
              <a:ext uri="{FF2B5EF4-FFF2-40B4-BE49-F238E27FC236}">
                <a16:creationId xmlns:a16="http://schemas.microsoft.com/office/drawing/2014/main" id="{FA679E94-6241-BDC9-5D3E-80F872AC47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91786" y="2410623"/>
            <a:ext cx="1169598" cy="77778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7" descr="http://vignette3.wikia.nocookie.net/gtawiki/images/c/c9/Computer_Icon.png/revision/latest?cb=20100421004434">
            <a:extLst>
              <a:ext uri="{FF2B5EF4-FFF2-40B4-BE49-F238E27FC236}">
                <a16:creationId xmlns:a16="http://schemas.microsoft.com/office/drawing/2014/main" id="{8ACCDC32-0C21-315B-5011-2322C08ABFE9}"/>
              </a:ext>
            </a:extLst>
          </p:cNvPr>
          <p:cNvPicPr/>
          <p:nvPr/>
        </p:nvPicPr>
        <p:blipFill>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72930" y="3638160"/>
            <a:ext cx="1039663" cy="1017616"/>
          </a:xfrm>
          <a:prstGeom prst="rect">
            <a:avLst/>
          </a:prstGeom>
          <a:noFill/>
          <a:ln>
            <a:noFill/>
          </a:ln>
        </p:spPr>
      </p:pic>
      <p:pic>
        <p:nvPicPr>
          <p:cNvPr id="6" name="Picture 4" descr="Router Down Clip Art at Clker.com - vector clip art online, royalty free &amp;  public domain">
            <a:extLst>
              <a:ext uri="{FF2B5EF4-FFF2-40B4-BE49-F238E27FC236}">
                <a16:creationId xmlns:a16="http://schemas.microsoft.com/office/drawing/2014/main" id="{50E427E5-B570-7311-43B0-395E9325AA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7116" y="4410542"/>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er Down Clip Art at Clker.com - vector clip art online, royalty free &amp;  public domain">
            <a:extLst>
              <a:ext uri="{FF2B5EF4-FFF2-40B4-BE49-F238E27FC236}">
                <a16:creationId xmlns:a16="http://schemas.microsoft.com/office/drawing/2014/main" id="{6AD41AC5-0324-F7B3-7C60-17ABEEF788A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57761" y="3262826"/>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outer Down Clip Art at Clker.com - vector clip art online, royalty free &amp;  public domain">
            <a:extLst>
              <a:ext uri="{FF2B5EF4-FFF2-40B4-BE49-F238E27FC236}">
                <a16:creationId xmlns:a16="http://schemas.microsoft.com/office/drawing/2014/main" id="{ED0EA2E5-11B8-DA0C-9A84-429187ECEF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86596" y="2262419"/>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Router Down Clip Art at Clker.com - vector clip art online, royalty free &amp;  public domain">
            <a:extLst>
              <a:ext uri="{FF2B5EF4-FFF2-40B4-BE49-F238E27FC236}">
                <a16:creationId xmlns:a16="http://schemas.microsoft.com/office/drawing/2014/main" id="{45665D99-CB39-919B-36F4-6D96A6CBF73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4148" y="418224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Afbeelding 13">
            <a:extLst>
              <a:ext uri="{FF2B5EF4-FFF2-40B4-BE49-F238E27FC236}">
                <a16:creationId xmlns:a16="http://schemas.microsoft.com/office/drawing/2014/main" id="{22EDFD48-C43B-4B35-09B6-978615C8E68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42134" y="2224096"/>
            <a:ext cx="1928619" cy="1928619"/>
          </a:xfrm>
          <a:prstGeom prst="rect">
            <a:avLst/>
          </a:prstGeom>
        </p:spPr>
      </p:pic>
      <p:cxnSp>
        <p:nvCxnSpPr>
          <p:cNvPr id="11" name="Rechte verbindingslijn 14">
            <a:extLst>
              <a:ext uri="{FF2B5EF4-FFF2-40B4-BE49-F238E27FC236}">
                <a16:creationId xmlns:a16="http://schemas.microsoft.com/office/drawing/2014/main" id="{B5C2CE6D-6FCE-8718-AB68-812BB7F483B4}"/>
              </a:ext>
            </a:extLst>
          </p:cNvPr>
          <p:cNvCxnSpPr/>
          <p:nvPr/>
        </p:nvCxnSpPr>
        <p:spPr>
          <a:xfrm flipV="1">
            <a:off x="2512593" y="3013088"/>
            <a:ext cx="800101" cy="721113"/>
          </a:xfrm>
          <a:prstGeom prst="line">
            <a:avLst/>
          </a:prstGeom>
          <a:ln w="57150"/>
        </p:spPr>
        <p:style>
          <a:lnRef idx="3">
            <a:schemeClr val="accent6"/>
          </a:lnRef>
          <a:fillRef idx="0">
            <a:schemeClr val="accent6"/>
          </a:fillRef>
          <a:effectRef idx="2">
            <a:schemeClr val="accent6"/>
          </a:effectRef>
          <a:fontRef idx="minor">
            <a:schemeClr val="tx1"/>
          </a:fontRef>
        </p:style>
      </p:cxnSp>
      <p:cxnSp>
        <p:nvCxnSpPr>
          <p:cNvPr id="12" name="Rechte verbindingslijn 16">
            <a:extLst>
              <a:ext uri="{FF2B5EF4-FFF2-40B4-BE49-F238E27FC236}">
                <a16:creationId xmlns:a16="http://schemas.microsoft.com/office/drawing/2014/main" id="{DA75619D-D8EC-D600-CF46-A7AD90586BC1}"/>
              </a:ext>
            </a:extLst>
          </p:cNvPr>
          <p:cNvCxnSpPr/>
          <p:nvPr/>
        </p:nvCxnSpPr>
        <p:spPr>
          <a:xfrm flipH="1" flipV="1">
            <a:off x="3927583" y="3078361"/>
            <a:ext cx="333801" cy="1258305"/>
          </a:xfrm>
          <a:prstGeom prst="line">
            <a:avLst/>
          </a:prstGeom>
          <a:ln w="57150"/>
        </p:spPr>
        <p:style>
          <a:lnRef idx="3">
            <a:schemeClr val="accent6"/>
          </a:lnRef>
          <a:fillRef idx="0">
            <a:schemeClr val="accent6"/>
          </a:fillRef>
          <a:effectRef idx="2">
            <a:schemeClr val="accent6"/>
          </a:effectRef>
          <a:fontRef idx="minor">
            <a:schemeClr val="tx1"/>
          </a:fontRef>
        </p:style>
      </p:cxnSp>
      <p:cxnSp>
        <p:nvCxnSpPr>
          <p:cNvPr id="13" name="Rechte verbindingslijn 18">
            <a:extLst>
              <a:ext uri="{FF2B5EF4-FFF2-40B4-BE49-F238E27FC236}">
                <a16:creationId xmlns:a16="http://schemas.microsoft.com/office/drawing/2014/main" id="{71891B4B-297C-A7EC-588B-FF9ABFE2F677}"/>
              </a:ext>
            </a:extLst>
          </p:cNvPr>
          <p:cNvCxnSpPr/>
          <p:nvPr/>
        </p:nvCxnSpPr>
        <p:spPr>
          <a:xfrm flipV="1">
            <a:off x="4904219" y="3834180"/>
            <a:ext cx="715041" cy="61724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4" name="Rechte verbindingslijn 20">
            <a:extLst>
              <a:ext uri="{FF2B5EF4-FFF2-40B4-BE49-F238E27FC236}">
                <a16:creationId xmlns:a16="http://schemas.microsoft.com/office/drawing/2014/main" id="{2B1129E9-A99A-864D-33EF-6F2215D01889}"/>
              </a:ext>
            </a:extLst>
          </p:cNvPr>
          <p:cNvCxnSpPr/>
          <p:nvPr/>
        </p:nvCxnSpPr>
        <p:spPr>
          <a:xfrm flipV="1">
            <a:off x="6488790" y="2824897"/>
            <a:ext cx="894661" cy="4968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5" name="Rechte verbindingslijn 23">
            <a:extLst>
              <a:ext uri="{FF2B5EF4-FFF2-40B4-BE49-F238E27FC236}">
                <a16:creationId xmlns:a16="http://schemas.microsoft.com/office/drawing/2014/main" id="{969293E3-FBCB-C8A4-CAC5-EE395666B7FF}"/>
              </a:ext>
            </a:extLst>
          </p:cNvPr>
          <p:cNvCxnSpPr/>
          <p:nvPr/>
        </p:nvCxnSpPr>
        <p:spPr>
          <a:xfrm>
            <a:off x="7955832" y="2936270"/>
            <a:ext cx="140245" cy="120653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6" name="Rechte verbindingslijn 25">
            <a:extLst>
              <a:ext uri="{FF2B5EF4-FFF2-40B4-BE49-F238E27FC236}">
                <a16:creationId xmlns:a16="http://schemas.microsoft.com/office/drawing/2014/main" id="{4D957D6D-924F-0665-6733-2304D77E89CE}"/>
              </a:ext>
            </a:extLst>
          </p:cNvPr>
          <p:cNvCxnSpPr/>
          <p:nvPr/>
        </p:nvCxnSpPr>
        <p:spPr>
          <a:xfrm flipH="1">
            <a:off x="8711924" y="3707513"/>
            <a:ext cx="860421" cy="603265"/>
          </a:xfrm>
          <a:prstGeom prst="line">
            <a:avLst/>
          </a:prstGeom>
          <a:ln w="57150"/>
        </p:spPr>
        <p:style>
          <a:lnRef idx="3">
            <a:schemeClr val="accent6"/>
          </a:lnRef>
          <a:fillRef idx="0">
            <a:schemeClr val="accent6"/>
          </a:fillRef>
          <a:effectRef idx="2">
            <a:schemeClr val="accent6"/>
          </a:effectRef>
          <a:fontRef idx="minor">
            <a:schemeClr val="tx1"/>
          </a:fontRef>
        </p:style>
      </p:cxnSp>
      <p:pic>
        <p:nvPicPr>
          <p:cNvPr id="3" name="Picture 2" descr="Package - Download free icons">
            <a:extLst>
              <a:ext uri="{FF2B5EF4-FFF2-40B4-BE49-F238E27FC236}">
                <a16:creationId xmlns:a16="http://schemas.microsoft.com/office/drawing/2014/main" id="{F33CE320-F4F1-7B70-5178-EF0DF65F027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8101" y="4693964"/>
            <a:ext cx="934492" cy="934492"/>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0728DBA8-6131-C257-40BF-23971FECD2D3}"/>
              </a:ext>
            </a:extLst>
          </p:cNvPr>
          <p:cNvSpPr txBox="1"/>
          <p:nvPr/>
        </p:nvSpPr>
        <p:spPr>
          <a:xfrm>
            <a:off x="2617653" y="5455014"/>
            <a:ext cx="5137814" cy="830997"/>
          </a:xfrm>
          <a:prstGeom prst="rect">
            <a:avLst/>
          </a:prstGeom>
          <a:noFill/>
        </p:spPr>
        <p:txBody>
          <a:bodyPr wrap="square" rtlCol="0">
            <a:spAutoFit/>
          </a:bodyPr>
          <a:lstStyle/>
          <a:p>
            <a:r>
              <a:rPr lang="en-US" sz="2400" dirty="0" err="1"/>
              <a:t>Pakket</a:t>
            </a:r>
            <a:r>
              <a:rPr lang="en-US" sz="2400" dirty="0"/>
              <a:t> </a:t>
            </a:r>
            <a:r>
              <a:rPr lang="en-US" sz="2400" dirty="0" err="1"/>
              <a:t>wordt</a:t>
            </a:r>
            <a:r>
              <a:rPr lang="en-US" sz="2400" dirty="0"/>
              <a:t> </a:t>
            </a:r>
            <a:r>
              <a:rPr lang="en-US" sz="2400" dirty="0" err="1"/>
              <a:t>verstuurd</a:t>
            </a:r>
            <a:r>
              <a:rPr lang="en-US" sz="2400" dirty="0"/>
              <a:t> </a:t>
            </a:r>
            <a:r>
              <a:rPr lang="en-US" sz="2400" dirty="0" err="1"/>
              <a:t>naar</a:t>
            </a:r>
            <a:r>
              <a:rPr lang="en-US" sz="2400" dirty="0"/>
              <a:t> router met </a:t>
            </a:r>
            <a:r>
              <a:rPr lang="en-US" sz="2400" dirty="0" err="1"/>
              <a:t>korste</a:t>
            </a:r>
            <a:r>
              <a:rPr lang="en-US" sz="2400" dirty="0"/>
              <a:t> </a:t>
            </a:r>
            <a:r>
              <a:rPr lang="en-US" sz="2400" dirty="0" err="1"/>
              <a:t>wachttijd</a:t>
            </a:r>
            <a:endParaRPr lang="LID4096" sz="2400" dirty="0"/>
          </a:p>
        </p:txBody>
      </p:sp>
      <p:pic>
        <p:nvPicPr>
          <p:cNvPr id="18" name="Picture 4" descr="Router Down Clip Art at Clker.com - vector clip art online, royalty free &amp;  public domain">
            <a:extLst>
              <a:ext uri="{FF2B5EF4-FFF2-40B4-BE49-F238E27FC236}">
                <a16:creationId xmlns:a16="http://schemas.microsoft.com/office/drawing/2014/main" id="{F7E1EFA5-F1E2-C1D7-8843-21E4F11645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88458" y="4585225"/>
            <a:ext cx="1169598" cy="750668"/>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Rechte verbindingslijn 20">
            <a:extLst>
              <a:ext uri="{FF2B5EF4-FFF2-40B4-BE49-F238E27FC236}">
                <a16:creationId xmlns:a16="http://schemas.microsoft.com/office/drawing/2014/main" id="{F052A770-9981-AEBD-BD32-5F38EFA67528}"/>
              </a:ext>
            </a:extLst>
          </p:cNvPr>
          <p:cNvCxnSpPr>
            <a:cxnSpLocks/>
            <a:stCxn id="18" idx="3"/>
            <a:endCxn id="9" idx="1"/>
          </p:cNvCxnSpPr>
          <p:nvPr/>
        </p:nvCxnSpPr>
        <p:spPr>
          <a:xfrm flipV="1">
            <a:off x="6858056" y="4557574"/>
            <a:ext cx="756092" cy="402985"/>
          </a:xfrm>
          <a:prstGeom prst="line">
            <a:avLst/>
          </a:prstGeom>
          <a:ln w="57150"/>
        </p:spPr>
        <p:style>
          <a:lnRef idx="3">
            <a:schemeClr val="accent6"/>
          </a:lnRef>
          <a:fillRef idx="0">
            <a:schemeClr val="accent6"/>
          </a:fillRef>
          <a:effectRef idx="2">
            <a:schemeClr val="accent6"/>
          </a:effectRef>
          <a:fontRef idx="minor">
            <a:schemeClr val="tx1"/>
          </a:fontRef>
        </p:style>
      </p:cxnSp>
      <p:cxnSp>
        <p:nvCxnSpPr>
          <p:cNvPr id="22" name="Rechte verbindingslijn 20">
            <a:extLst>
              <a:ext uri="{FF2B5EF4-FFF2-40B4-BE49-F238E27FC236}">
                <a16:creationId xmlns:a16="http://schemas.microsoft.com/office/drawing/2014/main" id="{1EE4A3D3-6FE9-64C2-227B-6728619E275E}"/>
              </a:ext>
            </a:extLst>
          </p:cNvPr>
          <p:cNvCxnSpPr>
            <a:cxnSpLocks/>
            <a:stCxn id="18" idx="1"/>
            <a:endCxn id="6" idx="3"/>
          </p:cNvCxnSpPr>
          <p:nvPr/>
        </p:nvCxnSpPr>
        <p:spPr>
          <a:xfrm flipH="1" flipV="1">
            <a:off x="4996714" y="4785876"/>
            <a:ext cx="691744" cy="174683"/>
          </a:xfrm>
          <a:prstGeom prst="line">
            <a:avLst/>
          </a:prstGeom>
          <a:ln w="57150"/>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161369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A4019-C08E-AFC4-3862-6431E4915D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AD78A-62EF-465F-F6D7-91AFC5BAD663}"/>
              </a:ext>
            </a:extLst>
          </p:cNvPr>
          <p:cNvSpPr>
            <a:spLocks noGrp="1"/>
          </p:cNvSpPr>
          <p:nvPr>
            <p:ph type="title"/>
          </p:nvPr>
        </p:nvSpPr>
        <p:spPr/>
        <p:txBody>
          <a:bodyPr/>
          <a:lstStyle/>
          <a:p>
            <a:r>
              <a:rPr lang="en-US" dirty="0"/>
              <a:t>IP-</a:t>
            </a:r>
            <a:r>
              <a:rPr lang="en-US" dirty="0" err="1"/>
              <a:t>routering</a:t>
            </a:r>
            <a:r>
              <a:rPr lang="en-US" dirty="0"/>
              <a:t> – Static Routing</a:t>
            </a:r>
            <a:endParaRPr lang="LID4096" dirty="0"/>
          </a:p>
        </p:txBody>
      </p:sp>
      <p:pic>
        <p:nvPicPr>
          <p:cNvPr id="4" name="Picture 4" descr="Router Down Clip Art at Clker.com - vector clip art online, royalty free &amp;  public domain">
            <a:extLst>
              <a:ext uri="{FF2B5EF4-FFF2-40B4-BE49-F238E27FC236}">
                <a16:creationId xmlns:a16="http://schemas.microsoft.com/office/drawing/2014/main" id="{86AFF8D1-A104-0309-9CA2-FB302F73415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1786" y="2410623"/>
            <a:ext cx="1169598" cy="77778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7" descr="http://vignette3.wikia.nocookie.net/gtawiki/images/c/c9/Computer_Icon.png/revision/latest?cb=20100421004434">
            <a:extLst>
              <a:ext uri="{FF2B5EF4-FFF2-40B4-BE49-F238E27FC236}">
                <a16:creationId xmlns:a16="http://schemas.microsoft.com/office/drawing/2014/main" id="{EB518926-2240-DAC9-188D-10EC70F50AE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72930" y="3638160"/>
            <a:ext cx="1039663" cy="1017616"/>
          </a:xfrm>
          <a:prstGeom prst="rect">
            <a:avLst/>
          </a:prstGeom>
          <a:noFill/>
          <a:ln>
            <a:noFill/>
          </a:ln>
        </p:spPr>
      </p:pic>
      <p:pic>
        <p:nvPicPr>
          <p:cNvPr id="6" name="Picture 4" descr="Router Down Clip Art at Clker.com - vector clip art online, royalty free &amp;  public domain">
            <a:extLst>
              <a:ext uri="{FF2B5EF4-FFF2-40B4-BE49-F238E27FC236}">
                <a16:creationId xmlns:a16="http://schemas.microsoft.com/office/drawing/2014/main" id="{5CF6AAD5-A9EA-D640-4048-1A56972DF7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7116" y="4410542"/>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er Down Clip Art at Clker.com - vector clip art online, royalty free &amp;  public domain">
            <a:extLst>
              <a:ext uri="{FF2B5EF4-FFF2-40B4-BE49-F238E27FC236}">
                <a16:creationId xmlns:a16="http://schemas.microsoft.com/office/drawing/2014/main" id="{F02931D6-05D6-8EF6-91FE-9435F49ECD7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57761" y="3262826"/>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outer Down Clip Art at Clker.com - vector clip art online, royalty free &amp;  public domain">
            <a:extLst>
              <a:ext uri="{FF2B5EF4-FFF2-40B4-BE49-F238E27FC236}">
                <a16:creationId xmlns:a16="http://schemas.microsoft.com/office/drawing/2014/main" id="{5C1C1983-0C7B-0335-1296-C3390166E2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6596" y="2262419"/>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Router Down Clip Art at Clker.com - vector clip art online, royalty free &amp;  public domain">
            <a:extLst>
              <a:ext uri="{FF2B5EF4-FFF2-40B4-BE49-F238E27FC236}">
                <a16:creationId xmlns:a16="http://schemas.microsoft.com/office/drawing/2014/main" id="{1CD31459-908A-5AC5-C000-9F0535EFEEB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14148" y="418224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Afbeelding 13">
            <a:extLst>
              <a:ext uri="{FF2B5EF4-FFF2-40B4-BE49-F238E27FC236}">
                <a16:creationId xmlns:a16="http://schemas.microsoft.com/office/drawing/2014/main" id="{08D751D4-7A30-D743-8AA3-72991117F0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42134" y="2224096"/>
            <a:ext cx="1928619" cy="1928619"/>
          </a:xfrm>
          <a:prstGeom prst="rect">
            <a:avLst/>
          </a:prstGeom>
        </p:spPr>
      </p:pic>
      <p:cxnSp>
        <p:nvCxnSpPr>
          <p:cNvPr id="11" name="Rechte verbindingslijn 14">
            <a:extLst>
              <a:ext uri="{FF2B5EF4-FFF2-40B4-BE49-F238E27FC236}">
                <a16:creationId xmlns:a16="http://schemas.microsoft.com/office/drawing/2014/main" id="{2CADFEA4-EBC7-5AB4-46F1-9C5F83321621}"/>
              </a:ext>
            </a:extLst>
          </p:cNvPr>
          <p:cNvCxnSpPr/>
          <p:nvPr/>
        </p:nvCxnSpPr>
        <p:spPr>
          <a:xfrm flipV="1">
            <a:off x="2512593" y="3013088"/>
            <a:ext cx="800101" cy="721113"/>
          </a:xfrm>
          <a:prstGeom prst="line">
            <a:avLst/>
          </a:prstGeom>
          <a:ln w="57150"/>
        </p:spPr>
        <p:style>
          <a:lnRef idx="3">
            <a:schemeClr val="accent6"/>
          </a:lnRef>
          <a:fillRef idx="0">
            <a:schemeClr val="accent6"/>
          </a:fillRef>
          <a:effectRef idx="2">
            <a:schemeClr val="accent6"/>
          </a:effectRef>
          <a:fontRef idx="minor">
            <a:schemeClr val="tx1"/>
          </a:fontRef>
        </p:style>
      </p:cxnSp>
      <p:cxnSp>
        <p:nvCxnSpPr>
          <p:cNvPr id="12" name="Rechte verbindingslijn 16">
            <a:extLst>
              <a:ext uri="{FF2B5EF4-FFF2-40B4-BE49-F238E27FC236}">
                <a16:creationId xmlns:a16="http://schemas.microsoft.com/office/drawing/2014/main" id="{281B5E48-ED75-4796-9C59-215F9E45B3B2}"/>
              </a:ext>
            </a:extLst>
          </p:cNvPr>
          <p:cNvCxnSpPr/>
          <p:nvPr/>
        </p:nvCxnSpPr>
        <p:spPr>
          <a:xfrm flipH="1" flipV="1">
            <a:off x="3927583" y="3078361"/>
            <a:ext cx="333801" cy="1258305"/>
          </a:xfrm>
          <a:prstGeom prst="line">
            <a:avLst/>
          </a:prstGeom>
          <a:ln w="57150"/>
        </p:spPr>
        <p:style>
          <a:lnRef idx="3">
            <a:schemeClr val="accent6"/>
          </a:lnRef>
          <a:fillRef idx="0">
            <a:schemeClr val="accent6"/>
          </a:fillRef>
          <a:effectRef idx="2">
            <a:schemeClr val="accent6"/>
          </a:effectRef>
          <a:fontRef idx="minor">
            <a:schemeClr val="tx1"/>
          </a:fontRef>
        </p:style>
      </p:cxnSp>
      <p:cxnSp>
        <p:nvCxnSpPr>
          <p:cNvPr id="13" name="Rechte verbindingslijn 18">
            <a:extLst>
              <a:ext uri="{FF2B5EF4-FFF2-40B4-BE49-F238E27FC236}">
                <a16:creationId xmlns:a16="http://schemas.microsoft.com/office/drawing/2014/main" id="{75ABE88B-43A2-F9CB-66E8-76E8DCD7D13D}"/>
              </a:ext>
            </a:extLst>
          </p:cNvPr>
          <p:cNvCxnSpPr/>
          <p:nvPr/>
        </p:nvCxnSpPr>
        <p:spPr>
          <a:xfrm flipV="1">
            <a:off x="4904219" y="3834180"/>
            <a:ext cx="715041" cy="61724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4" name="Rechte verbindingslijn 20">
            <a:extLst>
              <a:ext uri="{FF2B5EF4-FFF2-40B4-BE49-F238E27FC236}">
                <a16:creationId xmlns:a16="http://schemas.microsoft.com/office/drawing/2014/main" id="{25A36159-8FE2-F2BC-D4A2-10901BBEC5BE}"/>
              </a:ext>
            </a:extLst>
          </p:cNvPr>
          <p:cNvCxnSpPr/>
          <p:nvPr/>
        </p:nvCxnSpPr>
        <p:spPr>
          <a:xfrm flipV="1">
            <a:off x="6488790" y="2824897"/>
            <a:ext cx="894661" cy="4968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5" name="Rechte verbindingslijn 23">
            <a:extLst>
              <a:ext uri="{FF2B5EF4-FFF2-40B4-BE49-F238E27FC236}">
                <a16:creationId xmlns:a16="http://schemas.microsoft.com/office/drawing/2014/main" id="{7067E099-A88A-39DA-0560-8B54318C10A0}"/>
              </a:ext>
            </a:extLst>
          </p:cNvPr>
          <p:cNvCxnSpPr/>
          <p:nvPr/>
        </p:nvCxnSpPr>
        <p:spPr>
          <a:xfrm>
            <a:off x="7955832" y="2936270"/>
            <a:ext cx="140245" cy="120653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6" name="Rechte verbindingslijn 25">
            <a:extLst>
              <a:ext uri="{FF2B5EF4-FFF2-40B4-BE49-F238E27FC236}">
                <a16:creationId xmlns:a16="http://schemas.microsoft.com/office/drawing/2014/main" id="{C5A12ED0-B2F0-DBE2-0520-6EF67389657E}"/>
              </a:ext>
            </a:extLst>
          </p:cNvPr>
          <p:cNvCxnSpPr/>
          <p:nvPr/>
        </p:nvCxnSpPr>
        <p:spPr>
          <a:xfrm flipH="1">
            <a:off x="8711924" y="3707513"/>
            <a:ext cx="860421" cy="603265"/>
          </a:xfrm>
          <a:prstGeom prst="line">
            <a:avLst/>
          </a:prstGeom>
          <a:ln w="57150"/>
        </p:spPr>
        <p:style>
          <a:lnRef idx="3">
            <a:schemeClr val="accent6"/>
          </a:lnRef>
          <a:fillRef idx="0">
            <a:schemeClr val="accent6"/>
          </a:fillRef>
          <a:effectRef idx="2">
            <a:schemeClr val="accent6"/>
          </a:effectRef>
          <a:fontRef idx="minor">
            <a:schemeClr val="tx1"/>
          </a:fontRef>
        </p:style>
      </p:cxnSp>
      <p:pic>
        <p:nvPicPr>
          <p:cNvPr id="3" name="Picture 2" descr="Package - Download free icons">
            <a:extLst>
              <a:ext uri="{FF2B5EF4-FFF2-40B4-BE49-F238E27FC236}">
                <a16:creationId xmlns:a16="http://schemas.microsoft.com/office/drawing/2014/main" id="{3C316EAB-D0F8-B89B-55CD-35C6BD2686E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78101" y="4693964"/>
            <a:ext cx="934492" cy="934492"/>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38085C19-CD9F-C14E-28F7-882CF874968E}"/>
              </a:ext>
            </a:extLst>
          </p:cNvPr>
          <p:cNvSpPr txBox="1"/>
          <p:nvPr/>
        </p:nvSpPr>
        <p:spPr>
          <a:xfrm>
            <a:off x="2617653" y="5455014"/>
            <a:ext cx="5137814" cy="461665"/>
          </a:xfrm>
          <a:prstGeom prst="rect">
            <a:avLst/>
          </a:prstGeom>
          <a:noFill/>
        </p:spPr>
        <p:txBody>
          <a:bodyPr wrap="square" rtlCol="0">
            <a:spAutoFit/>
          </a:bodyPr>
          <a:lstStyle/>
          <a:p>
            <a:r>
              <a:rPr lang="en-US" sz="2400" dirty="0"/>
              <a:t>Router </a:t>
            </a:r>
            <a:r>
              <a:rPr lang="en-US" sz="2400" dirty="0" err="1"/>
              <a:t>valt</a:t>
            </a:r>
            <a:r>
              <a:rPr lang="en-US" sz="2400" dirty="0"/>
              <a:t> </a:t>
            </a:r>
            <a:r>
              <a:rPr lang="en-US" sz="2400" dirty="0" err="1"/>
              <a:t>weg</a:t>
            </a:r>
            <a:r>
              <a:rPr lang="en-US" sz="2400" dirty="0"/>
              <a:t>?</a:t>
            </a:r>
            <a:endParaRPr lang="LID4096" sz="2400" dirty="0"/>
          </a:p>
        </p:txBody>
      </p:sp>
      <p:cxnSp>
        <p:nvCxnSpPr>
          <p:cNvPr id="19" name="Rechte verbindingslijn 20">
            <a:extLst>
              <a:ext uri="{FF2B5EF4-FFF2-40B4-BE49-F238E27FC236}">
                <a16:creationId xmlns:a16="http://schemas.microsoft.com/office/drawing/2014/main" id="{70513957-8AA0-FB11-32DE-47B55CE5D14E}"/>
              </a:ext>
            </a:extLst>
          </p:cNvPr>
          <p:cNvCxnSpPr>
            <a:cxnSpLocks/>
            <a:endCxn id="9" idx="1"/>
          </p:cNvCxnSpPr>
          <p:nvPr/>
        </p:nvCxnSpPr>
        <p:spPr>
          <a:xfrm flipV="1">
            <a:off x="6858056" y="4557574"/>
            <a:ext cx="756092" cy="402985"/>
          </a:xfrm>
          <a:prstGeom prst="line">
            <a:avLst/>
          </a:prstGeom>
          <a:ln w="57150"/>
        </p:spPr>
        <p:style>
          <a:lnRef idx="3">
            <a:schemeClr val="accent6"/>
          </a:lnRef>
          <a:fillRef idx="0">
            <a:schemeClr val="accent6"/>
          </a:fillRef>
          <a:effectRef idx="2">
            <a:schemeClr val="accent6"/>
          </a:effectRef>
          <a:fontRef idx="minor">
            <a:schemeClr val="tx1"/>
          </a:fontRef>
        </p:style>
      </p:cxnSp>
      <p:cxnSp>
        <p:nvCxnSpPr>
          <p:cNvPr id="22" name="Rechte verbindingslijn 20">
            <a:extLst>
              <a:ext uri="{FF2B5EF4-FFF2-40B4-BE49-F238E27FC236}">
                <a16:creationId xmlns:a16="http://schemas.microsoft.com/office/drawing/2014/main" id="{C5FAC3B0-8C74-C2D1-7E63-4257D6481AA4}"/>
              </a:ext>
            </a:extLst>
          </p:cNvPr>
          <p:cNvCxnSpPr>
            <a:cxnSpLocks/>
            <a:endCxn id="6" idx="3"/>
          </p:cNvCxnSpPr>
          <p:nvPr/>
        </p:nvCxnSpPr>
        <p:spPr>
          <a:xfrm flipH="1" flipV="1">
            <a:off x="4996714" y="4785876"/>
            <a:ext cx="691744" cy="174683"/>
          </a:xfrm>
          <a:prstGeom prst="line">
            <a:avLst/>
          </a:prstGeom>
          <a:ln w="57150"/>
        </p:spPr>
        <p:style>
          <a:lnRef idx="3">
            <a:schemeClr val="accent6"/>
          </a:lnRef>
          <a:fillRef idx="0">
            <a:schemeClr val="accent6"/>
          </a:fillRef>
          <a:effectRef idx="2">
            <a:schemeClr val="accent6"/>
          </a:effectRef>
          <a:fontRef idx="minor">
            <a:schemeClr val="tx1"/>
          </a:fontRef>
        </p:style>
      </p:cxnSp>
      <p:sp>
        <p:nvSpPr>
          <p:cNvPr id="20" name="TextBox 19">
            <a:extLst>
              <a:ext uri="{FF2B5EF4-FFF2-40B4-BE49-F238E27FC236}">
                <a16:creationId xmlns:a16="http://schemas.microsoft.com/office/drawing/2014/main" id="{82E74434-0419-AC81-D079-65E67C5F0E68}"/>
              </a:ext>
            </a:extLst>
          </p:cNvPr>
          <p:cNvSpPr txBox="1"/>
          <p:nvPr/>
        </p:nvSpPr>
        <p:spPr>
          <a:xfrm>
            <a:off x="6021544" y="4550992"/>
            <a:ext cx="934492" cy="1015663"/>
          </a:xfrm>
          <a:prstGeom prst="rect">
            <a:avLst/>
          </a:prstGeom>
          <a:noFill/>
        </p:spPr>
        <p:txBody>
          <a:bodyPr wrap="square" rtlCol="0">
            <a:spAutoFit/>
          </a:bodyPr>
          <a:lstStyle/>
          <a:p>
            <a:r>
              <a:rPr lang="en-US" sz="6000" dirty="0"/>
              <a:t>?</a:t>
            </a:r>
            <a:endParaRPr lang="LID4096" dirty="0"/>
          </a:p>
        </p:txBody>
      </p:sp>
    </p:spTree>
    <p:extLst>
      <p:ext uri="{BB962C8B-B14F-4D97-AF65-F5344CB8AC3E}">
        <p14:creationId xmlns:p14="http://schemas.microsoft.com/office/powerpoint/2010/main" val="1187611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C07B7-2DAA-EF65-97E9-556427FCF9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8FA36F-9071-8DE5-5C20-07A732A4961A}"/>
              </a:ext>
            </a:extLst>
          </p:cNvPr>
          <p:cNvSpPr>
            <a:spLocks noGrp="1"/>
          </p:cNvSpPr>
          <p:nvPr>
            <p:ph type="title"/>
          </p:nvPr>
        </p:nvSpPr>
        <p:spPr/>
        <p:txBody>
          <a:bodyPr/>
          <a:lstStyle/>
          <a:p>
            <a:r>
              <a:rPr lang="en-US" dirty="0"/>
              <a:t>IP-</a:t>
            </a:r>
            <a:r>
              <a:rPr lang="en-US" dirty="0" err="1"/>
              <a:t>routering</a:t>
            </a:r>
            <a:r>
              <a:rPr lang="en-US" dirty="0"/>
              <a:t> – Dynamic routing</a:t>
            </a:r>
            <a:endParaRPr lang="LID4096" dirty="0"/>
          </a:p>
        </p:txBody>
      </p:sp>
      <p:pic>
        <p:nvPicPr>
          <p:cNvPr id="4" name="Picture 4" descr="Router Down Clip Art at Clker.com - vector clip art online, royalty free &amp;  public domain">
            <a:extLst>
              <a:ext uri="{FF2B5EF4-FFF2-40B4-BE49-F238E27FC236}">
                <a16:creationId xmlns:a16="http://schemas.microsoft.com/office/drawing/2014/main" id="{DFD05560-A187-1C29-99A6-C666C45744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91786" y="2410623"/>
            <a:ext cx="1169598" cy="77778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7" descr="http://vignette3.wikia.nocookie.net/gtawiki/images/c/c9/Computer_Icon.png/revision/latest?cb=20100421004434">
            <a:extLst>
              <a:ext uri="{FF2B5EF4-FFF2-40B4-BE49-F238E27FC236}">
                <a16:creationId xmlns:a16="http://schemas.microsoft.com/office/drawing/2014/main" id="{F8B17E08-53F5-58D7-FB77-588AB7B1B9FD}"/>
              </a:ext>
            </a:extLst>
          </p:cNvPr>
          <p:cNvPicPr/>
          <p:nvPr/>
        </p:nvPicPr>
        <p:blipFill>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72930" y="3638160"/>
            <a:ext cx="1039663" cy="1017616"/>
          </a:xfrm>
          <a:prstGeom prst="rect">
            <a:avLst/>
          </a:prstGeom>
          <a:noFill/>
          <a:ln>
            <a:noFill/>
          </a:ln>
        </p:spPr>
      </p:pic>
      <p:pic>
        <p:nvPicPr>
          <p:cNvPr id="6" name="Picture 4" descr="Router Down Clip Art at Clker.com - vector clip art online, royalty free &amp;  public domain">
            <a:extLst>
              <a:ext uri="{FF2B5EF4-FFF2-40B4-BE49-F238E27FC236}">
                <a16:creationId xmlns:a16="http://schemas.microsoft.com/office/drawing/2014/main" id="{E85D09D0-0071-C610-D515-CAFE3E3A818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7116" y="4410542"/>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er Down Clip Art at Clker.com - vector clip art online, royalty free &amp;  public domain">
            <a:extLst>
              <a:ext uri="{FF2B5EF4-FFF2-40B4-BE49-F238E27FC236}">
                <a16:creationId xmlns:a16="http://schemas.microsoft.com/office/drawing/2014/main" id="{837685FC-3534-09AC-768A-AEB74AD4C8D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57761" y="3262826"/>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outer Down Clip Art at Clker.com - vector clip art online, royalty free &amp;  public domain">
            <a:extLst>
              <a:ext uri="{FF2B5EF4-FFF2-40B4-BE49-F238E27FC236}">
                <a16:creationId xmlns:a16="http://schemas.microsoft.com/office/drawing/2014/main" id="{A4AFDEBE-BAAD-2533-AD73-8B39372F78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86596" y="2262419"/>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Router Down Clip Art at Clker.com - vector clip art online, royalty free &amp;  public domain">
            <a:extLst>
              <a:ext uri="{FF2B5EF4-FFF2-40B4-BE49-F238E27FC236}">
                <a16:creationId xmlns:a16="http://schemas.microsoft.com/office/drawing/2014/main" id="{B9E2C74B-267A-0221-79FC-EB14313B7B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4148" y="418224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Afbeelding 13">
            <a:extLst>
              <a:ext uri="{FF2B5EF4-FFF2-40B4-BE49-F238E27FC236}">
                <a16:creationId xmlns:a16="http://schemas.microsoft.com/office/drawing/2014/main" id="{7C15E60B-3D5D-0306-C473-ED7C040332C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42134" y="2224096"/>
            <a:ext cx="1928619" cy="1928619"/>
          </a:xfrm>
          <a:prstGeom prst="rect">
            <a:avLst/>
          </a:prstGeom>
        </p:spPr>
      </p:pic>
      <p:cxnSp>
        <p:nvCxnSpPr>
          <p:cNvPr id="11" name="Rechte verbindingslijn 14">
            <a:extLst>
              <a:ext uri="{FF2B5EF4-FFF2-40B4-BE49-F238E27FC236}">
                <a16:creationId xmlns:a16="http://schemas.microsoft.com/office/drawing/2014/main" id="{EF1AF058-25C7-FC7C-7CD1-B2DF8E5C366D}"/>
              </a:ext>
            </a:extLst>
          </p:cNvPr>
          <p:cNvCxnSpPr/>
          <p:nvPr/>
        </p:nvCxnSpPr>
        <p:spPr>
          <a:xfrm flipV="1">
            <a:off x="2512593" y="3013088"/>
            <a:ext cx="800101" cy="7211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2" name="Rechte verbindingslijn 16">
            <a:extLst>
              <a:ext uri="{FF2B5EF4-FFF2-40B4-BE49-F238E27FC236}">
                <a16:creationId xmlns:a16="http://schemas.microsoft.com/office/drawing/2014/main" id="{A4DDEE85-C066-D266-A5EE-07E92789311E}"/>
              </a:ext>
            </a:extLst>
          </p:cNvPr>
          <p:cNvCxnSpPr/>
          <p:nvPr/>
        </p:nvCxnSpPr>
        <p:spPr>
          <a:xfrm flipH="1" flipV="1">
            <a:off x="3927583" y="3078361"/>
            <a:ext cx="333801" cy="125830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3" name="Rechte verbindingslijn 18">
            <a:extLst>
              <a:ext uri="{FF2B5EF4-FFF2-40B4-BE49-F238E27FC236}">
                <a16:creationId xmlns:a16="http://schemas.microsoft.com/office/drawing/2014/main" id="{5AA743E0-4B60-FB3A-F8B4-32D283E667BE}"/>
              </a:ext>
            </a:extLst>
          </p:cNvPr>
          <p:cNvCxnSpPr/>
          <p:nvPr/>
        </p:nvCxnSpPr>
        <p:spPr>
          <a:xfrm flipV="1">
            <a:off x="4904219" y="3834180"/>
            <a:ext cx="715041" cy="61724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4" name="Rechte verbindingslijn 20">
            <a:extLst>
              <a:ext uri="{FF2B5EF4-FFF2-40B4-BE49-F238E27FC236}">
                <a16:creationId xmlns:a16="http://schemas.microsoft.com/office/drawing/2014/main" id="{798EF403-0CD5-808E-4951-C5C5FD1F3BB4}"/>
              </a:ext>
            </a:extLst>
          </p:cNvPr>
          <p:cNvCxnSpPr/>
          <p:nvPr/>
        </p:nvCxnSpPr>
        <p:spPr>
          <a:xfrm flipV="1">
            <a:off x="6488790" y="2824897"/>
            <a:ext cx="894661" cy="4968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5" name="Rechte verbindingslijn 23">
            <a:extLst>
              <a:ext uri="{FF2B5EF4-FFF2-40B4-BE49-F238E27FC236}">
                <a16:creationId xmlns:a16="http://schemas.microsoft.com/office/drawing/2014/main" id="{482A48A1-B6B1-E650-A269-02FE61B43A4E}"/>
              </a:ext>
            </a:extLst>
          </p:cNvPr>
          <p:cNvCxnSpPr/>
          <p:nvPr/>
        </p:nvCxnSpPr>
        <p:spPr>
          <a:xfrm>
            <a:off x="7955832" y="2936270"/>
            <a:ext cx="140245" cy="120653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6" name="Rechte verbindingslijn 25">
            <a:extLst>
              <a:ext uri="{FF2B5EF4-FFF2-40B4-BE49-F238E27FC236}">
                <a16:creationId xmlns:a16="http://schemas.microsoft.com/office/drawing/2014/main" id="{5710581C-B2AE-ADE9-FC5F-B9D50EFEE01A}"/>
              </a:ext>
            </a:extLst>
          </p:cNvPr>
          <p:cNvCxnSpPr/>
          <p:nvPr/>
        </p:nvCxnSpPr>
        <p:spPr>
          <a:xfrm flipH="1">
            <a:off x="8711924" y="3707513"/>
            <a:ext cx="860421" cy="60326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pic>
        <p:nvPicPr>
          <p:cNvPr id="3" name="Picture 2" descr="Package - Download free icons">
            <a:extLst>
              <a:ext uri="{FF2B5EF4-FFF2-40B4-BE49-F238E27FC236}">
                <a16:creationId xmlns:a16="http://schemas.microsoft.com/office/drawing/2014/main" id="{DA1A95ED-F0FF-8857-228F-FF38DDA875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8101" y="4693964"/>
            <a:ext cx="934492" cy="93449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B45F5DBA-C28B-BFE0-ED59-F0F54CEC8AB4}"/>
              </a:ext>
            </a:extLst>
          </p:cNvPr>
          <p:cNvSpPr txBox="1"/>
          <p:nvPr/>
        </p:nvSpPr>
        <p:spPr>
          <a:xfrm>
            <a:off x="2617653" y="5455014"/>
            <a:ext cx="5137814" cy="830997"/>
          </a:xfrm>
          <a:prstGeom prst="rect">
            <a:avLst/>
          </a:prstGeom>
          <a:noFill/>
        </p:spPr>
        <p:txBody>
          <a:bodyPr wrap="square" rtlCol="0">
            <a:spAutoFit/>
          </a:bodyPr>
          <a:lstStyle/>
          <a:p>
            <a:r>
              <a:rPr lang="en-US" sz="2400" dirty="0" err="1"/>
              <a:t>Pakket</a:t>
            </a:r>
            <a:r>
              <a:rPr lang="en-US" sz="2400" dirty="0"/>
              <a:t> </a:t>
            </a:r>
            <a:r>
              <a:rPr lang="en-US" sz="2400" dirty="0" err="1"/>
              <a:t>bepaalt</a:t>
            </a:r>
            <a:r>
              <a:rPr lang="en-US" sz="2400" dirty="0"/>
              <a:t> </a:t>
            </a:r>
            <a:r>
              <a:rPr lang="en-US" sz="2400" dirty="0" err="1"/>
              <a:t>meest</a:t>
            </a:r>
            <a:r>
              <a:rPr lang="en-US" sz="2400" dirty="0"/>
              <a:t> </a:t>
            </a:r>
            <a:r>
              <a:rPr lang="en-US" sz="2400" dirty="0" err="1"/>
              <a:t>efficiënte</a:t>
            </a:r>
            <a:r>
              <a:rPr lang="en-US" sz="2400" dirty="0"/>
              <a:t> pad op basis van data van </a:t>
            </a:r>
            <a:r>
              <a:rPr lang="en-US" sz="2400" dirty="0" err="1"/>
              <a:t>huidige</a:t>
            </a:r>
            <a:r>
              <a:rPr lang="en-US" sz="2400" dirty="0"/>
              <a:t> router</a:t>
            </a:r>
            <a:endParaRPr lang="LID4096" sz="2400" dirty="0"/>
          </a:p>
        </p:txBody>
      </p:sp>
      <p:pic>
        <p:nvPicPr>
          <p:cNvPr id="17" name="Picture 4" descr="Router Down Clip Art at Clker.com - vector clip art online, royalty free &amp;  public domain">
            <a:extLst>
              <a:ext uri="{FF2B5EF4-FFF2-40B4-BE49-F238E27FC236}">
                <a16:creationId xmlns:a16="http://schemas.microsoft.com/office/drawing/2014/main" id="{607AC2B5-1B0E-1C95-5CA1-5B8F077FB32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0632" y="4641751"/>
            <a:ext cx="1169598" cy="750668"/>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Rechte verbindingslijn 18">
            <a:extLst>
              <a:ext uri="{FF2B5EF4-FFF2-40B4-BE49-F238E27FC236}">
                <a16:creationId xmlns:a16="http://schemas.microsoft.com/office/drawing/2014/main" id="{5A48C0DF-FE52-3C55-1E2E-CF36615D2703}"/>
              </a:ext>
            </a:extLst>
          </p:cNvPr>
          <p:cNvCxnSpPr>
            <a:cxnSpLocks/>
            <a:stCxn id="6" idx="3"/>
            <a:endCxn id="17" idx="1"/>
          </p:cNvCxnSpPr>
          <p:nvPr/>
        </p:nvCxnSpPr>
        <p:spPr>
          <a:xfrm>
            <a:off x="4996714" y="4785876"/>
            <a:ext cx="723918" cy="231209"/>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21" name="Rechte verbindingslijn 18">
            <a:extLst>
              <a:ext uri="{FF2B5EF4-FFF2-40B4-BE49-F238E27FC236}">
                <a16:creationId xmlns:a16="http://schemas.microsoft.com/office/drawing/2014/main" id="{05F3C3A2-4354-1292-79E4-FF0C7A80D2FE}"/>
              </a:ext>
            </a:extLst>
          </p:cNvPr>
          <p:cNvCxnSpPr>
            <a:cxnSpLocks/>
            <a:stCxn id="17" idx="3"/>
            <a:endCxn id="9" idx="1"/>
          </p:cNvCxnSpPr>
          <p:nvPr/>
        </p:nvCxnSpPr>
        <p:spPr>
          <a:xfrm flipV="1">
            <a:off x="6890230" y="4557574"/>
            <a:ext cx="723918" cy="45951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173835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12287-42E2-D2B9-D4C7-16BE8EC09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E3007-A8DB-E307-FD7A-C775F361FEA0}"/>
              </a:ext>
            </a:extLst>
          </p:cNvPr>
          <p:cNvSpPr>
            <a:spLocks noGrp="1"/>
          </p:cNvSpPr>
          <p:nvPr>
            <p:ph type="title"/>
          </p:nvPr>
        </p:nvSpPr>
        <p:spPr/>
        <p:txBody>
          <a:bodyPr/>
          <a:lstStyle/>
          <a:p>
            <a:r>
              <a:rPr lang="en-US" dirty="0"/>
              <a:t>IP-</a:t>
            </a:r>
            <a:r>
              <a:rPr lang="en-US" dirty="0" err="1"/>
              <a:t>routering</a:t>
            </a:r>
            <a:r>
              <a:rPr lang="en-US" dirty="0"/>
              <a:t> – Dynamic routing</a:t>
            </a:r>
            <a:endParaRPr lang="LID4096" dirty="0"/>
          </a:p>
        </p:txBody>
      </p:sp>
      <p:pic>
        <p:nvPicPr>
          <p:cNvPr id="4" name="Picture 4" descr="Router Down Clip Art at Clker.com - vector clip art online, royalty free &amp;  public domain">
            <a:extLst>
              <a:ext uri="{FF2B5EF4-FFF2-40B4-BE49-F238E27FC236}">
                <a16:creationId xmlns:a16="http://schemas.microsoft.com/office/drawing/2014/main" id="{50A0BB26-8323-1212-5C5E-19CD6CBC440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1786" y="2410623"/>
            <a:ext cx="1169598" cy="77778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7" descr="http://vignette3.wikia.nocookie.net/gtawiki/images/c/c9/Computer_Icon.png/revision/latest?cb=20100421004434">
            <a:extLst>
              <a:ext uri="{FF2B5EF4-FFF2-40B4-BE49-F238E27FC236}">
                <a16:creationId xmlns:a16="http://schemas.microsoft.com/office/drawing/2014/main" id="{5767A244-672F-7924-9E2F-576759D66DCC}"/>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72930" y="3638160"/>
            <a:ext cx="1039663" cy="1017616"/>
          </a:xfrm>
          <a:prstGeom prst="rect">
            <a:avLst/>
          </a:prstGeom>
          <a:noFill/>
          <a:ln>
            <a:noFill/>
          </a:ln>
        </p:spPr>
      </p:pic>
      <p:pic>
        <p:nvPicPr>
          <p:cNvPr id="6" name="Picture 4" descr="Router Down Clip Art at Clker.com - vector clip art online, royalty free &amp;  public domain">
            <a:extLst>
              <a:ext uri="{FF2B5EF4-FFF2-40B4-BE49-F238E27FC236}">
                <a16:creationId xmlns:a16="http://schemas.microsoft.com/office/drawing/2014/main" id="{2E734AAE-5CED-48D2-9D3F-93A08A5EB4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7116" y="4410542"/>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er Down Clip Art at Clker.com - vector clip art online, royalty free &amp;  public domain">
            <a:extLst>
              <a:ext uri="{FF2B5EF4-FFF2-40B4-BE49-F238E27FC236}">
                <a16:creationId xmlns:a16="http://schemas.microsoft.com/office/drawing/2014/main" id="{1DFEE0A2-11D9-DEBE-757D-3594B496BF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57761" y="3262826"/>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outer Down Clip Art at Clker.com - vector clip art online, royalty free &amp;  public domain">
            <a:extLst>
              <a:ext uri="{FF2B5EF4-FFF2-40B4-BE49-F238E27FC236}">
                <a16:creationId xmlns:a16="http://schemas.microsoft.com/office/drawing/2014/main" id="{13A8CF8E-5006-BF9F-23B6-197DAFF245D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6596" y="2262419"/>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Router Down Clip Art at Clker.com - vector clip art online, royalty free &amp;  public domain">
            <a:extLst>
              <a:ext uri="{FF2B5EF4-FFF2-40B4-BE49-F238E27FC236}">
                <a16:creationId xmlns:a16="http://schemas.microsoft.com/office/drawing/2014/main" id="{FB57B0EC-0D71-E658-1292-FE19C9C59F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14148" y="418224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Afbeelding 13">
            <a:extLst>
              <a:ext uri="{FF2B5EF4-FFF2-40B4-BE49-F238E27FC236}">
                <a16:creationId xmlns:a16="http://schemas.microsoft.com/office/drawing/2014/main" id="{3ED614FC-AAE6-E629-095C-70D2833132B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42134" y="2224096"/>
            <a:ext cx="1928619" cy="1928619"/>
          </a:xfrm>
          <a:prstGeom prst="rect">
            <a:avLst/>
          </a:prstGeom>
        </p:spPr>
      </p:pic>
      <p:cxnSp>
        <p:nvCxnSpPr>
          <p:cNvPr id="11" name="Rechte verbindingslijn 14">
            <a:extLst>
              <a:ext uri="{FF2B5EF4-FFF2-40B4-BE49-F238E27FC236}">
                <a16:creationId xmlns:a16="http://schemas.microsoft.com/office/drawing/2014/main" id="{ABC54612-6971-E40F-087F-4990FDA0A1C2}"/>
              </a:ext>
            </a:extLst>
          </p:cNvPr>
          <p:cNvCxnSpPr/>
          <p:nvPr/>
        </p:nvCxnSpPr>
        <p:spPr>
          <a:xfrm flipV="1">
            <a:off x="2512593" y="3013088"/>
            <a:ext cx="800101" cy="7211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2" name="Rechte verbindingslijn 16">
            <a:extLst>
              <a:ext uri="{FF2B5EF4-FFF2-40B4-BE49-F238E27FC236}">
                <a16:creationId xmlns:a16="http://schemas.microsoft.com/office/drawing/2014/main" id="{6E7C117D-FC89-6FBA-F761-D975199830C8}"/>
              </a:ext>
            </a:extLst>
          </p:cNvPr>
          <p:cNvCxnSpPr/>
          <p:nvPr/>
        </p:nvCxnSpPr>
        <p:spPr>
          <a:xfrm flipH="1" flipV="1">
            <a:off x="3927583" y="3078361"/>
            <a:ext cx="333801" cy="125830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3" name="Rechte verbindingslijn 18">
            <a:extLst>
              <a:ext uri="{FF2B5EF4-FFF2-40B4-BE49-F238E27FC236}">
                <a16:creationId xmlns:a16="http://schemas.microsoft.com/office/drawing/2014/main" id="{77C35B26-0E23-959B-8673-A631AF38315D}"/>
              </a:ext>
            </a:extLst>
          </p:cNvPr>
          <p:cNvCxnSpPr/>
          <p:nvPr/>
        </p:nvCxnSpPr>
        <p:spPr>
          <a:xfrm flipV="1">
            <a:off x="4904219" y="3834180"/>
            <a:ext cx="715041" cy="61724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4" name="Rechte verbindingslijn 20">
            <a:extLst>
              <a:ext uri="{FF2B5EF4-FFF2-40B4-BE49-F238E27FC236}">
                <a16:creationId xmlns:a16="http://schemas.microsoft.com/office/drawing/2014/main" id="{6AC67BCE-8DF4-B566-7A26-C35D9E2630FB}"/>
              </a:ext>
            </a:extLst>
          </p:cNvPr>
          <p:cNvCxnSpPr/>
          <p:nvPr/>
        </p:nvCxnSpPr>
        <p:spPr>
          <a:xfrm flipV="1">
            <a:off x="6488790" y="2824897"/>
            <a:ext cx="894661" cy="4968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5" name="Rechte verbindingslijn 23">
            <a:extLst>
              <a:ext uri="{FF2B5EF4-FFF2-40B4-BE49-F238E27FC236}">
                <a16:creationId xmlns:a16="http://schemas.microsoft.com/office/drawing/2014/main" id="{01B0ABA1-EAB2-4896-CADE-A0994346644C}"/>
              </a:ext>
            </a:extLst>
          </p:cNvPr>
          <p:cNvCxnSpPr/>
          <p:nvPr/>
        </p:nvCxnSpPr>
        <p:spPr>
          <a:xfrm>
            <a:off x="7955832" y="2936270"/>
            <a:ext cx="140245" cy="120653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6" name="Rechte verbindingslijn 25">
            <a:extLst>
              <a:ext uri="{FF2B5EF4-FFF2-40B4-BE49-F238E27FC236}">
                <a16:creationId xmlns:a16="http://schemas.microsoft.com/office/drawing/2014/main" id="{1550F6F1-C4DE-2C8E-DDE3-782BCD39C92E}"/>
              </a:ext>
            </a:extLst>
          </p:cNvPr>
          <p:cNvCxnSpPr/>
          <p:nvPr/>
        </p:nvCxnSpPr>
        <p:spPr>
          <a:xfrm flipH="1">
            <a:off x="8711924" y="3707513"/>
            <a:ext cx="860421" cy="60326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pic>
        <p:nvPicPr>
          <p:cNvPr id="3" name="Picture 2" descr="Package - Download free icons">
            <a:extLst>
              <a:ext uri="{FF2B5EF4-FFF2-40B4-BE49-F238E27FC236}">
                <a16:creationId xmlns:a16="http://schemas.microsoft.com/office/drawing/2014/main" id="{9D5E15EB-FD8E-C020-51E2-E7DC3E9058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8202" y="1738031"/>
            <a:ext cx="934492" cy="93449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Router Down Clip Art at Clker.com - vector clip art online, royalty free &amp;  public domain">
            <a:extLst>
              <a:ext uri="{FF2B5EF4-FFF2-40B4-BE49-F238E27FC236}">
                <a16:creationId xmlns:a16="http://schemas.microsoft.com/office/drawing/2014/main" id="{156BE4DF-D816-76FB-A20F-262BC5A80AA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0632" y="4641751"/>
            <a:ext cx="1169598" cy="750668"/>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Rechte verbindingslijn 18">
            <a:extLst>
              <a:ext uri="{FF2B5EF4-FFF2-40B4-BE49-F238E27FC236}">
                <a16:creationId xmlns:a16="http://schemas.microsoft.com/office/drawing/2014/main" id="{BE767A23-E389-16F3-8A99-3EDF0C189AC2}"/>
              </a:ext>
            </a:extLst>
          </p:cNvPr>
          <p:cNvCxnSpPr>
            <a:cxnSpLocks/>
            <a:stCxn id="6" idx="3"/>
            <a:endCxn id="17" idx="1"/>
          </p:cNvCxnSpPr>
          <p:nvPr/>
        </p:nvCxnSpPr>
        <p:spPr>
          <a:xfrm>
            <a:off x="4996714" y="4785876"/>
            <a:ext cx="723918" cy="231209"/>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21" name="Rechte verbindingslijn 18">
            <a:extLst>
              <a:ext uri="{FF2B5EF4-FFF2-40B4-BE49-F238E27FC236}">
                <a16:creationId xmlns:a16="http://schemas.microsoft.com/office/drawing/2014/main" id="{A0EFA3EC-52A6-2772-6CB0-FA80F110A39B}"/>
              </a:ext>
            </a:extLst>
          </p:cNvPr>
          <p:cNvCxnSpPr>
            <a:cxnSpLocks/>
            <a:stCxn id="17" idx="3"/>
            <a:endCxn id="9" idx="1"/>
          </p:cNvCxnSpPr>
          <p:nvPr/>
        </p:nvCxnSpPr>
        <p:spPr>
          <a:xfrm flipV="1">
            <a:off x="6890230" y="4557574"/>
            <a:ext cx="723918" cy="45951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9457992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DF2DD-1F14-3393-02D9-A57006F5DC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C8B896-D761-8268-AB5A-44642500A84D}"/>
              </a:ext>
            </a:extLst>
          </p:cNvPr>
          <p:cNvSpPr>
            <a:spLocks noGrp="1"/>
          </p:cNvSpPr>
          <p:nvPr>
            <p:ph type="title"/>
          </p:nvPr>
        </p:nvSpPr>
        <p:spPr/>
        <p:txBody>
          <a:bodyPr/>
          <a:lstStyle/>
          <a:p>
            <a:r>
              <a:rPr lang="en-US" dirty="0"/>
              <a:t>IP-</a:t>
            </a:r>
            <a:r>
              <a:rPr lang="en-US" dirty="0" err="1"/>
              <a:t>routering</a:t>
            </a:r>
            <a:r>
              <a:rPr lang="en-US" dirty="0"/>
              <a:t> – Dynamic routing</a:t>
            </a:r>
            <a:endParaRPr lang="LID4096" dirty="0"/>
          </a:p>
        </p:txBody>
      </p:sp>
      <p:pic>
        <p:nvPicPr>
          <p:cNvPr id="4" name="Picture 4" descr="Router Down Clip Art at Clker.com - vector clip art online, royalty free &amp;  public domain">
            <a:extLst>
              <a:ext uri="{FF2B5EF4-FFF2-40B4-BE49-F238E27FC236}">
                <a16:creationId xmlns:a16="http://schemas.microsoft.com/office/drawing/2014/main" id="{6FEBA58F-7373-D43B-CB6B-E9E0963916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1786" y="2410623"/>
            <a:ext cx="1169598" cy="77778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7" descr="http://vignette3.wikia.nocookie.net/gtawiki/images/c/c9/Computer_Icon.png/revision/latest?cb=20100421004434">
            <a:extLst>
              <a:ext uri="{FF2B5EF4-FFF2-40B4-BE49-F238E27FC236}">
                <a16:creationId xmlns:a16="http://schemas.microsoft.com/office/drawing/2014/main" id="{9882E349-D386-E27C-062A-6B5BECE41D9B}"/>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72930" y="3638160"/>
            <a:ext cx="1039663" cy="1017616"/>
          </a:xfrm>
          <a:prstGeom prst="rect">
            <a:avLst/>
          </a:prstGeom>
          <a:noFill/>
          <a:ln>
            <a:noFill/>
          </a:ln>
        </p:spPr>
      </p:pic>
      <p:pic>
        <p:nvPicPr>
          <p:cNvPr id="6" name="Picture 4" descr="Router Down Clip Art at Clker.com - vector clip art online, royalty free &amp;  public domain">
            <a:extLst>
              <a:ext uri="{FF2B5EF4-FFF2-40B4-BE49-F238E27FC236}">
                <a16:creationId xmlns:a16="http://schemas.microsoft.com/office/drawing/2014/main" id="{BFE2C6F7-3FCC-4D0D-A6EA-04E86959B23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7116" y="4410542"/>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er Down Clip Art at Clker.com - vector clip art online, royalty free &amp;  public domain">
            <a:extLst>
              <a:ext uri="{FF2B5EF4-FFF2-40B4-BE49-F238E27FC236}">
                <a16:creationId xmlns:a16="http://schemas.microsoft.com/office/drawing/2014/main" id="{DBDAE4DB-CBDF-4692-B569-115B10798F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57761" y="3262826"/>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outer Down Clip Art at Clker.com - vector clip art online, royalty free &amp;  public domain">
            <a:extLst>
              <a:ext uri="{FF2B5EF4-FFF2-40B4-BE49-F238E27FC236}">
                <a16:creationId xmlns:a16="http://schemas.microsoft.com/office/drawing/2014/main" id="{C9B2DDB8-26F5-1E32-CDF5-03FFAB73D6B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6596" y="2262419"/>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Router Down Clip Art at Clker.com - vector clip art online, royalty free &amp;  public domain">
            <a:extLst>
              <a:ext uri="{FF2B5EF4-FFF2-40B4-BE49-F238E27FC236}">
                <a16:creationId xmlns:a16="http://schemas.microsoft.com/office/drawing/2014/main" id="{95E2ABEA-9B6F-9649-79A5-4768F4D7847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14148" y="418224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Afbeelding 13">
            <a:extLst>
              <a:ext uri="{FF2B5EF4-FFF2-40B4-BE49-F238E27FC236}">
                <a16:creationId xmlns:a16="http://schemas.microsoft.com/office/drawing/2014/main" id="{4E9A2797-036B-A486-F480-5ADD7924F38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42134" y="2224096"/>
            <a:ext cx="1928619" cy="1928619"/>
          </a:xfrm>
          <a:prstGeom prst="rect">
            <a:avLst/>
          </a:prstGeom>
        </p:spPr>
      </p:pic>
      <p:cxnSp>
        <p:nvCxnSpPr>
          <p:cNvPr id="11" name="Rechte verbindingslijn 14">
            <a:extLst>
              <a:ext uri="{FF2B5EF4-FFF2-40B4-BE49-F238E27FC236}">
                <a16:creationId xmlns:a16="http://schemas.microsoft.com/office/drawing/2014/main" id="{40E13F51-8F24-3785-9FA3-C874B8B525D8}"/>
              </a:ext>
            </a:extLst>
          </p:cNvPr>
          <p:cNvCxnSpPr/>
          <p:nvPr/>
        </p:nvCxnSpPr>
        <p:spPr>
          <a:xfrm flipV="1">
            <a:off x="2512593" y="3013088"/>
            <a:ext cx="800101" cy="7211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2" name="Rechte verbindingslijn 16">
            <a:extLst>
              <a:ext uri="{FF2B5EF4-FFF2-40B4-BE49-F238E27FC236}">
                <a16:creationId xmlns:a16="http://schemas.microsoft.com/office/drawing/2014/main" id="{1C0C86D3-507F-F3F3-0E66-CB9A5E8F31D5}"/>
              </a:ext>
            </a:extLst>
          </p:cNvPr>
          <p:cNvCxnSpPr/>
          <p:nvPr/>
        </p:nvCxnSpPr>
        <p:spPr>
          <a:xfrm flipH="1" flipV="1">
            <a:off x="3927583" y="3078361"/>
            <a:ext cx="333801" cy="125830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3" name="Rechte verbindingslijn 18">
            <a:extLst>
              <a:ext uri="{FF2B5EF4-FFF2-40B4-BE49-F238E27FC236}">
                <a16:creationId xmlns:a16="http://schemas.microsoft.com/office/drawing/2014/main" id="{D33E8AF9-337C-25EA-28A9-A49A6E4B0A0A}"/>
              </a:ext>
            </a:extLst>
          </p:cNvPr>
          <p:cNvCxnSpPr/>
          <p:nvPr/>
        </p:nvCxnSpPr>
        <p:spPr>
          <a:xfrm flipV="1">
            <a:off x="4904219" y="3834180"/>
            <a:ext cx="715041" cy="61724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4" name="Rechte verbindingslijn 20">
            <a:extLst>
              <a:ext uri="{FF2B5EF4-FFF2-40B4-BE49-F238E27FC236}">
                <a16:creationId xmlns:a16="http://schemas.microsoft.com/office/drawing/2014/main" id="{D0D70BE2-DA87-6F0B-3C6F-C9599FDF3F08}"/>
              </a:ext>
            </a:extLst>
          </p:cNvPr>
          <p:cNvCxnSpPr/>
          <p:nvPr/>
        </p:nvCxnSpPr>
        <p:spPr>
          <a:xfrm flipV="1">
            <a:off x="6488790" y="2824897"/>
            <a:ext cx="894661" cy="4968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5" name="Rechte verbindingslijn 23">
            <a:extLst>
              <a:ext uri="{FF2B5EF4-FFF2-40B4-BE49-F238E27FC236}">
                <a16:creationId xmlns:a16="http://schemas.microsoft.com/office/drawing/2014/main" id="{9E279146-A96A-715A-CC6B-FD4CBDBFA05B}"/>
              </a:ext>
            </a:extLst>
          </p:cNvPr>
          <p:cNvCxnSpPr/>
          <p:nvPr/>
        </p:nvCxnSpPr>
        <p:spPr>
          <a:xfrm>
            <a:off x="7955832" y="2936270"/>
            <a:ext cx="140245" cy="120653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6" name="Rechte verbindingslijn 25">
            <a:extLst>
              <a:ext uri="{FF2B5EF4-FFF2-40B4-BE49-F238E27FC236}">
                <a16:creationId xmlns:a16="http://schemas.microsoft.com/office/drawing/2014/main" id="{B3387D8F-685C-A500-ED39-6A167A57BF55}"/>
              </a:ext>
            </a:extLst>
          </p:cNvPr>
          <p:cNvCxnSpPr/>
          <p:nvPr/>
        </p:nvCxnSpPr>
        <p:spPr>
          <a:xfrm flipH="1">
            <a:off x="8711924" y="3707513"/>
            <a:ext cx="860421" cy="60326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pic>
        <p:nvPicPr>
          <p:cNvPr id="3" name="Picture 2" descr="Package - Download free icons">
            <a:extLst>
              <a:ext uri="{FF2B5EF4-FFF2-40B4-BE49-F238E27FC236}">
                <a16:creationId xmlns:a16="http://schemas.microsoft.com/office/drawing/2014/main" id="{13F7790C-15E7-7280-23F0-20E0C5B270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7237" y="5161210"/>
            <a:ext cx="934492" cy="93449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Router Down Clip Art at Clker.com - vector clip art online, royalty free &amp;  public domain">
            <a:extLst>
              <a:ext uri="{FF2B5EF4-FFF2-40B4-BE49-F238E27FC236}">
                <a16:creationId xmlns:a16="http://schemas.microsoft.com/office/drawing/2014/main" id="{00769B41-A842-D48D-3B5D-899C67A94F5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0632" y="4641751"/>
            <a:ext cx="1169598" cy="750668"/>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Rechte verbindingslijn 18">
            <a:extLst>
              <a:ext uri="{FF2B5EF4-FFF2-40B4-BE49-F238E27FC236}">
                <a16:creationId xmlns:a16="http://schemas.microsoft.com/office/drawing/2014/main" id="{996E23DA-13EB-0634-3A03-2489CFBA87FB}"/>
              </a:ext>
            </a:extLst>
          </p:cNvPr>
          <p:cNvCxnSpPr>
            <a:cxnSpLocks/>
            <a:stCxn id="6" idx="3"/>
            <a:endCxn id="17" idx="1"/>
          </p:cNvCxnSpPr>
          <p:nvPr/>
        </p:nvCxnSpPr>
        <p:spPr>
          <a:xfrm>
            <a:off x="4996714" y="4785876"/>
            <a:ext cx="723918" cy="231209"/>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21" name="Rechte verbindingslijn 18">
            <a:extLst>
              <a:ext uri="{FF2B5EF4-FFF2-40B4-BE49-F238E27FC236}">
                <a16:creationId xmlns:a16="http://schemas.microsoft.com/office/drawing/2014/main" id="{791539A3-1B36-ABB0-DC69-F1246BBDE3E1}"/>
              </a:ext>
            </a:extLst>
          </p:cNvPr>
          <p:cNvCxnSpPr>
            <a:cxnSpLocks/>
            <a:stCxn id="17" idx="3"/>
            <a:endCxn id="9" idx="1"/>
          </p:cNvCxnSpPr>
          <p:nvPr/>
        </p:nvCxnSpPr>
        <p:spPr>
          <a:xfrm flipV="1">
            <a:off x="6890230" y="4557574"/>
            <a:ext cx="723918" cy="45951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235725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E9A21-AB41-BC8D-6A09-C6DD180F3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C6110-3C70-1FBC-492C-9C174E7B2CAD}"/>
              </a:ext>
            </a:extLst>
          </p:cNvPr>
          <p:cNvSpPr>
            <a:spLocks noGrp="1"/>
          </p:cNvSpPr>
          <p:nvPr>
            <p:ph type="title"/>
          </p:nvPr>
        </p:nvSpPr>
        <p:spPr/>
        <p:txBody>
          <a:bodyPr/>
          <a:lstStyle/>
          <a:p>
            <a:r>
              <a:rPr lang="en-US" dirty="0"/>
              <a:t>IP-</a:t>
            </a:r>
            <a:r>
              <a:rPr lang="en-US" dirty="0" err="1"/>
              <a:t>routering</a:t>
            </a:r>
            <a:r>
              <a:rPr lang="en-US" dirty="0"/>
              <a:t> – Dynamic routing</a:t>
            </a:r>
            <a:endParaRPr lang="LID4096" dirty="0"/>
          </a:p>
        </p:txBody>
      </p:sp>
      <p:pic>
        <p:nvPicPr>
          <p:cNvPr id="4" name="Picture 4" descr="Router Down Clip Art at Clker.com - vector clip art online, royalty free &amp;  public domain">
            <a:extLst>
              <a:ext uri="{FF2B5EF4-FFF2-40B4-BE49-F238E27FC236}">
                <a16:creationId xmlns:a16="http://schemas.microsoft.com/office/drawing/2014/main" id="{C47F1257-9DF0-3E66-C491-C62264D7038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1786" y="2410623"/>
            <a:ext cx="1169598" cy="77778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7" descr="http://vignette3.wikia.nocookie.net/gtawiki/images/c/c9/Computer_Icon.png/revision/latest?cb=20100421004434">
            <a:extLst>
              <a:ext uri="{FF2B5EF4-FFF2-40B4-BE49-F238E27FC236}">
                <a16:creationId xmlns:a16="http://schemas.microsoft.com/office/drawing/2014/main" id="{13ED211F-5289-DB2C-B7CC-D4CCD9C5B170}"/>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72930" y="3638160"/>
            <a:ext cx="1039663" cy="1017616"/>
          </a:xfrm>
          <a:prstGeom prst="rect">
            <a:avLst/>
          </a:prstGeom>
          <a:noFill/>
          <a:ln>
            <a:noFill/>
          </a:ln>
        </p:spPr>
      </p:pic>
      <p:pic>
        <p:nvPicPr>
          <p:cNvPr id="6" name="Picture 4" descr="Router Down Clip Art at Clker.com - vector clip art online, royalty free &amp;  public domain">
            <a:extLst>
              <a:ext uri="{FF2B5EF4-FFF2-40B4-BE49-F238E27FC236}">
                <a16:creationId xmlns:a16="http://schemas.microsoft.com/office/drawing/2014/main" id="{519625C4-4CE1-29F6-5685-328A11A64E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7116" y="4410542"/>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er Down Clip Art at Clker.com - vector clip art online, royalty free &amp;  public domain">
            <a:extLst>
              <a:ext uri="{FF2B5EF4-FFF2-40B4-BE49-F238E27FC236}">
                <a16:creationId xmlns:a16="http://schemas.microsoft.com/office/drawing/2014/main" id="{68D16F42-F654-B1ED-BB61-23DCF2F43F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57761" y="3262826"/>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outer Down Clip Art at Clker.com - vector clip art online, royalty free &amp;  public domain">
            <a:extLst>
              <a:ext uri="{FF2B5EF4-FFF2-40B4-BE49-F238E27FC236}">
                <a16:creationId xmlns:a16="http://schemas.microsoft.com/office/drawing/2014/main" id="{171DA4AC-ED96-775E-4FFF-139E4133C78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6596" y="2262419"/>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Router Down Clip Art at Clker.com - vector clip art online, royalty free &amp;  public domain">
            <a:extLst>
              <a:ext uri="{FF2B5EF4-FFF2-40B4-BE49-F238E27FC236}">
                <a16:creationId xmlns:a16="http://schemas.microsoft.com/office/drawing/2014/main" id="{35A4A243-F388-B8F4-58BC-DB0FEF0EDE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14148" y="418224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Afbeelding 13">
            <a:extLst>
              <a:ext uri="{FF2B5EF4-FFF2-40B4-BE49-F238E27FC236}">
                <a16:creationId xmlns:a16="http://schemas.microsoft.com/office/drawing/2014/main" id="{7B40FC81-D86A-2AE5-B2C2-4D673A09DA8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42134" y="2224096"/>
            <a:ext cx="1928619" cy="1928619"/>
          </a:xfrm>
          <a:prstGeom prst="rect">
            <a:avLst/>
          </a:prstGeom>
        </p:spPr>
      </p:pic>
      <p:cxnSp>
        <p:nvCxnSpPr>
          <p:cNvPr id="11" name="Rechte verbindingslijn 14">
            <a:extLst>
              <a:ext uri="{FF2B5EF4-FFF2-40B4-BE49-F238E27FC236}">
                <a16:creationId xmlns:a16="http://schemas.microsoft.com/office/drawing/2014/main" id="{45594062-48C8-BC42-0D00-7E479C294DBD}"/>
              </a:ext>
            </a:extLst>
          </p:cNvPr>
          <p:cNvCxnSpPr/>
          <p:nvPr/>
        </p:nvCxnSpPr>
        <p:spPr>
          <a:xfrm flipV="1">
            <a:off x="2512593" y="3013088"/>
            <a:ext cx="800101" cy="7211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2" name="Rechte verbindingslijn 16">
            <a:extLst>
              <a:ext uri="{FF2B5EF4-FFF2-40B4-BE49-F238E27FC236}">
                <a16:creationId xmlns:a16="http://schemas.microsoft.com/office/drawing/2014/main" id="{441F052A-75B6-BCA1-9512-00FE5B050D84}"/>
              </a:ext>
            </a:extLst>
          </p:cNvPr>
          <p:cNvCxnSpPr/>
          <p:nvPr/>
        </p:nvCxnSpPr>
        <p:spPr>
          <a:xfrm flipH="1" flipV="1">
            <a:off x="3927583" y="3078361"/>
            <a:ext cx="333801" cy="125830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3" name="Rechte verbindingslijn 18">
            <a:extLst>
              <a:ext uri="{FF2B5EF4-FFF2-40B4-BE49-F238E27FC236}">
                <a16:creationId xmlns:a16="http://schemas.microsoft.com/office/drawing/2014/main" id="{2F8BBBFF-C91E-3B62-8033-09919382E75E}"/>
              </a:ext>
            </a:extLst>
          </p:cNvPr>
          <p:cNvCxnSpPr/>
          <p:nvPr/>
        </p:nvCxnSpPr>
        <p:spPr>
          <a:xfrm flipV="1">
            <a:off x="4904219" y="3834180"/>
            <a:ext cx="715041" cy="61724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4" name="Rechte verbindingslijn 20">
            <a:extLst>
              <a:ext uri="{FF2B5EF4-FFF2-40B4-BE49-F238E27FC236}">
                <a16:creationId xmlns:a16="http://schemas.microsoft.com/office/drawing/2014/main" id="{79C93261-B90E-BC5B-70FC-5E7A2ADA3B7F}"/>
              </a:ext>
            </a:extLst>
          </p:cNvPr>
          <p:cNvCxnSpPr/>
          <p:nvPr/>
        </p:nvCxnSpPr>
        <p:spPr>
          <a:xfrm flipV="1">
            <a:off x="6488790" y="2824897"/>
            <a:ext cx="894661" cy="4968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5" name="Rechte verbindingslijn 23">
            <a:extLst>
              <a:ext uri="{FF2B5EF4-FFF2-40B4-BE49-F238E27FC236}">
                <a16:creationId xmlns:a16="http://schemas.microsoft.com/office/drawing/2014/main" id="{11EBC6A8-5B9B-1617-3165-6FF881E5F406}"/>
              </a:ext>
            </a:extLst>
          </p:cNvPr>
          <p:cNvCxnSpPr/>
          <p:nvPr/>
        </p:nvCxnSpPr>
        <p:spPr>
          <a:xfrm>
            <a:off x="7955832" y="2936270"/>
            <a:ext cx="140245" cy="120653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6" name="Rechte verbindingslijn 25">
            <a:extLst>
              <a:ext uri="{FF2B5EF4-FFF2-40B4-BE49-F238E27FC236}">
                <a16:creationId xmlns:a16="http://schemas.microsoft.com/office/drawing/2014/main" id="{DD5A4A58-F0A5-3FB4-B7A9-D48487FE73C6}"/>
              </a:ext>
            </a:extLst>
          </p:cNvPr>
          <p:cNvCxnSpPr/>
          <p:nvPr/>
        </p:nvCxnSpPr>
        <p:spPr>
          <a:xfrm flipH="1">
            <a:off x="8711924" y="3707513"/>
            <a:ext cx="860421" cy="60326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pic>
        <p:nvPicPr>
          <p:cNvPr id="3" name="Picture 2" descr="Package - Download free icons">
            <a:extLst>
              <a:ext uri="{FF2B5EF4-FFF2-40B4-BE49-F238E27FC236}">
                <a16:creationId xmlns:a16="http://schemas.microsoft.com/office/drawing/2014/main" id="{C98DA51E-AED1-A2B7-C1BE-96ED76D592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27237" y="5161210"/>
            <a:ext cx="934492" cy="93449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Router Down Clip Art at Clker.com - vector clip art online, royalty free &amp;  public domain">
            <a:extLst>
              <a:ext uri="{FF2B5EF4-FFF2-40B4-BE49-F238E27FC236}">
                <a16:creationId xmlns:a16="http://schemas.microsoft.com/office/drawing/2014/main" id="{6E63DBD1-D50B-431A-76CD-25C89FFCF8B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0632" y="4641751"/>
            <a:ext cx="1169598" cy="750668"/>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Rechte verbindingslijn 18">
            <a:extLst>
              <a:ext uri="{FF2B5EF4-FFF2-40B4-BE49-F238E27FC236}">
                <a16:creationId xmlns:a16="http://schemas.microsoft.com/office/drawing/2014/main" id="{56F561EC-C288-664E-2E61-99D01DCE8F29}"/>
              </a:ext>
            </a:extLst>
          </p:cNvPr>
          <p:cNvCxnSpPr>
            <a:cxnSpLocks/>
            <a:stCxn id="6" idx="3"/>
            <a:endCxn id="17" idx="1"/>
          </p:cNvCxnSpPr>
          <p:nvPr/>
        </p:nvCxnSpPr>
        <p:spPr>
          <a:xfrm>
            <a:off x="4996714" y="4785876"/>
            <a:ext cx="723918" cy="231209"/>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21" name="Rechte verbindingslijn 18">
            <a:extLst>
              <a:ext uri="{FF2B5EF4-FFF2-40B4-BE49-F238E27FC236}">
                <a16:creationId xmlns:a16="http://schemas.microsoft.com/office/drawing/2014/main" id="{36A59FBA-5901-454B-55C9-E6F4B7C966C8}"/>
              </a:ext>
            </a:extLst>
          </p:cNvPr>
          <p:cNvCxnSpPr>
            <a:cxnSpLocks/>
            <a:stCxn id="17" idx="3"/>
            <a:endCxn id="9" idx="1"/>
          </p:cNvCxnSpPr>
          <p:nvPr/>
        </p:nvCxnSpPr>
        <p:spPr>
          <a:xfrm flipV="1">
            <a:off x="6890230" y="4557574"/>
            <a:ext cx="723918" cy="45951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sp>
        <p:nvSpPr>
          <p:cNvPr id="19" name="TextBox 18">
            <a:extLst>
              <a:ext uri="{FF2B5EF4-FFF2-40B4-BE49-F238E27FC236}">
                <a16:creationId xmlns:a16="http://schemas.microsoft.com/office/drawing/2014/main" id="{14289B3E-E512-B7C0-AB10-53912C372E70}"/>
              </a:ext>
            </a:extLst>
          </p:cNvPr>
          <p:cNvSpPr txBox="1"/>
          <p:nvPr/>
        </p:nvSpPr>
        <p:spPr>
          <a:xfrm>
            <a:off x="4996713" y="5545667"/>
            <a:ext cx="3099363" cy="830997"/>
          </a:xfrm>
          <a:prstGeom prst="rect">
            <a:avLst/>
          </a:prstGeom>
          <a:noFill/>
        </p:spPr>
        <p:txBody>
          <a:bodyPr wrap="square" rtlCol="0">
            <a:spAutoFit/>
          </a:bodyPr>
          <a:lstStyle/>
          <a:p>
            <a:r>
              <a:rPr lang="en-US" sz="2400" dirty="0"/>
              <a:t>Wat is het </a:t>
            </a:r>
            <a:r>
              <a:rPr lang="en-US" sz="2400" dirty="0" err="1"/>
              <a:t>meest</a:t>
            </a:r>
            <a:r>
              <a:rPr lang="en-US" sz="2400" dirty="0"/>
              <a:t> </a:t>
            </a:r>
            <a:r>
              <a:rPr lang="en-US" sz="2400" dirty="0" err="1"/>
              <a:t>efficiënte</a:t>
            </a:r>
            <a:r>
              <a:rPr lang="en-US" sz="2400" dirty="0"/>
              <a:t> pad?</a:t>
            </a:r>
            <a:endParaRPr lang="LID4096" sz="2400" dirty="0"/>
          </a:p>
        </p:txBody>
      </p:sp>
    </p:spTree>
    <p:extLst>
      <p:ext uri="{BB962C8B-B14F-4D97-AF65-F5344CB8AC3E}">
        <p14:creationId xmlns:p14="http://schemas.microsoft.com/office/powerpoint/2010/main" val="2310603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B7D94-A225-8205-6A83-8C37E9C4E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E11F2-1EBA-6AA6-583F-4EBE12C2CE7B}"/>
              </a:ext>
            </a:extLst>
          </p:cNvPr>
          <p:cNvSpPr>
            <a:spLocks noGrp="1"/>
          </p:cNvSpPr>
          <p:nvPr>
            <p:ph type="title"/>
          </p:nvPr>
        </p:nvSpPr>
        <p:spPr/>
        <p:txBody>
          <a:bodyPr/>
          <a:lstStyle/>
          <a:p>
            <a:r>
              <a:rPr lang="en-US" dirty="0"/>
              <a:t>IP-</a:t>
            </a:r>
            <a:r>
              <a:rPr lang="en-US" dirty="0" err="1"/>
              <a:t>routering</a:t>
            </a:r>
            <a:r>
              <a:rPr lang="en-US" dirty="0"/>
              <a:t> – Dynamic routing</a:t>
            </a:r>
            <a:endParaRPr lang="LID4096" dirty="0"/>
          </a:p>
        </p:txBody>
      </p:sp>
      <p:pic>
        <p:nvPicPr>
          <p:cNvPr id="4" name="Picture 4" descr="Router Down Clip Art at Clker.com - vector clip art online, royalty free &amp;  public domain">
            <a:extLst>
              <a:ext uri="{FF2B5EF4-FFF2-40B4-BE49-F238E27FC236}">
                <a16:creationId xmlns:a16="http://schemas.microsoft.com/office/drawing/2014/main" id="{271AD607-C40B-1655-0A73-744AB1FF127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1786" y="2410623"/>
            <a:ext cx="1169598" cy="77778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7" descr="http://vignette3.wikia.nocookie.net/gtawiki/images/c/c9/Computer_Icon.png/revision/latest?cb=20100421004434">
            <a:extLst>
              <a:ext uri="{FF2B5EF4-FFF2-40B4-BE49-F238E27FC236}">
                <a16:creationId xmlns:a16="http://schemas.microsoft.com/office/drawing/2014/main" id="{C5EE9341-3424-EDA6-D200-3A627CE8B91C}"/>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72930" y="3638160"/>
            <a:ext cx="1039663" cy="1017616"/>
          </a:xfrm>
          <a:prstGeom prst="rect">
            <a:avLst/>
          </a:prstGeom>
          <a:noFill/>
          <a:ln>
            <a:noFill/>
          </a:ln>
        </p:spPr>
      </p:pic>
      <p:pic>
        <p:nvPicPr>
          <p:cNvPr id="6" name="Picture 4" descr="Router Down Clip Art at Clker.com - vector clip art online, royalty free &amp;  public domain">
            <a:extLst>
              <a:ext uri="{FF2B5EF4-FFF2-40B4-BE49-F238E27FC236}">
                <a16:creationId xmlns:a16="http://schemas.microsoft.com/office/drawing/2014/main" id="{B13A3D77-CAE1-46FD-54EB-19E261EE5EE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7116" y="4410542"/>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er Down Clip Art at Clker.com - vector clip art online, royalty free &amp;  public domain">
            <a:extLst>
              <a:ext uri="{FF2B5EF4-FFF2-40B4-BE49-F238E27FC236}">
                <a16:creationId xmlns:a16="http://schemas.microsoft.com/office/drawing/2014/main" id="{61A2142B-E618-753F-E54C-7A0CF517C3C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57761" y="3262826"/>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outer Down Clip Art at Clker.com - vector clip art online, royalty free &amp;  public domain">
            <a:extLst>
              <a:ext uri="{FF2B5EF4-FFF2-40B4-BE49-F238E27FC236}">
                <a16:creationId xmlns:a16="http://schemas.microsoft.com/office/drawing/2014/main" id="{6E204EE5-2233-B9CA-F616-244672052E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6596" y="2262419"/>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Router Down Clip Art at Clker.com - vector clip art online, royalty free &amp;  public domain">
            <a:extLst>
              <a:ext uri="{FF2B5EF4-FFF2-40B4-BE49-F238E27FC236}">
                <a16:creationId xmlns:a16="http://schemas.microsoft.com/office/drawing/2014/main" id="{934B2472-706C-72EA-9CF9-49110190359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14148" y="418224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Afbeelding 13">
            <a:extLst>
              <a:ext uri="{FF2B5EF4-FFF2-40B4-BE49-F238E27FC236}">
                <a16:creationId xmlns:a16="http://schemas.microsoft.com/office/drawing/2014/main" id="{0A2CAE23-EDAB-C5E1-B986-4B2667D1E39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42134" y="2224096"/>
            <a:ext cx="1928619" cy="1928619"/>
          </a:xfrm>
          <a:prstGeom prst="rect">
            <a:avLst/>
          </a:prstGeom>
        </p:spPr>
      </p:pic>
      <p:cxnSp>
        <p:nvCxnSpPr>
          <p:cNvPr id="11" name="Rechte verbindingslijn 14">
            <a:extLst>
              <a:ext uri="{FF2B5EF4-FFF2-40B4-BE49-F238E27FC236}">
                <a16:creationId xmlns:a16="http://schemas.microsoft.com/office/drawing/2014/main" id="{CBBEFD9D-C4D6-AC1E-81E5-9B7CB6737022}"/>
              </a:ext>
            </a:extLst>
          </p:cNvPr>
          <p:cNvCxnSpPr/>
          <p:nvPr/>
        </p:nvCxnSpPr>
        <p:spPr>
          <a:xfrm flipV="1">
            <a:off x="2512593" y="3013088"/>
            <a:ext cx="800101" cy="7211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2" name="Rechte verbindingslijn 16">
            <a:extLst>
              <a:ext uri="{FF2B5EF4-FFF2-40B4-BE49-F238E27FC236}">
                <a16:creationId xmlns:a16="http://schemas.microsoft.com/office/drawing/2014/main" id="{BD450F22-1D71-F151-80FD-84DBCB643870}"/>
              </a:ext>
            </a:extLst>
          </p:cNvPr>
          <p:cNvCxnSpPr/>
          <p:nvPr/>
        </p:nvCxnSpPr>
        <p:spPr>
          <a:xfrm flipH="1" flipV="1">
            <a:off x="3927583" y="3078361"/>
            <a:ext cx="333801" cy="125830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3" name="Rechte verbindingslijn 18">
            <a:extLst>
              <a:ext uri="{FF2B5EF4-FFF2-40B4-BE49-F238E27FC236}">
                <a16:creationId xmlns:a16="http://schemas.microsoft.com/office/drawing/2014/main" id="{12CFB524-049B-3D84-7662-255CE7BCF994}"/>
              </a:ext>
            </a:extLst>
          </p:cNvPr>
          <p:cNvCxnSpPr/>
          <p:nvPr/>
        </p:nvCxnSpPr>
        <p:spPr>
          <a:xfrm flipV="1">
            <a:off x="4904219" y="3834180"/>
            <a:ext cx="715041" cy="61724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4" name="Rechte verbindingslijn 20">
            <a:extLst>
              <a:ext uri="{FF2B5EF4-FFF2-40B4-BE49-F238E27FC236}">
                <a16:creationId xmlns:a16="http://schemas.microsoft.com/office/drawing/2014/main" id="{2464586D-19B3-34E6-4D9C-1B2B05CFDE25}"/>
              </a:ext>
            </a:extLst>
          </p:cNvPr>
          <p:cNvCxnSpPr/>
          <p:nvPr/>
        </p:nvCxnSpPr>
        <p:spPr>
          <a:xfrm flipV="1">
            <a:off x="6488790" y="2824897"/>
            <a:ext cx="894661" cy="4968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5" name="Rechte verbindingslijn 23">
            <a:extLst>
              <a:ext uri="{FF2B5EF4-FFF2-40B4-BE49-F238E27FC236}">
                <a16:creationId xmlns:a16="http://schemas.microsoft.com/office/drawing/2014/main" id="{CA73B0C0-0712-2AEE-5AF9-5DEE1836EB1B}"/>
              </a:ext>
            </a:extLst>
          </p:cNvPr>
          <p:cNvCxnSpPr/>
          <p:nvPr/>
        </p:nvCxnSpPr>
        <p:spPr>
          <a:xfrm>
            <a:off x="7955832" y="2936270"/>
            <a:ext cx="140245" cy="120653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6" name="Rechte verbindingslijn 25">
            <a:extLst>
              <a:ext uri="{FF2B5EF4-FFF2-40B4-BE49-F238E27FC236}">
                <a16:creationId xmlns:a16="http://schemas.microsoft.com/office/drawing/2014/main" id="{CA370FDE-4A41-D6DC-9419-A8B34C6CC0A2}"/>
              </a:ext>
            </a:extLst>
          </p:cNvPr>
          <p:cNvCxnSpPr/>
          <p:nvPr/>
        </p:nvCxnSpPr>
        <p:spPr>
          <a:xfrm flipH="1">
            <a:off x="8711924" y="3707513"/>
            <a:ext cx="860421" cy="60326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pic>
        <p:nvPicPr>
          <p:cNvPr id="17" name="Picture 4" descr="Router Down Clip Art at Clker.com - vector clip art online, royalty free &amp;  public domain">
            <a:extLst>
              <a:ext uri="{FF2B5EF4-FFF2-40B4-BE49-F238E27FC236}">
                <a16:creationId xmlns:a16="http://schemas.microsoft.com/office/drawing/2014/main" id="{57ECC735-CE9B-B4DB-5796-E4E70E6091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0632" y="4641751"/>
            <a:ext cx="1169598" cy="750668"/>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Rechte verbindingslijn 18">
            <a:extLst>
              <a:ext uri="{FF2B5EF4-FFF2-40B4-BE49-F238E27FC236}">
                <a16:creationId xmlns:a16="http://schemas.microsoft.com/office/drawing/2014/main" id="{2531F7EB-7CB8-3A11-D54A-98D5F9107FE8}"/>
              </a:ext>
            </a:extLst>
          </p:cNvPr>
          <p:cNvCxnSpPr>
            <a:cxnSpLocks/>
            <a:stCxn id="6" idx="3"/>
            <a:endCxn id="17" idx="1"/>
          </p:cNvCxnSpPr>
          <p:nvPr/>
        </p:nvCxnSpPr>
        <p:spPr>
          <a:xfrm>
            <a:off x="4996714" y="4785876"/>
            <a:ext cx="723918" cy="231209"/>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21" name="Rechte verbindingslijn 18">
            <a:extLst>
              <a:ext uri="{FF2B5EF4-FFF2-40B4-BE49-F238E27FC236}">
                <a16:creationId xmlns:a16="http://schemas.microsoft.com/office/drawing/2014/main" id="{D7FC093D-1332-B07D-CD90-D54AAE8BA828}"/>
              </a:ext>
            </a:extLst>
          </p:cNvPr>
          <p:cNvCxnSpPr>
            <a:cxnSpLocks/>
            <a:stCxn id="17" idx="3"/>
            <a:endCxn id="9" idx="1"/>
          </p:cNvCxnSpPr>
          <p:nvPr/>
        </p:nvCxnSpPr>
        <p:spPr>
          <a:xfrm flipV="1">
            <a:off x="6890230" y="4557574"/>
            <a:ext cx="723918" cy="45951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pic>
        <p:nvPicPr>
          <p:cNvPr id="20" name="Picture 19" descr="Package - Download free icons">
            <a:extLst>
              <a:ext uri="{FF2B5EF4-FFF2-40B4-BE49-F238E27FC236}">
                <a16:creationId xmlns:a16="http://schemas.microsoft.com/office/drawing/2014/main" id="{51386534-CE08-2F27-9F55-E9D2BD5695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55738" y="5271277"/>
            <a:ext cx="934492" cy="934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4524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9EDC5-13BB-F2A4-D049-ADA6DE67B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6D311-0B11-9A71-F81A-C68CD0E0747C}"/>
              </a:ext>
            </a:extLst>
          </p:cNvPr>
          <p:cNvSpPr>
            <a:spLocks noGrp="1"/>
          </p:cNvSpPr>
          <p:nvPr>
            <p:ph type="title"/>
          </p:nvPr>
        </p:nvSpPr>
        <p:spPr/>
        <p:txBody>
          <a:bodyPr/>
          <a:lstStyle/>
          <a:p>
            <a:r>
              <a:rPr lang="en-US" dirty="0"/>
              <a:t>IP-</a:t>
            </a:r>
            <a:r>
              <a:rPr lang="en-US" dirty="0" err="1"/>
              <a:t>routering</a:t>
            </a:r>
            <a:r>
              <a:rPr lang="en-US" dirty="0"/>
              <a:t> – Dynamic routing</a:t>
            </a:r>
            <a:endParaRPr lang="LID4096" dirty="0"/>
          </a:p>
        </p:txBody>
      </p:sp>
      <p:pic>
        <p:nvPicPr>
          <p:cNvPr id="4" name="Picture 4" descr="Router Down Clip Art at Clker.com - vector clip art online, royalty free &amp;  public domain">
            <a:extLst>
              <a:ext uri="{FF2B5EF4-FFF2-40B4-BE49-F238E27FC236}">
                <a16:creationId xmlns:a16="http://schemas.microsoft.com/office/drawing/2014/main" id="{630943A4-BC4B-8D3F-F663-9155881830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1786" y="2410623"/>
            <a:ext cx="1169598" cy="77778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7" descr="http://vignette3.wikia.nocookie.net/gtawiki/images/c/c9/Computer_Icon.png/revision/latest?cb=20100421004434">
            <a:extLst>
              <a:ext uri="{FF2B5EF4-FFF2-40B4-BE49-F238E27FC236}">
                <a16:creationId xmlns:a16="http://schemas.microsoft.com/office/drawing/2014/main" id="{1B0D89B5-2A05-647D-C848-B3EA91C69F8B}"/>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72930" y="3638160"/>
            <a:ext cx="1039663" cy="1017616"/>
          </a:xfrm>
          <a:prstGeom prst="rect">
            <a:avLst/>
          </a:prstGeom>
          <a:noFill/>
          <a:ln>
            <a:noFill/>
          </a:ln>
        </p:spPr>
      </p:pic>
      <p:pic>
        <p:nvPicPr>
          <p:cNvPr id="6" name="Picture 4" descr="Router Down Clip Art at Clker.com - vector clip art online, royalty free &amp;  public domain">
            <a:extLst>
              <a:ext uri="{FF2B5EF4-FFF2-40B4-BE49-F238E27FC236}">
                <a16:creationId xmlns:a16="http://schemas.microsoft.com/office/drawing/2014/main" id="{3C861ADD-AA0B-DF54-DAAE-18CD25A8696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7116" y="4410542"/>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er Down Clip Art at Clker.com - vector clip art online, royalty free &amp;  public domain">
            <a:extLst>
              <a:ext uri="{FF2B5EF4-FFF2-40B4-BE49-F238E27FC236}">
                <a16:creationId xmlns:a16="http://schemas.microsoft.com/office/drawing/2014/main" id="{F6AABB53-32E2-C8E5-A050-8CA2988DDE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57761" y="3262826"/>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outer Down Clip Art at Clker.com - vector clip art online, royalty free &amp;  public domain">
            <a:extLst>
              <a:ext uri="{FF2B5EF4-FFF2-40B4-BE49-F238E27FC236}">
                <a16:creationId xmlns:a16="http://schemas.microsoft.com/office/drawing/2014/main" id="{EE4581F9-878A-FF3D-650C-FB03EDE0406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6596" y="2262419"/>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Router Down Clip Art at Clker.com - vector clip art online, royalty free &amp;  public domain">
            <a:extLst>
              <a:ext uri="{FF2B5EF4-FFF2-40B4-BE49-F238E27FC236}">
                <a16:creationId xmlns:a16="http://schemas.microsoft.com/office/drawing/2014/main" id="{0BDD7411-9ABB-FE94-F769-562AEFC186C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14148" y="418224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Afbeelding 13">
            <a:extLst>
              <a:ext uri="{FF2B5EF4-FFF2-40B4-BE49-F238E27FC236}">
                <a16:creationId xmlns:a16="http://schemas.microsoft.com/office/drawing/2014/main" id="{8E5B6419-57E2-0986-A296-7936B58D566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42134" y="2224096"/>
            <a:ext cx="1928619" cy="1928619"/>
          </a:xfrm>
          <a:prstGeom prst="rect">
            <a:avLst/>
          </a:prstGeom>
        </p:spPr>
      </p:pic>
      <p:cxnSp>
        <p:nvCxnSpPr>
          <p:cNvPr id="11" name="Rechte verbindingslijn 14">
            <a:extLst>
              <a:ext uri="{FF2B5EF4-FFF2-40B4-BE49-F238E27FC236}">
                <a16:creationId xmlns:a16="http://schemas.microsoft.com/office/drawing/2014/main" id="{B61C9C04-0BC9-66C7-41E8-4D1B18F84230}"/>
              </a:ext>
            </a:extLst>
          </p:cNvPr>
          <p:cNvCxnSpPr/>
          <p:nvPr/>
        </p:nvCxnSpPr>
        <p:spPr>
          <a:xfrm flipV="1">
            <a:off x="2512593" y="3013088"/>
            <a:ext cx="800101" cy="7211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2" name="Rechte verbindingslijn 16">
            <a:extLst>
              <a:ext uri="{FF2B5EF4-FFF2-40B4-BE49-F238E27FC236}">
                <a16:creationId xmlns:a16="http://schemas.microsoft.com/office/drawing/2014/main" id="{6EB3C14E-A493-62CC-629B-6920EEE06BAB}"/>
              </a:ext>
            </a:extLst>
          </p:cNvPr>
          <p:cNvCxnSpPr/>
          <p:nvPr/>
        </p:nvCxnSpPr>
        <p:spPr>
          <a:xfrm flipH="1" flipV="1">
            <a:off x="3927583" y="3078361"/>
            <a:ext cx="333801" cy="125830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3" name="Rechte verbindingslijn 18">
            <a:extLst>
              <a:ext uri="{FF2B5EF4-FFF2-40B4-BE49-F238E27FC236}">
                <a16:creationId xmlns:a16="http://schemas.microsoft.com/office/drawing/2014/main" id="{0E55E849-5E78-0D8E-406B-1992E0D9DA89}"/>
              </a:ext>
            </a:extLst>
          </p:cNvPr>
          <p:cNvCxnSpPr/>
          <p:nvPr/>
        </p:nvCxnSpPr>
        <p:spPr>
          <a:xfrm flipV="1">
            <a:off x="4904219" y="3834180"/>
            <a:ext cx="715041" cy="61724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4" name="Rechte verbindingslijn 20">
            <a:extLst>
              <a:ext uri="{FF2B5EF4-FFF2-40B4-BE49-F238E27FC236}">
                <a16:creationId xmlns:a16="http://schemas.microsoft.com/office/drawing/2014/main" id="{9EF9C275-6F8B-5B66-CD64-AFBDE795BE0F}"/>
              </a:ext>
            </a:extLst>
          </p:cNvPr>
          <p:cNvCxnSpPr/>
          <p:nvPr/>
        </p:nvCxnSpPr>
        <p:spPr>
          <a:xfrm flipV="1">
            <a:off x="6488790" y="2824897"/>
            <a:ext cx="894661" cy="4968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5" name="Rechte verbindingslijn 23">
            <a:extLst>
              <a:ext uri="{FF2B5EF4-FFF2-40B4-BE49-F238E27FC236}">
                <a16:creationId xmlns:a16="http://schemas.microsoft.com/office/drawing/2014/main" id="{F6293997-8C72-F88C-F260-A216FD10870F}"/>
              </a:ext>
            </a:extLst>
          </p:cNvPr>
          <p:cNvCxnSpPr/>
          <p:nvPr/>
        </p:nvCxnSpPr>
        <p:spPr>
          <a:xfrm>
            <a:off x="7955832" y="2936270"/>
            <a:ext cx="140245" cy="120653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6" name="Rechte verbindingslijn 25">
            <a:extLst>
              <a:ext uri="{FF2B5EF4-FFF2-40B4-BE49-F238E27FC236}">
                <a16:creationId xmlns:a16="http://schemas.microsoft.com/office/drawing/2014/main" id="{1B2FBA47-3140-09BC-20AD-BF2E3C42E09C}"/>
              </a:ext>
            </a:extLst>
          </p:cNvPr>
          <p:cNvCxnSpPr/>
          <p:nvPr/>
        </p:nvCxnSpPr>
        <p:spPr>
          <a:xfrm flipH="1">
            <a:off x="8711924" y="3707513"/>
            <a:ext cx="860421" cy="60326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pic>
        <p:nvPicPr>
          <p:cNvPr id="17" name="Picture 4" descr="Router Down Clip Art at Clker.com - vector clip art online, royalty free &amp;  public domain">
            <a:extLst>
              <a:ext uri="{FF2B5EF4-FFF2-40B4-BE49-F238E27FC236}">
                <a16:creationId xmlns:a16="http://schemas.microsoft.com/office/drawing/2014/main" id="{523D68DA-3BC9-338E-C512-4FCC82B2674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0632" y="4641751"/>
            <a:ext cx="1169598" cy="750668"/>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Rechte verbindingslijn 18">
            <a:extLst>
              <a:ext uri="{FF2B5EF4-FFF2-40B4-BE49-F238E27FC236}">
                <a16:creationId xmlns:a16="http://schemas.microsoft.com/office/drawing/2014/main" id="{08D8919D-C40D-7775-D813-21C2C26EEC40}"/>
              </a:ext>
            </a:extLst>
          </p:cNvPr>
          <p:cNvCxnSpPr>
            <a:cxnSpLocks/>
            <a:stCxn id="6" idx="3"/>
            <a:endCxn id="17" idx="1"/>
          </p:cNvCxnSpPr>
          <p:nvPr/>
        </p:nvCxnSpPr>
        <p:spPr>
          <a:xfrm>
            <a:off x="4996714" y="4785876"/>
            <a:ext cx="723918" cy="231209"/>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21" name="Rechte verbindingslijn 18">
            <a:extLst>
              <a:ext uri="{FF2B5EF4-FFF2-40B4-BE49-F238E27FC236}">
                <a16:creationId xmlns:a16="http://schemas.microsoft.com/office/drawing/2014/main" id="{CB0E005D-CF7D-5183-A847-FCD3B445D7A9}"/>
              </a:ext>
            </a:extLst>
          </p:cNvPr>
          <p:cNvCxnSpPr>
            <a:cxnSpLocks/>
            <a:stCxn id="17" idx="3"/>
            <a:endCxn id="9" idx="1"/>
          </p:cNvCxnSpPr>
          <p:nvPr/>
        </p:nvCxnSpPr>
        <p:spPr>
          <a:xfrm flipV="1">
            <a:off x="6890230" y="4557574"/>
            <a:ext cx="723918" cy="45951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pic>
        <p:nvPicPr>
          <p:cNvPr id="20" name="Picture 19" descr="Package - Download free icons">
            <a:extLst>
              <a:ext uri="{FF2B5EF4-FFF2-40B4-BE49-F238E27FC236}">
                <a16:creationId xmlns:a16="http://schemas.microsoft.com/office/drawing/2014/main" id="{87E4DD0F-11E3-04E8-2BD8-0B26C3A54A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98947" y="4724446"/>
            <a:ext cx="934492" cy="934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4871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1CC40-EE9E-D6FC-88FB-475AA5A8A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62CD6-5855-0910-D86D-4A30E22F0F2F}"/>
              </a:ext>
            </a:extLst>
          </p:cNvPr>
          <p:cNvSpPr>
            <a:spLocks noGrp="1"/>
          </p:cNvSpPr>
          <p:nvPr>
            <p:ph type="title"/>
          </p:nvPr>
        </p:nvSpPr>
        <p:spPr/>
        <p:txBody>
          <a:bodyPr/>
          <a:lstStyle/>
          <a:p>
            <a:r>
              <a:rPr lang="en-US" dirty="0"/>
              <a:t>IP-</a:t>
            </a:r>
            <a:r>
              <a:rPr lang="en-US" dirty="0" err="1"/>
              <a:t>routering</a:t>
            </a:r>
            <a:r>
              <a:rPr lang="en-US" dirty="0"/>
              <a:t> – Dynamic routing</a:t>
            </a:r>
            <a:endParaRPr lang="LID4096" dirty="0"/>
          </a:p>
        </p:txBody>
      </p:sp>
      <p:pic>
        <p:nvPicPr>
          <p:cNvPr id="4" name="Picture 4" descr="Router Down Clip Art at Clker.com - vector clip art online, royalty free &amp;  public domain">
            <a:extLst>
              <a:ext uri="{FF2B5EF4-FFF2-40B4-BE49-F238E27FC236}">
                <a16:creationId xmlns:a16="http://schemas.microsoft.com/office/drawing/2014/main" id="{12DA244E-5643-B1CC-33C0-6C7E286BB50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1786" y="2410623"/>
            <a:ext cx="1169598" cy="777783"/>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7" descr="http://vignette3.wikia.nocookie.net/gtawiki/images/c/c9/Computer_Icon.png/revision/latest?cb=20100421004434">
            <a:extLst>
              <a:ext uri="{FF2B5EF4-FFF2-40B4-BE49-F238E27FC236}">
                <a16:creationId xmlns:a16="http://schemas.microsoft.com/office/drawing/2014/main" id="{E9B5C3D5-C10A-D325-8531-A36B690A844F}"/>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472930" y="3638160"/>
            <a:ext cx="1039663" cy="1017616"/>
          </a:xfrm>
          <a:prstGeom prst="rect">
            <a:avLst/>
          </a:prstGeom>
          <a:noFill/>
          <a:ln>
            <a:noFill/>
          </a:ln>
        </p:spPr>
      </p:pic>
      <p:pic>
        <p:nvPicPr>
          <p:cNvPr id="6" name="Picture 4" descr="Router Down Clip Art at Clker.com - vector clip art online, royalty free &amp;  public domain">
            <a:extLst>
              <a:ext uri="{FF2B5EF4-FFF2-40B4-BE49-F238E27FC236}">
                <a16:creationId xmlns:a16="http://schemas.microsoft.com/office/drawing/2014/main" id="{36A5A54A-81BB-576F-66B8-EA42D38F69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27116" y="4410542"/>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outer Down Clip Art at Clker.com - vector clip art online, royalty free &amp;  public domain">
            <a:extLst>
              <a:ext uri="{FF2B5EF4-FFF2-40B4-BE49-F238E27FC236}">
                <a16:creationId xmlns:a16="http://schemas.microsoft.com/office/drawing/2014/main" id="{C027DAF8-9CF8-8DF9-EF06-B787A31CA5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57761" y="3262826"/>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Router Down Clip Art at Clker.com - vector clip art online, royalty free &amp;  public domain">
            <a:extLst>
              <a:ext uri="{FF2B5EF4-FFF2-40B4-BE49-F238E27FC236}">
                <a16:creationId xmlns:a16="http://schemas.microsoft.com/office/drawing/2014/main" id="{9690CDDE-337E-F4B7-8DAF-9DE2DE6C45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6596" y="2262419"/>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Router Down Clip Art at Clker.com - vector clip art online, royalty free &amp;  public domain">
            <a:extLst>
              <a:ext uri="{FF2B5EF4-FFF2-40B4-BE49-F238E27FC236}">
                <a16:creationId xmlns:a16="http://schemas.microsoft.com/office/drawing/2014/main" id="{71ED2FED-5BC4-F8ED-0155-E1CF31AD59E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14148" y="418224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0" name="Afbeelding 13">
            <a:extLst>
              <a:ext uri="{FF2B5EF4-FFF2-40B4-BE49-F238E27FC236}">
                <a16:creationId xmlns:a16="http://schemas.microsoft.com/office/drawing/2014/main" id="{F76774F7-2CC9-6FD4-EDD7-9C3883D1B86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42134" y="2224096"/>
            <a:ext cx="1928619" cy="1928619"/>
          </a:xfrm>
          <a:prstGeom prst="rect">
            <a:avLst/>
          </a:prstGeom>
        </p:spPr>
      </p:pic>
      <p:cxnSp>
        <p:nvCxnSpPr>
          <p:cNvPr id="11" name="Rechte verbindingslijn 14">
            <a:extLst>
              <a:ext uri="{FF2B5EF4-FFF2-40B4-BE49-F238E27FC236}">
                <a16:creationId xmlns:a16="http://schemas.microsoft.com/office/drawing/2014/main" id="{CAD439EC-C96B-8E04-923B-FFAE087511FE}"/>
              </a:ext>
            </a:extLst>
          </p:cNvPr>
          <p:cNvCxnSpPr/>
          <p:nvPr/>
        </p:nvCxnSpPr>
        <p:spPr>
          <a:xfrm flipV="1">
            <a:off x="2512593" y="3013088"/>
            <a:ext cx="800101" cy="7211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2" name="Rechte verbindingslijn 16">
            <a:extLst>
              <a:ext uri="{FF2B5EF4-FFF2-40B4-BE49-F238E27FC236}">
                <a16:creationId xmlns:a16="http://schemas.microsoft.com/office/drawing/2014/main" id="{B89CBF74-6CBC-EE2F-BF85-15175434159F}"/>
              </a:ext>
            </a:extLst>
          </p:cNvPr>
          <p:cNvCxnSpPr/>
          <p:nvPr/>
        </p:nvCxnSpPr>
        <p:spPr>
          <a:xfrm flipH="1" flipV="1">
            <a:off x="3927583" y="3078361"/>
            <a:ext cx="333801" cy="125830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3" name="Rechte verbindingslijn 18">
            <a:extLst>
              <a:ext uri="{FF2B5EF4-FFF2-40B4-BE49-F238E27FC236}">
                <a16:creationId xmlns:a16="http://schemas.microsoft.com/office/drawing/2014/main" id="{C5199925-30FF-C5CA-1BED-37C5EC4A29E0}"/>
              </a:ext>
            </a:extLst>
          </p:cNvPr>
          <p:cNvCxnSpPr/>
          <p:nvPr/>
        </p:nvCxnSpPr>
        <p:spPr>
          <a:xfrm flipV="1">
            <a:off x="4904219" y="3834180"/>
            <a:ext cx="715041" cy="61724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4" name="Rechte verbindingslijn 20">
            <a:extLst>
              <a:ext uri="{FF2B5EF4-FFF2-40B4-BE49-F238E27FC236}">
                <a16:creationId xmlns:a16="http://schemas.microsoft.com/office/drawing/2014/main" id="{36CA30BE-E3E6-9C7E-198F-D1509EFBB342}"/>
              </a:ext>
            </a:extLst>
          </p:cNvPr>
          <p:cNvCxnSpPr/>
          <p:nvPr/>
        </p:nvCxnSpPr>
        <p:spPr>
          <a:xfrm flipV="1">
            <a:off x="6488790" y="2824897"/>
            <a:ext cx="894661" cy="49681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5" name="Rechte verbindingslijn 23">
            <a:extLst>
              <a:ext uri="{FF2B5EF4-FFF2-40B4-BE49-F238E27FC236}">
                <a16:creationId xmlns:a16="http://schemas.microsoft.com/office/drawing/2014/main" id="{CB2C1946-6E74-DE0F-ECAB-6C96BC891B58}"/>
              </a:ext>
            </a:extLst>
          </p:cNvPr>
          <p:cNvCxnSpPr/>
          <p:nvPr/>
        </p:nvCxnSpPr>
        <p:spPr>
          <a:xfrm>
            <a:off x="7955832" y="2936270"/>
            <a:ext cx="140245" cy="120653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6" name="Rechte verbindingslijn 25">
            <a:extLst>
              <a:ext uri="{FF2B5EF4-FFF2-40B4-BE49-F238E27FC236}">
                <a16:creationId xmlns:a16="http://schemas.microsoft.com/office/drawing/2014/main" id="{09B7B945-0FF9-F63B-348E-805AFD82F871}"/>
              </a:ext>
            </a:extLst>
          </p:cNvPr>
          <p:cNvCxnSpPr/>
          <p:nvPr/>
        </p:nvCxnSpPr>
        <p:spPr>
          <a:xfrm flipH="1">
            <a:off x="8711924" y="3707513"/>
            <a:ext cx="860421" cy="603265"/>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pic>
        <p:nvPicPr>
          <p:cNvPr id="17" name="Picture 4" descr="Router Down Clip Art at Clker.com - vector clip art online, royalty free &amp;  public domain">
            <a:extLst>
              <a:ext uri="{FF2B5EF4-FFF2-40B4-BE49-F238E27FC236}">
                <a16:creationId xmlns:a16="http://schemas.microsoft.com/office/drawing/2014/main" id="{27CD907B-B853-DA33-AAAD-D1E85184527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0632" y="4641751"/>
            <a:ext cx="1169598" cy="750668"/>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Rechte verbindingslijn 18">
            <a:extLst>
              <a:ext uri="{FF2B5EF4-FFF2-40B4-BE49-F238E27FC236}">
                <a16:creationId xmlns:a16="http://schemas.microsoft.com/office/drawing/2014/main" id="{2E0CDE7F-5978-BF9F-1A19-02DE3F3CC3F3}"/>
              </a:ext>
            </a:extLst>
          </p:cNvPr>
          <p:cNvCxnSpPr>
            <a:cxnSpLocks/>
            <a:stCxn id="6" idx="3"/>
            <a:endCxn id="17" idx="1"/>
          </p:cNvCxnSpPr>
          <p:nvPr/>
        </p:nvCxnSpPr>
        <p:spPr>
          <a:xfrm>
            <a:off x="4996714" y="4785876"/>
            <a:ext cx="723918" cy="231209"/>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21" name="Rechte verbindingslijn 18">
            <a:extLst>
              <a:ext uri="{FF2B5EF4-FFF2-40B4-BE49-F238E27FC236}">
                <a16:creationId xmlns:a16="http://schemas.microsoft.com/office/drawing/2014/main" id="{FE5E0EC5-1157-C43F-4838-A94DD21E1D4F}"/>
              </a:ext>
            </a:extLst>
          </p:cNvPr>
          <p:cNvCxnSpPr>
            <a:cxnSpLocks/>
            <a:stCxn id="17" idx="3"/>
            <a:endCxn id="9" idx="1"/>
          </p:cNvCxnSpPr>
          <p:nvPr/>
        </p:nvCxnSpPr>
        <p:spPr>
          <a:xfrm flipV="1">
            <a:off x="6890230" y="4557574"/>
            <a:ext cx="723918" cy="459511"/>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pic>
        <p:nvPicPr>
          <p:cNvPr id="20" name="Picture 19" descr="Package - Download free icons">
            <a:extLst>
              <a:ext uri="{FF2B5EF4-FFF2-40B4-BE49-F238E27FC236}">
                <a16:creationId xmlns:a16="http://schemas.microsoft.com/office/drawing/2014/main" id="{54F9CEB2-7905-0472-0321-CFBB0C1828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6471" y="3675555"/>
            <a:ext cx="934492" cy="934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7137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2A357-1183-17BD-A072-7ABD75992746}"/>
              </a:ext>
            </a:extLst>
          </p:cNvPr>
          <p:cNvSpPr>
            <a:spLocks noGrp="1"/>
          </p:cNvSpPr>
          <p:nvPr>
            <p:ph type="title"/>
          </p:nvPr>
        </p:nvSpPr>
        <p:spPr/>
        <p:txBody>
          <a:bodyPr/>
          <a:lstStyle/>
          <a:p>
            <a:r>
              <a:rPr lang="en-US" dirty="0"/>
              <a:t>IP-</a:t>
            </a:r>
            <a:r>
              <a:rPr lang="en-US" dirty="0" err="1"/>
              <a:t>routering</a:t>
            </a:r>
            <a:r>
              <a:rPr lang="en-US" dirty="0"/>
              <a:t> – Dynamic routing</a:t>
            </a:r>
            <a:endParaRPr lang="LID4096" dirty="0"/>
          </a:p>
        </p:txBody>
      </p:sp>
      <p:pic>
        <p:nvPicPr>
          <p:cNvPr id="4" name="Picture 2" descr="Table - Free shapes icons">
            <a:extLst>
              <a:ext uri="{FF2B5EF4-FFF2-40B4-BE49-F238E27FC236}">
                <a16:creationId xmlns:a16="http://schemas.microsoft.com/office/drawing/2014/main" id="{29FA9E10-CE3F-4717-7BE9-882921FB49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8799" y="3077374"/>
            <a:ext cx="2919095" cy="291909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Router Down Clip Art at Clker.com - vector clip art online, royalty free &amp;  public domain">
            <a:extLst>
              <a:ext uri="{FF2B5EF4-FFF2-40B4-BE49-F238E27FC236}">
                <a16:creationId xmlns:a16="http://schemas.microsoft.com/office/drawing/2014/main" id="{D97FC477-704C-1478-1CA8-2BB434B7810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69850" y="2014892"/>
            <a:ext cx="3278497" cy="2180202"/>
          </a:xfrm>
          <a:prstGeom prst="rect">
            <a:avLst/>
          </a:prstGeom>
          <a:noFill/>
          <a:extLst>
            <a:ext uri="{909E8E84-426E-40DD-AFC4-6F175D3DCCD1}">
              <a14:hiddenFill xmlns:a14="http://schemas.microsoft.com/office/drawing/2010/main">
                <a:solidFill>
                  <a:srgbClr val="FFFFFF"/>
                </a:solidFill>
              </a14:hiddenFill>
            </a:ext>
          </a:extLst>
        </p:spPr>
      </p:pic>
      <p:sp>
        <p:nvSpPr>
          <p:cNvPr id="6" name="Tekstvak 11">
            <a:extLst>
              <a:ext uri="{FF2B5EF4-FFF2-40B4-BE49-F238E27FC236}">
                <a16:creationId xmlns:a16="http://schemas.microsoft.com/office/drawing/2014/main" id="{FCD735CB-083F-903C-94A9-EE2FC816A7BF}"/>
              </a:ext>
            </a:extLst>
          </p:cNvPr>
          <p:cNvSpPr txBox="1"/>
          <p:nvPr/>
        </p:nvSpPr>
        <p:spPr>
          <a:xfrm>
            <a:off x="4249154" y="3340455"/>
            <a:ext cx="9925050" cy="923330"/>
          </a:xfrm>
          <a:prstGeom prst="rect">
            <a:avLst/>
          </a:prstGeom>
          <a:noFill/>
        </p:spPr>
        <p:txBody>
          <a:bodyPr wrap="square" rtlCol="0">
            <a:spAutoFit/>
          </a:bodyPr>
          <a:lstStyle/>
          <a:p>
            <a:pPr algn="ctr"/>
            <a:r>
              <a:rPr lang="nl-BE" sz="5400" dirty="0">
                <a:latin typeface="Barlow Condensed" panose="00000506000000000000" pitchFamily="2" charset="0"/>
              </a:rPr>
              <a:t>routing </a:t>
            </a:r>
            <a:r>
              <a:rPr lang="nl-BE" sz="5400" dirty="0" err="1">
                <a:latin typeface="Barlow Condensed" panose="00000506000000000000" pitchFamily="2" charset="0"/>
              </a:rPr>
              <a:t>table</a:t>
            </a:r>
            <a:endParaRPr lang="nl-BE" sz="5400" dirty="0">
              <a:latin typeface="Barlow Condensed" panose="00000506000000000000" pitchFamily="2" charset="0"/>
            </a:endParaRPr>
          </a:p>
        </p:txBody>
      </p:sp>
    </p:spTree>
    <p:extLst>
      <p:ext uri="{BB962C8B-B14F-4D97-AF65-F5344CB8AC3E}">
        <p14:creationId xmlns:p14="http://schemas.microsoft.com/office/powerpoint/2010/main" val="82303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par>
                          <p:cTn id="11" fill="hold">
                            <p:stCondLst>
                              <p:cond delay="500"/>
                            </p:stCondLst>
                            <p:childTnLst>
                              <p:par>
                                <p:cTn id="12" presetID="10" presetClass="entr" presetSubtype="0" fill="hold" grpId="0" nodeType="afterEffect">
                                  <p:stCondLst>
                                    <p:cond delay="75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26239-9194-3AC0-63B0-1E7CFE44CC03}"/>
              </a:ext>
            </a:extLst>
          </p:cNvPr>
          <p:cNvSpPr>
            <a:spLocks noGrp="1"/>
          </p:cNvSpPr>
          <p:nvPr>
            <p:ph type="title"/>
          </p:nvPr>
        </p:nvSpPr>
        <p:spPr/>
        <p:txBody>
          <a:bodyPr/>
          <a:lstStyle/>
          <a:p>
            <a:r>
              <a:rPr lang="en-US" dirty="0"/>
              <a:t>IP-</a:t>
            </a:r>
            <a:r>
              <a:rPr lang="en-US" dirty="0" err="1"/>
              <a:t>routering</a:t>
            </a:r>
            <a:r>
              <a:rPr lang="en-US" dirty="0"/>
              <a:t> – Distributed adaptive routing</a:t>
            </a:r>
            <a:endParaRPr lang="LID4096" dirty="0"/>
          </a:p>
        </p:txBody>
      </p:sp>
      <p:cxnSp>
        <p:nvCxnSpPr>
          <p:cNvPr id="4" name="Rechte verbindingslijn met pijl 10">
            <a:extLst>
              <a:ext uri="{FF2B5EF4-FFF2-40B4-BE49-F238E27FC236}">
                <a16:creationId xmlns:a16="http://schemas.microsoft.com/office/drawing/2014/main" id="{CBBB9D5D-DDA5-CCD4-38C1-D67838730871}"/>
              </a:ext>
            </a:extLst>
          </p:cNvPr>
          <p:cNvCxnSpPr/>
          <p:nvPr/>
        </p:nvCxnSpPr>
        <p:spPr>
          <a:xfrm flipH="1">
            <a:off x="4208143" y="2481967"/>
            <a:ext cx="831548" cy="858581"/>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cxnSp>
        <p:nvCxnSpPr>
          <p:cNvPr id="5" name="Rechte verbindingslijn met pijl 11">
            <a:extLst>
              <a:ext uri="{FF2B5EF4-FFF2-40B4-BE49-F238E27FC236}">
                <a16:creationId xmlns:a16="http://schemas.microsoft.com/office/drawing/2014/main" id="{A87C334B-731A-0674-6BA0-73CAF0F598DF}"/>
              </a:ext>
            </a:extLst>
          </p:cNvPr>
          <p:cNvCxnSpPr/>
          <p:nvPr/>
        </p:nvCxnSpPr>
        <p:spPr>
          <a:xfrm>
            <a:off x="4020748" y="4046162"/>
            <a:ext cx="311450" cy="1130123"/>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cxnSp>
        <p:nvCxnSpPr>
          <p:cNvPr id="6" name="Rechte verbindingslijn met pijl 15">
            <a:extLst>
              <a:ext uri="{FF2B5EF4-FFF2-40B4-BE49-F238E27FC236}">
                <a16:creationId xmlns:a16="http://schemas.microsoft.com/office/drawing/2014/main" id="{B64E8B9B-C31C-56A1-413D-3A4C2DE6D23F}"/>
              </a:ext>
            </a:extLst>
          </p:cNvPr>
          <p:cNvCxnSpPr/>
          <p:nvPr/>
        </p:nvCxnSpPr>
        <p:spPr>
          <a:xfrm>
            <a:off x="6070025" y="2419954"/>
            <a:ext cx="980798" cy="954499"/>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cxnSp>
        <p:nvCxnSpPr>
          <p:cNvPr id="7" name="Rechte verbindingslijn met pijl 16">
            <a:extLst>
              <a:ext uri="{FF2B5EF4-FFF2-40B4-BE49-F238E27FC236}">
                <a16:creationId xmlns:a16="http://schemas.microsoft.com/office/drawing/2014/main" id="{BF769ABC-1E68-F515-D999-D6BA1F53D9D2}"/>
              </a:ext>
            </a:extLst>
          </p:cNvPr>
          <p:cNvCxnSpPr/>
          <p:nvPr/>
        </p:nvCxnSpPr>
        <p:spPr>
          <a:xfrm flipH="1">
            <a:off x="7050823" y="4035963"/>
            <a:ext cx="311982" cy="1140322"/>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cxnSp>
        <p:nvCxnSpPr>
          <p:cNvPr id="8" name="Rechte verbindingslijn met pijl 17">
            <a:extLst>
              <a:ext uri="{FF2B5EF4-FFF2-40B4-BE49-F238E27FC236}">
                <a16:creationId xmlns:a16="http://schemas.microsoft.com/office/drawing/2014/main" id="{34B4494A-EFB0-A650-AF77-6CD2AF212924}"/>
              </a:ext>
            </a:extLst>
          </p:cNvPr>
          <p:cNvCxnSpPr/>
          <p:nvPr/>
        </p:nvCxnSpPr>
        <p:spPr>
          <a:xfrm flipV="1">
            <a:off x="5042895" y="5610124"/>
            <a:ext cx="1278650" cy="13317"/>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cxnSp>
        <p:nvCxnSpPr>
          <p:cNvPr id="9" name="Rechte verbindingslijn met pijl 18">
            <a:extLst>
              <a:ext uri="{FF2B5EF4-FFF2-40B4-BE49-F238E27FC236}">
                <a16:creationId xmlns:a16="http://schemas.microsoft.com/office/drawing/2014/main" id="{3C9E74A0-77A0-8CB3-64B4-23F074FEA18D}"/>
              </a:ext>
            </a:extLst>
          </p:cNvPr>
          <p:cNvCxnSpPr/>
          <p:nvPr/>
        </p:nvCxnSpPr>
        <p:spPr>
          <a:xfrm>
            <a:off x="4333847" y="3650045"/>
            <a:ext cx="2588934" cy="45315"/>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cxnSp>
        <p:nvCxnSpPr>
          <p:cNvPr id="10" name="Rechte verbindingslijn met pijl 19">
            <a:extLst>
              <a:ext uri="{FF2B5EF4-FFF2-40B4-BE49-F238E27FC236}">
                <a16:creationId xmlns:a16="http://schemas.microsoft.com/office/drawing/2014/main" id="{A267D899-1744-0E56-48D9-77913F82093B}"/>
              </a:ext>
            </a:extLst>
          </p:cNvPr>
          <p:cNvCxnSpPr/>
          <p:nvPr/>
        </p:nvCxnSpPr>
        <p:spPr>
          <a:xfrm flipH="1">
            <a:off x="4936107" y="3973127"/>
            <a:ext cx="1986674" cy="1311359"/>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cxnSp>
        <p:nvCxnSpPr>
          <p:cNvPr id="11" name="Rechte verbindingslijn met pijl 20">
            <a:extLst>
              <a:ext uri="{FF2B5EF4-FFF2-40B4-BE49-F238E27FC236}">
                <a16:creationId xmlns:a16="http://schemas.microsoft.com/office/drawing/2014/main" id="{91585717-F9EE-BDE4-DD07-CA8C554FC6C4}"/>
              </a:ext>
            </a:extLst>
          </p:cNvPr>
          <p:cNvCxnSpPr/>
          <p:nvPr/>
        </p:nvCxnSpPr>
        <p:spPr>
          <a:xfrm flipH="1">
            <a:off x="4674904" y="2626602"/>
            <a:ext cx="687629" cy="2544742"/>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pic>
        <p:nvPicPr>
          <p:cNvPr id="12" name="Picture 4" descr="Router Down Clip Art at Clker.com - vector clip art online, royalty free &amp;  public domain">
            <a:extLst>
              <a:ext uri="{FF2B5EF4-FFF2-40B4-BE49-F238E27FC236}">
                <a16:creationId xmlns:a16="http://schemas.microsoft.com/office/drawing/2014/main" id="{A001693A-B540-85AE-F363-0BEF8843DD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62715" y="3354944"/>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Router Down Clip Art at Clker.com - vector clip art online, royalty free &amp;  public domain">
            <a:extLst>
              <a:ext uri="{FF2B5EF4-FFF2-40B4-BE49-F238E27FC236}">
                <a16:creationId xmlns:a16="http://schemas.microsoft.com/office/drawing/2014/main" id="{5BD5807A-0556-0F97-B595-E6544319AC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70093" y="5350047"/>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Router Down Clip Art at Clker.com - vector clip art online, royalty free &amp;  public domain">
            <a:extLst>
              <a:ext uri="{FF2B5EF4-FFF2-40B4-BE49-F238E27FC236}">
                <a16:creationId xmlns:a16="http://schemas.microsoft.com/office/drawing/2014/main" id="{37832D7D-45B7-8AC8-3709-0F895C5FD26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21545" y="5311553"/>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Router Down Clip Art at Clker.com - vector clip art online, royalty free &amp;  public domain">
            <a:extLst>
              <a:ext uri="{FF2B5EF4-FFF2-40B4-BE49-F238E27FC236}">
                <a16:creationId xmlns:a16="http://schemas.microsoft.com/office/drawing/2014/main" id="{FA4E73BE-E1BA-1B90-6562-72D7C916AC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22781" y="3354944"/>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Router Down Clip Art at Clker.com - vector clip art online, royalty free &amp;  public domain">
            <a:extLst>
              <a:ext uri="{FF2B5EF4-FFF2-40B4-BE49-F238E27FC236}">
                <a16:creationId xmlns:a16="http://schemas.microsoft.com/office/drawing/2014/main" id="{533BE5C2-07EE-2098-F9ED-5DA0892B1E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6402" y="1875934"/>
            <a:ext cx="1169598" cy="750668"/>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Rechte verbindingslijn met pijl 33">
            <a:extLst>
              <a:ext uri="{FF2B5EF4-FFF2-40B4-BE49-F238E27FC236}">
                <a16:creationId xmlns:a16="http://schemas.microsoft.com/office/drawing/2014/main" id="{C75604BF-6BCC-2831-2681-B7BF6E8B0F6B}"/>
              </a:ext>
            </a:extLst>
          </p:cNvPr>
          <p:cNvCxnSpPr/>
          <p:nvPr/>
        </p:nvCxnSpPr>
        <p:spPr>
          <a:xfrm>
            <a:off x="5727319" y="2596195"/>
            <a:ext cx="969917" cy="2575149"/>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cxnSp>
        <p:nvCxnSpPr>
          <p:cNvPr id="18" name="Rechte verbindingslijn met pijl 37">
            <a:extLst>
              <a:ext uri="{FF2B5EF4-FFF2-40B4-BE49-F238E27FC236}">
                <a16:creationId xmlns:a16="http://schemas.microsoft.com/office/drawing/2014/main" id="{A1C3B76E-94B9-75D1-08AC-508ED9B5F810}"/>
              </a:ext>
            </a:extLst>
          </p:cNvPr>
          <p:cNvCxnSpPr/>
          <p:nvPr/>
        </p:nvCxnSpPr>
        <p:spPr>
          <a:xfrm flipH="1" flipV="1">
            <a:off x="4251803" y="3952357"/>
            <a:ext cx="2220906" cy="1329926"/>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92542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37099-D0CC-03BD-8C6D-D45496E34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EB316-9147-558D-FB38-8C1EFCDD41C4}"/>
              </a:ext>
            </a:extLst>
          </p:cNvPr>
          <p:cNvSpPr>
            <a:spLocks noGrp="1"/>
          </p:cNvSpPr>
          <p:nvPr>
            <p:ph type="title"/>
          </p:nvPr>
        </p:nvSpPr>
        <p:spPr/>
        <p:txBody>
          <a:bodyPr/>
          <a:lstStyle/>
          <a:p>
            <a:r>
              <a:rPr lang="en-US" dirty="0"/>
              <a:t>IP-</a:t>
            </a:r>
            <a:r>
              <a:rPr lang="en-US" dirty="0" err="1"/>
              <a:t>routering</a:t>
            </a:r>
            <a:r>
              <a:rPr lang="en-US" dirty="0"/>
              <a:t> – Centralized adaptive routing</a:t>
            </a:r>
            <a:endParaRPr lang="LID4096" dirty="0"/>
          </a:p>
        </p:txBody>
      </p:sp>
      <p:cxnSp>
        <p:nvCxnSpPr>
          <p:cNvPr id="3" name="Rechte verbindingslijn met pijl 10">
            <a:extLst>
              <a:ext uri="{FF2B5EF4-FFF2-40B4-BE49-F238E27FC236}">
                <a16:creationId xmlns:a16="http://schemas.microsoft.com/office/drawing/2014/main" id="{DA5BBB5F-CAC6-F61C-D424-10FBEB1BC78E}"/>
              </a:ext>
            </a:extLst>
          </p:cNvPr>
          <p:cNvCxnSpPr/>
          <p:nvPr/>
        </p:nvCxnSpPr>
        <p:spPr>
          <a:xfrm flipH="1">
            <a:off x="5545031" y="2509972"/>
            <a:ext cx="13985" cy="915218"/>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cxnSp>
        <p:nvCxnSpPr>
          <p:cNvPr id="19" name="Rechte verbindingslijn met pijl 11">
            <a:extLst>
              <a:ext uri="{FF2B5EF4-FFF2-40B4-BE49-F238E27FC236}">
                <a16:creationId xmlns:a16="http://schemas.microsoft.com/office/drawing/2014/main" id="{E8390119-D8AB-E899-6B0D-7AA368C48150}"/>
              </a:ext>
            </a:extLst>
          </p:cNvPr>
          <p:cNvCxnSpPr/>
          <p:nvPr/>
        </p:nvCxnSpPr>
        <p:spPr>
          <a:xfrm>
            <a:off x="4285873" y="3673488"/>
            <a:ext cx="795113" cy="187521"/>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cxnSp>
        <p:nvCxnSpPr>
          <p:cNvPr id="20" name="Rechte verbindingslijn met pijl 15">
            <a:extLst>
              <a:ext uri="{FF2B5EF4-FFF2-40B4-BE49-F238E27FC236}">
                <a16:creationId xmlns:a16="http://schemas.microsoft.com/office/drawing/2014/main" id="{955079AA-967E-F490-0E50-D590284D4AB0}"/>
              </a:ext>
            </a:extLst>
          </p:cNvPr>
          <p:cNvCxnSpPr/>
          <p:nvPr/>
        </p:nvCxnSpPr>
        <p:spPr>
          <a:xfrm flipV="1">
            <a:off x="5983526" y="3696620"/>
            <a:ext cx="934784" cy="164389"/>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cxnSp>
        <p:nvCxnSpPr>
          <p:cNvPr id="21" name="Rechte verbindingslijn met pijl 16">
            <a:extLst>
              <a:ext uri="{FF2B5EF4-FFF2-40B4-BE49-F238E27FC236}">
                <a16:creationId xmlns:a16="http://schemas.microsoft.com/office/drawing/2014/main" id="{194FF32C-20DD-848B-2345-54D97DD26D51}"/>
              </a:ext>
            </a:extLst>
          </p:cNvPr>
          <p:cNvCxnSpPr/>
          <p:nvPr/>
        </p:nvCxnSpPr>
        <p:spPr>
          <a:xfrm>
            <a:off x="5805199" y="4344715"/>
            <a:ext cx="645719" cy="934754"/>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cxnSp>
        <p:nvCxnSpPr>
          <p:cNvPr id="22" name="Rechte verbindingslijn met pijl 17">
            <a:extLst>
              <a:ext uri="{FF2B5EF4-FFF2-40B4-BE49-F238E27FC236}">
                <a16:creationId xmlns:a16="http://schemas.microsoft.com/office/drawing/2014/main" id="{1D487008-73AC-AAFC-0A70-7ED1980380E6}"/>
              </a:ext>
            </a:extLst>
          </p:cNvPr>
          <p:cNvCxnSpPr/>
          <p:nvPr/>
        </p:nvCxnSpPr>
        <p:spPr>
          <a:xfrm flipV="1">
            <a:off x="4704876" y="4344715"/>
            <a:ext cx="555330" cy="917792"/>
          </a:xfrm>
          <a:prstGeom prst="straightConnector1">
            <a:avLst/>
          </a:prstGeom>
          <a:ln w="57150">
            <a:solidFill>
              <a:schemeClr val="bg2"/>
            </a:solidFill>
            <a:headEnd type="arrow"/>
            <a:tailEnd type="arrow"/>
          </a:ln>
        </p:spPr>
        <p:style>
          <a:lnRef idx="3">
            <a:schemeClr val="accent1"/>
          </a:lnRef>
          <a:fillRef idx="0">
            <a:schemeClr val="accent1"/>
          </a:fillRef>
          <a:effectRef idx="2">
            <a:schemeClr val="accent1"/>
          </a:effectRef>
          <a:fontRef idx="minor">
            <a:schemeClr val="tx1"/>
          </a:fontRef>
        </p:style>
      </p:cxnSp>
      <p:pic>
        <p:nvPicPr>
          <p:cNvPr id="23" name="Picture 4" descr="Router Down Clip Art at Clker.com - vector clip art online, royalty free &amp;  public domain">
            <a:extLst>
              <a:ext uri="{FF2B5EF4-FFF2-40B4-BE49-F238E27FC236}">
                <a16:creationId xmlns:a16="http://schemas.microsoft.com/office/drawing/2014/main" id="{3429A3C4-5162-8243-2A98-73EDAE36C8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0888" y="332286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Router Down Clip Art at Clker.com - vector clip art online, royalty free &amp;  public domain">
            <a:extLst>
              <a:ext uri="{FF2B5EF4-FFF2-40B4-BE49-F238E27FC236}">
                <a16:creationId xmlns:a16="http://schemas.microsoft.com/office/drawing/2014/main" id="{EC388D83-556B-0022-6E0C-65E2849C8A3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8266" y="5317963"/>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Router Down Clip Art at Clker.com - vector clip art online, royalty free &amp;  public domain">
            <a:extLst>
              <a:ext uri="{FF2B5EF4-FFF2-40B4-BE49-F238E27FC236}">
                <a16:creationId xmlns:a16="http://schemas.microsoft.com/office/drawing/2014/main" id="{AD3689F1-8546-BAFC-BFD0-6AFC0B41DA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79718" y="5279469"/>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Router Down Clip Art at Clker.com - vector clip art online, royalty free &amp;  public domain">
            <a:extLst>
              <a:ext uri="{FF2B5EF4-FFF2-40B4-BE49-F238E27FC236}">
                <a16:creationId xmlns:a16="http://schemas.microsoft.com/office/drawing/2014/main" id="{76522208-D2C4-CA34-EEEE-DE94888AA3D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80954" y="3322860"/>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descr="Router Down Clip Art at Clker.com - vector clip art online, royalty free &amp;  public domain">
            <a:extLst>
              <a:ext uri="{FF2B5EF4-FFF2-40B4-BE49-F238E27FC236}">
                <a16:creationId xmlns:a16="http://schemas.microsoft.com/office/drawing/2014/main" id="{12E0414B-83A8-4EE7-2E4D-052F61439A4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84575" y="1843850"/>
            <a:ext cx="1169598" cy="750668"/>
          </a:xfrm>
          <a:prstGeom prst="rect">
            <a:avLst/>
          </a:prstGeom>
          <a:noFill/>
          <a:extLst>
            <a:ext uri="{909E8E84-426E-40DD-AFC4-6F175D3DCCD1}">
              <a14:hiddenFill xmlns:a14="http://schemas.microsoft.com/office/drawing/2010/main">
                <a:solidFill>
                  <a:srgbClr val="FFFFFF"/>
                </a:solidFill>
              </a14:hiddenFill>
            </a:ext>
          </a:extLst>
        </p:spPr>
      </p:pic>
      <p:sp>
        <p:nvSpPr>
          <p:cNvPr id="28" name="Ovaal 3">
            <a:extLst>
              <a:ext uri="{FF2B5EF4-FFF2-40B4-BE49-F238E27FC236}">
                <a16:creationId xmlns:a16="http://schemas.microsoft.com/office/drawing/2014/main" id="{A003A776-996B-D232-4BBB-41EFE82162D1}"/>
              </a:ext>
            </a:extLst>
          </p:cNvPr>
          <p:cNvSpPr/>
          <p:nvPr/>
        </p:nvSpPr>
        <p:spPr>
          <a:xfrm>
            <a:off x="5179177" y="3562053"/>
            <a:ext cx="759677" cy="78266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1229780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67CD7-7070-AA2B-86E8-3E68B17C6250}"/>
              </a:ext>
            </a:extLst>
          </p:cNvPr>
          <p:cNvSpPr>
            <a:spLocks noGrp="1"/>
          </p:cNvSpPr>
          <p:nvPr>
            <p:ph type="title"/>
          </p:nvPr>
        </p:nvSpPr>
        <p:spPr/>
        <p:txBody>
          <a:bodyPr/>
          <a:lstStyle/>
          <a:p>
            <a:r>
              <a:rPr lang="en-US" dirty="0"/>
              <a:t>Network Address Translation</a:t>
            </a:r>
            <a:endParaRPr lang="LID4096" dirty="0"/>
          </a:p>
        </p:txBody>
      </p:sp>
      <p:pic>
        <p:nvPicPr>
          <p:cNvPr id="4" name="Afbeelding 13" descr="http://vignette3.wikia.nocookie.net/gtawiki/images/c/c9/Computer_Icon.png/revision/latest?cb=20100421004434">
            <a:extLst>
              <a:ext uri="{FF2B5EF4-FFF2-40B4-BE49-F238E27FC236}">
                <a16:creationId xmlns:a16="http://schemas.microsoft.com/office/drawing/2014/main" id="{09106451-7EC2-6381-7CDD-C239C8994BA2}"/>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66143" y="3488234"/>
            <a:ext cx="1039663" cy="1017616"/>
          </a:xfrm>
          <a:prstGeom prst="rect">
            <a:avLst/>
          </a:prstGeom>
          <a:noFill/>
          <a:ln>
            <a:noFill/>
          </a:ln>
        </p:spPr>
      </p:pic>
      <p:pic>
        <p:nvPicPr>
          <p:cNvPr id="5" name="Picture 4" descr="Router Down Clip Art at Clker.com - vector clip art online, royalty free &amp;  public domain">
            <a:extLst>
              <a:ext uri="{FF2B5EF4-FFF2-40B4-BE49-F238E27FC236}">
                <a16:creationId xmlns:a16="http://schemas.microsoft.com/office/drawing/2014/main" id="{02A8931D-ECD1-A61D-A528-A1ED49EA055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71523" y="3625082"/>
            <a:ext cx="1169598" cy="750668"/>
          </a:xfrm>
          <a:prstGeom prst="rect">
            <a:avLst/>
          </a:prstGeom>
          <a:noFill/>
          <a:extLst>
            <a:ext uri="{909E8E84-426E-40DD-AFC4-6F175D3DCCD1}">
              <a14:hiddenFill xmlns:a14="http://schemas.microsoft.com/office/drawing/2010/main">
                <a:solidFill>
                  <a:srgbClr val="FFFFFF"/>
                </a:solidFill>
              </a14:hiddenFill>
            </a:ext>
          </a:extLst>
        </p:spPr>
      </p:pic>
      <p:pic>
        <p:nvPicPr>
          <p:cNvPr id="6" name="Afbeelding 16">
            <a:extLst>
              <a:ext uri="{FF2B5EF4-FFF2-40B4-BE49-F238E27FC236}">
                <a16:creationId xmlns:a16="http://schemas.microsoft.com/office/drawing/2014/main" id="{4A8DCAAF-2D52-069E-FAEF-56443CDD392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706838" y="2660772"/>
            <a:ext cx="1928619" cy="1928619"/>
          </a:xfrm>
          <a:prstGeom prst="rect">
            <a:avLst/>
          </a:prstGeom>
        </p:spPr>
      </p:pic>
      <p:pic>
        <p:nvPicPr>
          <p:cNvPr id="7" name="Afbeelding 17" descr="http://vignette3.wikia.nocookie.net/gtawiki/images/c/c9/Computer_Icon.png/revision/latest?cb=20100421004434">
            <a:extLst>
              <a:ext uri="{FF2B5EF4-FFF2-40B4-BE49-F238E27FC236}">
                <a16:creationId xmlns:a16="http://schemas.microsoft.com/office/drawing/2014/main" id="{F14B90FE-2412-084C-A629-F1F054CBBE3E}"/>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95883" y="5718839"/>
            <a:ext cx="1039663" cy="1017616"/>
          </a:xfrm>
          <a:prstGeom prst="rect">
            <a:avLst/>
          </a:prstGeom>
          <a:noFill/>
          <a:ln>
            <a:noFill/>
          </a:ln>
        </p:spPr>
      </p:pic>
      <p:pic>
        <p:nvPicPr>
          <p:cNvPr id="8" name="Afbeelding 18" descr="http://vignette3.wikia.nocookie.net/gtawiki/images/c/c9/Computer_Icon.png/revision/latest?cb=20100421004434">
            <a:extLst>
              <a:ext uri="{FF2B5EF4-FFF2-40B4-BE49-F238E27FC236}">
                <a16:creationId xmlns:a16="http://schemas.microsoft.com/office/drawing/2014/main" id="{A1633977-4D74-1FAD-2FFE-858F7DCA4669}"/>
              </a:ext>
            </a:extLst>
          </p:cNvPr>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2695883" y="1559615"/>
            <a:ext cx="1039663" cy="1017616"/>
          </a:xfrm>
          <a:prstGeom prst="rect">
            <a:avLst/>
          </a:prstGeom>
          <a:noFill/>
          <a:ln>
            <a:noFill/>
          </a:ln>
        </p:spPr>
      </p:pic>
      <p:cxnSp>
        <p:nvCxnSpPr>
          <p:cNvPr id="9" name="Rechte verbindingslijn 19">
            <a:extLst>
              <a:ext uri="{FF2B5EF4-FFF2-40B4-BE49-F238E27FC236}">
                <a16:creationId xmlns:a16="http://schemas.microsoft.com/office/drawing/2014/main" id="{9681B11C-A947-FD43-C9A4-CD8114DA4B8D}"/>
              </a:ext>
            </a:extLst>
          </p:cNvPr>
          <p:cNvCxnSpPr/>
          <p:nvPr/>
        </p:nvCxnSpPr>
        <p:spPr>
          <a:xfrm flipH="1" flipV="1">
            <a:off x="3735546" y="2577231"/>
            <a:ext cx="1230631" cy="1062583"/>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0" name="Rechte verbindingslijn 20">
            <a:extLst>
              <a:ext uri="{FF2B5EF4-FFF2-40B4-BE49-F238E27FC236}">
                <a16:creationId xmlns:a16="http://schemas.microsoft.com/office/drawing/2014/main" id="{EEF67586-09BC-F586-E4CB-0A7CEA03A1C3}"/>
              </a:ext>
            </a:extLst>
          </p:cNvPr>
          <p:cNvCxnSpPr>
            <a:stCxn id="5" idx="1"/>
          </p:cNvCxnSpPr>
          <p:nvPr/>
        </p:nvCxnSpPr>
        <p:spPr>
          <a:xfrm flipH="1">
            <a:off x="2058995" y="4000416"/>
            <a:ext cx="2712528" cy="5679"/>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1" name="Rechte verbindingslijn 23">
            <a:extLst>
              <a:ext uri="{FF2B5EF4-FFF2-40B4-BE49-F238E27FC236}">
                <a16:creationId xmlns:a16="http://schemas.microsoft.com/office/drawing/2014/main" id="{8BDAA787-1635-A10B-AF4F-888A0886D80F}"/>
              </a:ext>
            </a:extLst>
          </p:cNvPr>
          <p:cNvCxnSpPr/>
          <p:nvPr/>
        </p:nvCxnSpPr>
        <p:spPr>
          <a:xfrm flipH="1">
            <a:off x="5941121" y="3977648"/>
            <a:ext cx="2712528" cy="5679"/>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cxnSp>
        <p:nvCxnSpPr>
          <p:cNvPr id="12" name="Rechte verbindingslijn 24">
            <a:extLst>
              <a:ext uri="{FF2B5EF4-FFF2-40B4-BE49-F238E27FC236}">
                <a16:creationId xmlns:a16="http://schemas.microsoft.com/office/drawing/2014/main" id="{C4419DE6-BA7B-4BD8-6B11-8890FE209F4C}"/>
              </a:ext>
            </a:extLst>
          </p:cNvPr>
          <p:cNvCxnSpPr/>
          <p:nvPr/>
        </p:nvCxnSpPr>
        <p:spPr>
          <a:xfrm flipH="1">
            <a:off x="3788735" y="4265705"/>
            <a:ext cx="1177442" cy="1533230"/>
          </a:xfrm>
          <a:prstGeom prst="line">
            <a:avLst/>
          </a:prstGeom>
          <a:ln w="57150">
            <a:solidFill>
              <a:schemeClr val="bg2"/>
            </a:solidFill>
          </a:ln>
        </p:spPr>
        <p:style>
          <a:lnRef idx="1">
            <a:schemeClr val="accent6"/>
          </a:lnRef>
          <a:fillRef idx="0">
            <a:schemeClr val="accent6"/>
          </a:fillRef>
          <a:effectRef idx="0">
            <a:schemeClr val="accent6"/>
          </a:effectRef>
          <a:fontRef idx="minor">
            <a:schemeClr val="tx1"/>
          </a:fontRef>
        </p:style>
      </p:cxnSp>
      <p:sp>
        <p:nvSpPr>
          <p:cNvPr id="13" name="Tekstvak 28">
            <a:extLst>
              <a:ext uri="{FF2B5EF4-FFF2-40B4-BE49-F238E27FC236}">
                <a16:creationId xmlns:a16="http://schemas.microsoft.com/office/drawing/2014/main" id="{5695DBB6-77C8-42FC-5892-C5EC4B19A735}"/>
              </a:ext>
            </a:extLst>
          </p:cNvPr>
          <p:cNvSpPr txBox="1"/>
          <p:nvPr/>
        </p:nvSpPr>
        <p:spPr>
          <a:xfrm>
            <a:off x="2451219" y="2512599"/>
            <a:ext cx="1284327" cy="461665"/>
          </a:xfrm>
          <a:prstGeom prst="rect">
            <a:avLst/>
          </a:prstGeom>
          <a:noFill/>
        </p:spPr>
        <p:txBody>
          <a:bodyPr wrap="none" rtlCol="0">
            <a:spAutoFit/>
          </a:bodyPr>
          <a:lstStyle/>
          <a:p>
            <a:pPr algn="ctr"/>
            <a:r>
              <a:rPr lang="nl-BE" sz="2400" dirty="0">
                <a:latin typeface="Barlow Condensed" panose="00000506000000000000" pitchFamily="2" charset="0"/>
              </a:rPr>
              <a:t>192.168.0.2</a:t>
            </a:r>
          </a:p>
        </p:txBody>
      </p:sp>
      <p:sp>
        <p:nvSpPr>
          <p:cNvPr id="14" name="Tekstvak 29">
            <a:extLst>
              <a:ext uri="{FF2B5EF4-FFF2-40B4-BE49-F238E27FC236}">
                <a16:creationId xmlns:a16="http://schemas.microsoft.com/office/drawing/2014/main" id="{E624969F-89E3-64E7-BC0B-1966297F28B4}"/>
              </a:ext>
            </a:extLst>
          </p:cNvPr>
          <p:cNvSpPr txBox="1"/>
          <p:nvPr/>
        </p:nvSpPr>
        <p:spPr>
          <a:xfrm>
            <a:off x="838200" y="4404823"/>
            <a:ext cx="1295547" cy="461665"/>
          </a:xfrm>
          <a:prstGeom prst="rect">
            <a:avLst/>
          </a:prstGeom>
          <a:noFill/>
        </p:spPr>
        <p:txBody>
          <a:bodyPr wrap="none" rtlCol="0">
            <a:spAutoFit/>
          </a:bodyPr>
          <a:lstStyle/>
          <a:p>
            <a:pPr algn="ctr"/>
            <a:r>
              <a:rPr lang="nl-BE" sz="2400" dirty="0">
                <a:latin typeface="Barlow Condensed" panose="00000506000000000000" pitchFamily="2" charset="0"/>
              </a:rPr>
              <a:t>192.168.0.3</a:t>
            </a:r>
          </a:p>
        </p:txBody>
      </p:sp>
      <p:sp>
        <p:nvSpPr>
          <p:cNvPr id="15" name="Tekstvak 30">
            <a:extLst>
              <a:ext uri="{FF2B5EF4-FFF2-40B4-BE49-F238E27FC236}">
                <a16:creationId xmlns:a16="http://schemas.microsoft.com/office/drawing/2014/main" id="{E0C32F94-3EF3-EC1D-41A2-DFD7F4288458}"/>
              </a:ext>
            </a:extLst>
          </p:cNvPr>
          <p:cNvSpPr txBox="1"/>
          <p:nvPr/>
        </p:nvSpPr>
        <p:spPr>
          <a:xfrm>
            <a:off x="2472203" y="5316127"/>
            <a:ext cx="1284327" cy="461665"/>
          </a:xfrm>
          <a:prstGeom prst="rect">
            <a:avLst/>
          </a:prstGeom>
          <a:noFill/>
        </p:spPr>
        <p:txBody>
          <a:bodyPr wrap="none" rtlCol="0">
            <a:spAutoFit/>
          </a:bodyPr>
          <a:lstStyle/>
          <a:p>
            <a:pPr algn="ctr"/>
            <a:r>
              <a:rPr lang="nl-BE" sz="2400" dirty="0">
                <a:latin typeface="Barlow Condensed" panose="00000506000000000000" pitchFamily="2" charset="0"/>
              </a:rPr>
              <a:t>192.168.0.4</a:t>
            </a:r>
          </a:p>
        </p:txBody>
      </p:sp>
      <p:sp>
        <p:nvSpPr>
          <p:cNvPr id="16" name="Tekstvak 31">
            <a:extLst>
              <a:ext uri="{FF2B5EF4-FFF2-40B4-BE49-F238E27FC236}">
                <a16:creationId xmlns:a16="http://schemas.microsoft.com/office/drawing/2014/main" id="{C84A7F13-67A2-0A11-1683-79BED5BDAE8B}"/>
              </a:ext>
            </a:extLst>
          </p:cNvPr>
          <p:cNvSpPr txBox="1"/>
          <p:nvPr/>
        </p:nvSpPr>
        <p:spPr>
          <a:xfrm>
            <a:off x="4834730" y="3131101"/>
            <a:ext cx="1237839" cy="461665"/>
          </a:xfrm>
          <a:prstGeom prst="rect">
            <a:avLst/>
          </a:prstGeom>
          <a:noFill/>
        </p:spPr>
        <p:txBody>
          <a:bodyPr wrap="none" rtlCol="0">
            <a:spAutoFit/>
          </a:bodyPr>
          <a:lstStyle/>
          <a:p>
            <a:pPr algn="ctr"/>
            <a:r>
              <a:rPr lang="nl-BE" sz="2400" dirty="0">
                <a:latin typeface="Barlow Condensed" panose="00000506000000000000" pitchFamily="2" charset="0"/>
              </a:rPr>
              <a:t>192.168.0.1</a:t>
            </a:r>
          </a:p>
        </p:txBody>
      </p:sp>
      <p:sp>
        <p:nvSpPr>
          <p:cNvPr id="18" name="Tekstvak 33">
            <a:extLst>
              <a:ext uri="{FF2B5EF4-FFF2-40B4-BE49-F238E27FC236}">
                <a16:creationId xmlns:a16="http://schemas.microsoft.com/office/drawing/2014/main" id="{D66CDF43-2BA9-F30E-92DC-93DB5B294098}"/>
              </a:ext>
            </a:extLst>
          </p:cNvPr>
          <p:cNvSpPr txBox="1"/>
          <p:nvPr/>
        </p:nvSpPr>
        <p:spPr>
          <a:xfrm>
            <a:off x="8815044" y="2877689"/>
            <a:ext cx="1523174" cy="461665"/>
          </a:xfrm>
          <a:prstGeom prst="rect">
            <a:avLst/>
          </a:prstGeom>
          <a:noFill/>
        </p:spPr>
        <p:txBody>
          <a:bodyPr wrap="none" rtlCol="0">
            <a:spAutoFit/>
          </a:bodyPr>
          <a:lstStyle/>
          <a:p>
            <a:pPr algn="ctr"/>
            <a:r>
              <a:rPr lang="nl-BE" sz="2400" dirty="0">
                <a:latin typeface="Barlow Condensed" panose="00000506000000000000" pitchFamily="2" charset="0"/>
              </a:rPr>
              <a:t>185.70.72.103</a:t>
            </a:r>
          </a:p>
        </p:txBody>
      </p:sp>
      <p:sp>
        <p:nvSpPr>
          <p:cNvPr id="19" name="Tekstvak 34">
            <a:extLst>
              <a:ext uri="{FF2B5EF4-FFF2-40B4-BE49-F238E27FC236}">
                <a16:creationId xmlns:a16="http://schemas.microsoft.com/office/drawing/2014/main" id="{A8764EC9-1C0B-148F-919D-79FFBBE78A9D}"/>
              </a:ext>
            </a:extLst>
          </p:cNvPr>
          <p:cNvSpPr txBox="1"/>
          <p:nvPr/>
        </p:nvSpPr>
        <p:spPr>
          <a:xfrm>
            <a:off x="4350861" y="1568004"/>
            <a:ext cx="6560820" cy="707886"/>
          </a:xfrm>
          <a:prstGeom prst="rect">
            <a:avLst/>
          </a:prstGeom>
          <a:noFill/>
        </p:spPr>
        <p:txBody>
          <a:bodyPr wrap="square" rtlCol="0">
            <a:spAutoFit/>
          </a:bodyPr>
          <a:lstStyle/>
          <a:p>
            <a:pPr algn="ctr"/>
            <a:r>
              <a:rPr lang="nl-BE" sz="4000" dirty="0">
                <a:latin typeface="Barlow Condensed" panose="00000506000000000000" pitchFamily="2" charset="0"/>
              </a:rPr>
              <a:t>NAT – </a:t>
            </a:r>
            <a:r>
              <a:rPr lang="nl-BE" sz="4000" dirty="0" err="1">
                <a:latin typeface="Barlow Condensed" panose="00000506000000000000" pitchFamily="2" charset="0"/>
              </a:rPr>
              <a:t>network</a:t>
            </a:r>
            <a:r>
              <a:rPr lang="nl-BE" sz="4000" dirty="0">
                <a:latin typeface="Barlow Condensed" panose="00000506000000000000" pitchFamily="2" charset="0"/>
              </a:rPr>
              <a:t> </a:t>
            </a:r>
            <a:r>
              <a:rPr lang="nl-BE" sz="4000" dirty="0" err="1">
                <a:latin typeface="Barlow Condensed" panose="00000506000000000000" pitchFamily="2" charset="0"/>
              </a:rPr>
              <a:t>address</a:t>
            </a:r>
            <a:r>
              <a:rPr lang="nl-BE" sz="4000" dirty="0">
                <a:latin typeface="Barlow Condensed" panose="00000506000000000000" pitchFamily="2" charset="0"/>
              </a:rPr>
              <a:t> </a:t>
            </a:r>
            <a:r>
              <a:rPr lang="nl-BE" sz="4000" dirty="0" err="1">
                <a:latin typeface="Barlow Condensed" panose="00000506000000000000" pitchFamily="2" charset="0"/>
              </a:rPr>
              <a:t>translation</a:t>
            </a:r>
            <a:endParaRPr lang="nl-BE" sz="4000" dirty="0">
              <a:latin typeface="Barlow Condensed" panose="00000506000000000000" pitchFamily="2" charset="0"/>
            </a:endParaRPr>
          </a:p>
        </p:txBody>
      </p:sp>
    </p:spTree>
    <p:extLst>
      <p:ext uri="{BB962C8B-B14F-4D97-AF65-F5344CB8AC3E}">
        <p14:creationId xmlns:p14="http://schemas.microsoft.com/office/powerpoint/2010/main" val="1415805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45D67-A12E-2DDA-0FED-C4489FA7F1A9}"/>
              </a:ext>
            </a:extLst>
          </p:cNvPr>
          <p:cNvSpPr>
            <a:spLocks noGrp="1"/>
          </p:cNvSpPr>
          <p:nvPr>
            <p:ph type="title"/>
          </p:nvPr>
        </p:nvSpPr>
        <p:spPr/>
        <p:txBody>
          <a:bodyPr/>
          <a:lstStyle/>
          <a:p>
            <a:r>
              <a:rPr lang="en-US" dirty="0"/>
              <a:t>NAT-Table</a:t>
            </a:r>
            <a:endParaRPr lang="LID4096" dirty="0"/>
          </a:p>
        </p:txBody>
      </p:sp>
      <p:sp>
        <p:nvSpPr>
          <p:cNvPr id="3" name="Content Placeholder 2">
            <a:extLst>
              <a:ext uri="{FF2B5EF4-FFF2-40B4-BE49-F238E27FC236}">
                <a16:creationId xmlns:a16="http://schemas.microsoft.com/office/drawing/2014/main" id="{0FCC6F50-A92E-19F2-5FED-8523D7FC5CA5}"/>
              </a:ext>
            </a:extLst>
          </p:cNvPr>
          <p:cNvSpPr>
            <a:spLocks noGrp="1"/>
          </p:cNvSpPr>
          <p:nvPr>
            <p:ph idx="1"/>
          </p:nvPr>
        </p:nvSpPr>
        <p:spPr/>
        <p:txBody>
          <a:bodyPr>
            <a:normAutofit/>
          </a:bodyPr>
          <a:lstStyle/>
          <a:p>
            <a:r>
              <a:rPr lang="en-US" sz="3600" dirty="0"/>
              <a:t>1 </a:t>
            </a:r>
            <a:r>
              <a:rPr lang="en-US" sz="3600" dirty="0" err="1"/>
              <a:t>publiek</a:t>
            </a:r>
            <a:r>
              <a:rPr lang="en-US" sz="3600" dirty="0"/>
              <a:t> IP-</a:t>
            </a:r>
            <a:r>
              <a:rPr lang="en-US" sz="3600" dirty="0" err="1"/>
              <a:t>adres</a:t>
            </a:r>
            <a:r>
              <a:rPr lang="en-US" sz="3600" dirty="0"/>
              <a:t> </a:t>
            </a:r>
            <a:r>
              <a:rPr lang="en-US" sz="3600" dirty="0" err="1"/>
              <a:t>voor</a:t>
            </a:r>
            <a:r>
              <a:rPr lang="en-US" sz="3600" dirty="0"/>
              <a:t> router</a:t>
            </a:r>
            <a:endParaRPr lang="LID4096" sz="3600" dirty="0"/>
          </a:p>
        </p:txBody>
      </p:sp>
      <p:graphicFrame>
        <p:nvGraphicFramePr>
          <p:cNvPr id="4" name="Tabel 35">
            <a:extLst>
              <a:ext uri="{FF2B5EF4-FFF2-40B4-BE49-F238E27FC236}">
                <a16:creationId xmlns:a16="http://schemas.microsoft.com/office/drawing/2014/main" id="{60A43B0E-200B-F0A9-DF40-D858109AB1CA}"/>
              </a:ext>
            </a:extLst>
          </p:cNvPr>
          <p:cNvGraphicFramePr>
            <a:graphicFrameLocks noGrp="1"/>
          </p:cNvGraphicFramePr>
          <p:nvPr>
            <p:extLst>
              <p:ext uri="{D42A27DB-BD31-4B8C-83A1-F6EECF244321}">
                <p14:modId xmlns:p14="http://schemas.microsoft.com/office/powerpoint/2010/main" val="3289699519"/>
              </p:ext>
            </p:extLst>
          </p:nvPr>
        </p:nvGraphicFramePr>
        <p:xfrm>
          <a:off x="671332" y="2870522"/>
          <a:ext cx="10428789" cy="1711626"/>
        </p:xfrm>
        <a:graphic>
          <a:graphicData uri="http://schemas.openxmlformats.org/drawingml/2006/table">
            <a:tbl>
              <a:tblPr firstRow="1" bandRow="1">
                <a:tableStyleId>{5C22544A-7EE6-4342-B048-85BDC9FD1C3A}</a:tableStyleId>
              </a:tblPr>
              <a:tblGrid>
                <a:gridCol w="2188464">
                  <a:extLst>
                    <a:ext uri="{9D8B030D-6E8A-4147-A177-3AD203B41FA5}">
                      <a16:colId xmlns:a16="http://schemas.microsoft.com/office/drawing/2014/main" val="2144090363"/>
                    </a:ext>
                  </a:extLst>
                </a:gridCol>
                <a:gridCol w="1213411">
                  <a:extLst>
                    <a:ext uri="{9D8B030D-6E8A-4147-A177-3AD203B41FA5}">
                      <a16:colId xmlns:a16="http://schemas.microsoft.com/office/drawing/2014/main" val="524059714"/>
                    </a:ext>
                  </a:extLst>
                </a:gridCol>
                <a:gridCol w="2481152">
                  <a:extLst>
                    <a:ext uri="{9D8B030D-6E8A-4147-A177-3AD203B41FA5}">
                      <a16:colId xmlns:a16="http://schemas.microsoft.com/office/drawing/2014/main" val="1966701613"/>
                    </a:ext>
                  </a:extLst>
                </a:gridCol>
                <a:gridCol w="1140969">
                  <a:extLst>
                    <a:ext uri="{9D8B030D-6E8A-4147-A177-3AD203B41FA5}">
                      <a16:colId xmlns:a16="http://schemas.microsoft.com/office/drawing/2014/main" val="366377413"/>
                    </a:ext>
                  </a:extLst>
                </a:gridCol>
                <a:gridCol w="2281937">
                  <a:extLst>
                    <a:ext uri="{9D8B030D-6E8A-4147-A177-3AD203B41FA5}">
                      <a16:colId xmlns:a16="http://schemas.microsoft.com/office/drawing/2014/main" val="2708566930"/>
                    </a:ext>
                  </a:extLst>
                </a:gridCol>
                <a:gridCol w="1122856">
                  <a:extLst>
                    <a:ext uri="{9D8B030D-6E8A-4147-A177-3AD203B41FA5}">
                      <a16:colId xmlns:a16="http://schemas.microsoft.com/office/drawing/2014/main" val="324635171"/>
                    </a:ext>
                  </a:extLst>
                </a:gridCol>
              </a:tblGrid>
              <a:tr h="695620">
                <a:tc gridSpan="6">
                  <a:txBody>
                    <a:bodyPr/>
                    <a:lstStyle/>
                    <a:p>
                      <a:r>
                        <a:rPr lang="nl-BE" sz="2800" b="0" dirty="0">
                          <a:latin typeface="Barlow Condensed" panose="00000506000000000000" pitchFamily="2" charset="0"/>
                        </a:rPr>
                        <a:t>NAT running </a:t>
                      </a:r>
                      <a:r>
                        <a:rPr lang="nl-BE" sz="2800" b="0" dirty="0" err="1">
                          <a:latin typeface="Barlow Condensed" panose="00000506000000000000" pitchFamily="2" charset="0"/>
                        </a:rPr>
                        <a:t>table</a:t>
                      </a:r>
                      <a:endParaRPr lang="nl-BE" sz="2800" b="0" dirty="0">
                        <a:latin typeface="Barlow Condensed" panose="00000506000000000000" pitchFamily="2" charset="0"/>
                      </a:endParaRPr>
                    </a:p>
                  </a:txBody>
                  <a:tcPr/>
                </a:tc>
                <a:tc hMerge="1">
                  <a:txBody>
                    <a:bodyPr/>
                    <a:lstStyle/>
                    <a:p>
                      <a:endParaRPr lang="nl-BE" dirty="0"/>
                    </a:p>
                  </a:txBody>
                  <a:tcPr/>
                </a:tc>
                <a:tc hMerge="1">
                  <a:txBody>
                    <a:bodyPr/>
                    <a:lstStyle/>
                    <a:p>
                      <a:endParaRPr lang="nl-BE" dirty="0"/>
                    </a:p>
                  </a:txBody>
                  <a:tcPr/>
                </a:tc>
                <a:tc hMerge="1">
                  <a:txBody>
                    <a:bodyPr/>
                    <a:lstStyle/>
                    <a:p>
                      <a:endParaRPr lang="nl-BE" dirty="0"/>
                    </a:p>
                  </a:txBody>
                  <a:tcPr/>
                </a:tc>
                <a:tc hMerge="1">
                  <a:txBody>
                    <a:bodyPr/>
                    <a:lstStyle/>
                    <a:p>
                      <a:endParaRPr lang="nl-BE" dirty="0"/>
                    </a:p>
                  </a:txBody>
                  <a:tcPr/>
                </a:tc>
                <a:tc hMerge="1">
                  <a:txBody>
                    <a:bodyPr/>
                    <a:lstStyle/>
                    <a:p>
                      <a:endParaRPr lang="nl-BE" dirty="0"/>
                    </a:p>
                  </a:txBody>
                  <a:tcPr/>
                </a:tc>
                <a:extLst>
                  <a:ext uri="{0D108BD9-81ED-4DB2-BD59-A6C34878D82A}">
                    <a16:rowId xmlns:a16="http://schemas.microsoft.com/office/drawing/2014/main" val="1225934972"/>
                  </a:ext>
                </a:extLst>
              </a:tr>
              <a:tr h="497846">
                <a:tc>
                  <a:txBody>
                    <a:bodyPr/>
                    <a:lstStyle/>
                    <a:p>
                      <a:r>
                        <a:rPr lang="nl-BE" sz="2800" dirty="0" err="1">
                          <a:latin typeface="Barlow Condensed" panose="00000506000000000000" pitchFamily="2" charset="0"/>
                        </a:rPr>
                        <a:t>Local</a:t>
                      </a:r>
                      <a:r>
                        <a:rPr lang="nl-BE" sz="2800" baseline="0" dirty="0">
                          <a:latin typeface="Barlow Condensed" panose="00000506000000000000" pitchFamily="2" charset="0"/>
                        </a:rPr>
                        <a:t> IP</a:t>
                      </a:r>
                      <a:endParaRPr lang="nl-BE" sz="2800" dirty="0">
                        <a:latin typeface="Barlow Condensed" panose="00000506000000000000" pitchFamily="2" charset="0"/>
                      </a:endParaRPr>
                    </a:p>
                  </a:txBody>
                  <a:tcPr>
                    <a:solidFill>
                      <a:schemeClr val="accent6">
                        <a:lumMod val="20000"/>
                        <a:lumOff val="80000"/>
                      </a:schemeClr>
                    </a:solidFill>
                  </a:tcPr>
                </a:tc>
                <a:tc>
                  <a:txBody>
                    <a:bodyPr/>
                    <a:lstStyle/>
                    <a:p>
                      <a:r>
                        <a:rPr lang="nl-BE" sz="2800" dirty="0">
                          <a:latin typeface="Barlow Condensed" panose="00000506000000000000" pitchFamily="2" charset="0"/>
                        </a:rPr>
                        <a:t>Port</a:t>
                      </a:r>
                      <a:endParaRPr lang="nl-BE" sz="1800" dirty="0">
                        <a:latin typeface="Barlow Condensed" panose="00000506000000000000" pitchFamily="2" charset="0"/>
                      </a:endParaRPr>
                    </a:p>
                  </a:txBody>
                  <a:tcPr>
                    <a:solidFill>
                      <a:schemeClr val="accent6">
                        <a:lumMod val="20000"/>
                        <a:lumOff val="80000"/>
                      </a:schemeClr>
                    </a:solidFill>
                  </a:tcPr>
                </a:tc>
                <a:tc>
                  <a:txBody>
                    <a:bodyPr/>
                    <a:lstStyle/>
                    <a:p>
                      <a:r>
                        <a:rPr lang="nl-BE" sz="2800" dirty="0">
                          <a:latin typeface="Barlow Condensed" panose="00000506000000000000" pitchFamily="2" charset="0"/>
                        </a:rPr>
                        <a:t>Public IP</a:t>
                      </a:r>
                    </a:p>
                  </a:txBody>
                  <a:tcPr>
                    <a:solidFill>
                      <a:schemeClr val="accent6">
                        <a:lumMod val="20000"/>
                        <a:lumOff val="80000"/>
                      </a:schemeClr>
                    </a:solidFill>
                  </a:tcPr>
                </a:tc>
                <a:tc>
                  <a:txBody>
                    <a:bodyPr/>
                    <a:lstStyle/>
                    <a:p>
                      <a:r>
                        <a:rPr lang="nl-BE" sz="2800" dirty="0">
                          <a:latin typeface="Barlow Condensed" panose="00000506000000000000" pitchFamily="2" charset="0"/>
                        </a:rPr>
                        <a:t>Port</a:t>
                      </a:r>
                      <a:endParaRPr lang="nl-BE" sz="1800" dirty="0">
                        <a:latin typeface="Barlow Condensed" panose="00000506000000000000" pitchFamily="2" charset="0"/>
                      </a:endParaRPr>
                    </a:p>
                  </a:txBody>
                  <a:tcPr>
                    <a:solidFill>
                      <a:schemeClr val="accent6">
                        <a:lumMod val="20000"/>
                        <a:lumOff val="80000"/>
                      </a:schemeClr>
                    </a:solidFill>
                  </a:tcPr>
                </a:tc>
                <a:tc>
                  <a:txBody>
                    <a:bodyPr/>
                    <a:lstStyle/>
                    <a:p>
                      <a:r>
                        <a:rPr lang="nl-BE" sz="2800" dirty="0">
                          <a:latin typeface="Barlow Condensed" panose="00000506000000000000" pitchFamily="2" charset="0"/>
                        </a:rPr>
                        <a:t>Peer IP</a:t>
                      </a:r>
                    </a:p>
                  </a:txBody>
                  <a:tcPr>
                    <a:solidFill>
                      <a:schemeClr val="accent6">
                        <a:lumMod val="20000"/>
                        <a:lumOff val="80000"/>
                      </a:schemeClr>
                    </a:solidFill>
                  </a:tcPr>
                </a:tc>
                <a:tc>
                  <a:txBody>
                    <a:bodyPr/>
                    <a:lstStyle/>
                    <a:p>
                      <a:r>
                        <a:rPr lang="nl-BE" sz="2800" dirty="0">
                          <a:latin typeface="Barlow Condensed" panose="00000506000000000000" pitchFamily="2" charset="0"/>
                        </a:rPr>
                        <a:t>Port</a:t>
                      </a:r>
                      <a:endParaRPr lang="nl-BE" sz="1800" dirty="0">
                        <a:latin typeface="Barlow Condensed" panose="00000506000000000000" pitchFamily="2" charset="0"/>
                      </a:endParaRPr>
                    </a:p>
                  </a:txBody>
                  <a:tcPr>
                    <a:solidFill>
                      <a:schemeClr val="accent6">
                        <a:lumMod val="20000"/>
                        <a:lumOff val="80000"/>
                      </a:schemeClr>
                    </a:solidFill>
                  </a:tcPr>
                </a:tc>
                <a:extLst>
                  <a:ext uri="{0D108BD9-81ED-4DB2-BD59-A6C34878D82A}">
                    <a16:rowId xmlns:a16="http://schemas.microsoft.com/office/drawing/2014/main" val="3280015169"/>
                  </a:ext>
                </a:extLst>
              </a:tr>
              <a:tr h="497846">
                <a:tc>
                  <a:txBody>
                    <a:bodyPr/>
                    <a:lstStyle/>
                    <a:p>
                      <a:endParaRPr lang="nl-BE" dirty="0">
                        <a:latin typeface="Barlow Condensed" panose="00000506000000000000" pitchFamily="2" charset="0"/>
                      </a:endParaRPr>
                    </a:p>
                  </a:txBody>
                  <a:tcPr>
                    <a:solidFill>
                      <a:schemeClr val="accent6">
                        <a:lumMod val="20000"/>
                        <a:lumOff val="80000"/>
                      </a:schemeClr>
                    </a:solidFill>
                  </a:tcPr>
                </a:tc>
                <a:tc>
                  <a:txBody>
                    <a:bodyPr/>
                    <a:lstStyle/>
                    <a:p>
                      <a:endParaRPr lang="nl-BE">
                        <a:latin typeface="Barlow Condensed" panose="00000506000000000000" pitchFamily="2" charset="0"/>
                      </a:endParaRPr>
                    </a:p>
                  </a:txBody>
                  <a:tcPr>
                    <a:solidFill>
                      <a:schemeClr val="accent6">
                        <a:lumMod val="20000"/>
                        <a:lumOff val="80000"/>
                      </a:schemeClr>
                    </a:solidFill>
                  </a:tcPr>
                </a:tc>
                <a:tc>
                  <a:txBody>
                    <a:bodyPr/>
                    <a:lstStyle/>
                    <a:p>
                      <a:endParaRPr lang="nl-BE" dirty="0">
                        <a:latin typeface="Barlow Condensed" panose="00000506000000000000" pitchFamily="2" charset="0"/>
                      </a:endParaRPr>
                    </a:p>
                  </a:txBody>
                  <a:tcPr>
                    <a:solidFill>
                      <a:schemeClr val="accent6">
                        <a:lumMod val="20000"/>
                        <a:lumOff val="80000"/>
                      </a:schemeClr>
                    </a:solidFill>
                  </a:tcPr>
                </a:tc>
                <a:tc>
                  <a:txBody>
                    <a:bodyPr/>
                    <a:lstStyle/>
                    <a:p>
                      <a:endParaRPr lang="nl-BE" dirty="0">
                        <a:latin typeface="Barlow Condensed" panose="00000506000000000000" pitchFamily="2" charset="0"/>
                      </a:endParaRPr>
                    </a:p>
                  </a:txBody>
                  <a:tcPr>
                    <a:solidFill>
                      <a:schemeClr val="accent6">
                        <a:lumMod val="20000"/>
                        <a:lumOff val="80000"/>
                      </a:schemeClr>
                    </a:solidFill>
                  </a:tcPr>
                </a:tc>
                <a:tc>
                  <a:txBody>
                    <a:bodyPr/>
                    <a:lstStyle/>
                    <a:p>
                      <a:endParaRPr lang="nl-BE" dirty="0">
                        <a:latin typeface="Barlow Condensed" panose="00000506000000000000" pitchFamily="2" charset="0"/>
                      </a:endParaRPr>
                    </a:p>
                  </a:txBody>
                  <a:tcPr>
                    <a:solidFill>
                      <a:schemeClr val="accent6">
                        <a:lumMod val="20000"/>
                        <a:lumOff val="80000"/>
                      </a:schemeClr>
                    </a:solidFill>
                  </a:tcPr>
                </a:tc>
                <a:tc>
                  <a:txBody>
                    <a:bodyPr/>
                    <a:lstStyle/>
                    <a:p>
                      <a:endParaRPr lang="nl-BE" dirty="0">
                        <a:latin typeface="Barlow Condensed" panose="00000506000000000000" pitchFamily="2" charset="0"/>
                      </a:endParaRPr>
                    </a:p>
                  </a:txBody>
                  <a:tcPr>
                    <a:solidFill>
                      <a:schemeClr val="accent6">
                        <a:lumMod val="20000"/>
                        <a:lumOff val="80000"/>
                      </a:schemeClr>
                    </a:solidFill>
                  </a:tcPr>
                </a:tc>
                <a:extLst>
                  <a:ext uri="{0D108BD9-81ED-4DB2-BD59-A6C34878D82A}">
                    <a16:rowId xmlns:a16="http://schemas.microsoft.com/office/drawing/2014/main" val="915760433"/>
                  </a:ext>
                </a:extLst>
              </a:tr>
            </a:tbl>
          </a:graphicData>
        </a:graphic>
      </p:graphicFrame>
      <p:sp>
        <p:nvSpPr>
          <p:cNvPr id="5" name="Tekstvak 36">
            <a:extLst>
              <a:ext uri="{FF2B5EF4-FFF2-40B4-BE49-F238E27FC236}">
                <a16:creationId xmlns:a16="http://schemas.microsoft.com/office/drawing/2014/main" id="{B06F3B11-91C7-24E5-2122-A09BFCBD9846}"/>
              </a:ext>
            </a:extLst>
          </p:cNvPr>
          <p:cNvSpPr txBox="1"/>
          <p:nvPr/>
        </p:nvSpPr>
        <p:spPr>
          <a:xfrm>
            <a:off x="565080" y="4032726"/>
            <a:ext cx="1687225" cy="523220"/>
          </a:xfrm>
          <a:prstGeom prst="rect">
            <a:avLst/>
          </a:prstGeom>
          <a:noFill/>
        </p:spPr>
        <p:txBody>
          <a:bodyPr wrap="square" rtlCol="0">
            <a:spAutoFit/>
          </a:bodyPr>
          <a:lstStyle/>
          <a:p>
            <a:pPr algn="ctr"/>
            <a:r>
              <a:rPr lang="nl-BE" sz="2800" dirty="0">
                <a:latin typeface="Barlow Condensed" panose="00000506000000000000" pitchFamily="2" charset="0"/>
              </a:rPr>
              <a:t>192.168.0.2</a:t>
            </a:r>
          </a:p>
        </p:txBody>
      </p:sp>
      <p:sp>
        <p:nvSpPr>
          <p:cNvPr id="6" name="Tekstvak 37">
            <a:extLst>
              <a:ext uri="{FF2B5EF4-FFF2-40B4-BE49-F238E27FC236}">
                <a16:creationId xmlns:a16="http://schemas.microsoft.com/office/drawing/2014/main" id="{51B0A6BD-04EB-32B6-1761-B2B841D41C3C}"/>
              </a:ext>
            </a:extLst>
          </p:cNvPr>
          <p:cNvSpPr txBox="1"/>
          <p:nvPr/>
        </p:nvSpPr>
        <p:spPr>
          <a:xfrm>
            <a:off x="2749853" y="4032726"/>
            <a:ext cx="806269" cy="523220"/>
          </a:xfrm>
          <a:prstGeom prst="rect">
            <a:avLst/>
          </a:prstGeom>
          <a:noFill/>
        </p:spPr>
        <p:txBody>
          <a:bodyPr wrap="square" rtlCol="0">
            <a:spAutoFit/>
          </a:bodyPr>
          <a:lstStyle/>
          <a:p>
            <a:pPr algn="ctr"/>
            <a:r>
              <a:rPr lang="nl-BE" sz="2800" dirty="0">
                <a:latin typeface="Barlow Condensed" panose="00000506000000000000" pitchFamily="2" charset="0"/>
              </a:rPr>
              <a:t>80</a:t>
            </a:r>
          </a:p>
        </p:txBody>
      </p:sp>
      <p:sp>
        <p:nvSpPr>
          <p:cNvPr id="7" name="Tekstvak 38">
            <a:extLst>
              <a:ext uri="{FF2B5EF4-FFF2-40B4-BE49-F238E27FC236}">
                <a16:creationId xmlns:a16="http://schemas.microsoft.com/office/drawing/2014/main" id="{B93CD346-C369-10EE-505A-357C01D615CD}"/>
              </a:ext>
            </a:extLst>
          </p:cNvPr>
          <p:cNvSpPr txBox="1"/>
          <p:nvPr/>
        </p:nvSpPr>
        <p:spPr>
          <a:xfrm>
            <a:off x="3945332" y="4032854"/>
            <a:ext cx="1720877" cy="523220"/>
          </a:xfrm>
          <a:prstGeom prst="rect">
            <a:avLst/>
          </a:prstGeom>
          <a:noFill/>
        </p:spPr>
        <p:txBody>
          <a:bodyPr wrap="square" rtlCol="0">
            <a:spAutoFit/>
          </a:bodyPr>
          <a:lstStyle/>
          <a:p>
            <a:pPr algn="ctr"/>
            <a:r>
              <a:rPr lang="nl-BE" sz="2800" dirty="0">
                <a:latin typeface="Barlow Condensed" panose="00000506000000000000" pitchFamily="2" charset="0"/>
              </a:rPr>
              <a:t>192.168.0.2</a:t>
            </a:r>
          </a:p>
        </p:txBody>
      </p:sp>
      <p:sp>
        <p:nvSpPr>
          <p:cNvPr id="8" name="Tekstvak 39">
            <a:extLst>
              <a:ext uri="{FF2B5EF4-FFF2-40B4-BE49-F238E27FC236}">
                <a16:creationId xmlns:a16="http://schemas.microsoft.com/office/drawing/2014/main" id="{CBB2AD87-FF59-A022-099A-C148A66D100D}"/>
              </a:ext>
            </a:extLst>
          </p:cNvPr>
          <p:cNvSpPr txBox="1"/>
          <p:nvPr/>
        </p:nvSpPr>
        <p:spPr>
          <a:xfrm>
            <a:off x="6460145" y="4056004"/>
            <a:ext cx="1089740" cy="523220"/>
          </a:xfrm>
          <a:prstGeom prst="rect">
            <a:avLst/>
          </a:prstGeom>
          <a:noFill/>
        </p:spPr>
        <p:txBody>
          <a:bodyPr wrap="square" rtlCol="0">
            <a:spAutoFit/>
          </a:bodyPr>
          <a:lstStyle/>
          <a:p>
            <a:pPr algn="ctr"/>
            <a:r>
              <a:rPr lang="nl-BE" sz="2800" dirty="0">
                <a:latin typeface="Barlow Condensed" panose="00000506000000000000" pitchFamily="2" charset="0"/>
              </a:rPr>
              <a:t>2000</a:t>
            </a:r>
          </a:p>
        </p:txBody>
      </p:sp>
      <p:sp>
        <p:nvSpPr>
          <p:cNvPr id="9" name="Tekstvak 40">
            <a:extLst>
              <a:ext uri="{FF2B5EF4-FFF2-40B4-BE49-F238E27FC236}">
                <a16:creationId xmlns:a16="http://schemas.microsoft.com/office/drawing/2014/main" id="{7A9268D9-CD33-BC1E-CE92-2C01F1CEA2B8}"/>
              </a:ext>
            </a:extLst>
          </p:cNvPr>
          <p:cNvSpPr txBox="1"/>
          <p:nvPr/>
        </p:nvSpPr>
        <p:spPr>
          <a:xfrm>
            <a:off x="7633319" y="4056004"/>
            <a:ext cx="1994577" cy="523220"/>
          </a:xfrm>
          <a:prstGeom prst="rect">
            <a:avLst/>
          </a:prstGeom>
          <a:noFill/>
        </p:spPr>
        <p:txBody>
          <a:bodyPr wrap="square" rtlCol="0">
            <a:spAutoFit/>
          </a:bodyPr>
          <a:lstStyle/>
          <a:p>
            <a:pPr algn="ctr"/>
            <a:r>
              <a:rPr lang="nl-BE" sz="2800" dirty="0">
                <a:latin typeface="Barlow Condensed" panose="00000506000000000000" pitchFamily="2" charset="0"/>
              </a:rPr>
              <a:t>185.70.72.103</a:t>
            </a:r>
          </a:p>
        </p:txBody>
      </p:sp>
      <p:sp>
        <p:nvSpPr>
          <p:cNvPr id="10" name="Tekstvak 41">
            <a:extLst>
              <a:ext uri="{FF2B5EF4-FFF2-40B4-BE49-F238E27FC236}">
                <a16:creationId xmlns:a16="http://schemas.microsoft.com/office/drawing/2014/main" id="{82774A1D-68C5-3B0C-D577-A159B6949448}"/>
              </a:ext>
            </a:extLst>
          </p:cNvPr>
          <p:cNvSpPr txBox="1"/>
          <p:nvPr/>
        </p:nvSpPr>
        <p:spPr>
          <a:xfrm>
            <a:off x="9881575" y="4056004"/>
            <a:ext cx="806267" cy="523220"/>
          </a:xfrm>
          <a:prstGeom prst="rect">
            <a:avLst/>
          </a:prstGeom>
          <a:noFill/>
        </p:spPr>
        <p:txBody>
          <a:bodyPr wrap="square" rtlCol="0">
            <a:spAutoFit/>
          </a:bodyPr>
          <a:lstStyle/>
          <a:p>
            <a:pPr algn="ctr"/>
            <a:r>
              <a:rPr lang="nl-BE" sz="2800" dirty="0">
                <a:latin typeface="Barlow Condensed" panose="00000506000000000000" pitchFamily="2" charset="0"/>
              </a:rPr>
              <a:t>80</a:t>
            </a:r>
          </a:p>
        </p:txBody>
      </p:sp>
    </p:spTree>
    <p:extLst>
      <p:ext uri="{BB962C8B-B14F-4D97-AF65-F5344CB8AC3E}">
        <p14:creationId xmlns:p14="http://schemas.microsoft.com/office/powerpoint/2010/main" val="4940705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8DAD7-3619-3541-D346-6887E26AECD7}"/>
              </a:ext>
            </a:extLst>
          </p:cNvPr>
          <p:cNvSpPr>
            <a:spLocks noGrp="1"/>
          </p:cNvSpPr>
          <p:nvPr>
            <p:ph type="title"/>
          </p:nvPr>
        </p:nvSpPr>
        <p:spPr/>
        <p:txBody>
          <a:bodyPr/>
          <a:lstStyle/>
          <a:p>
            <a:r>
              <a:rPr lang="en-US" dirty="0"/>
              <a:t>DNS</a:t>
            </a:r>
            <a:endParaRPr lang="LID4096" dirty="0"/>
          </a:p>
        </p:txBody>
      </p:sp>
      <p:sp>
        <p:nvSpPr>
          <p:cNvPr id="4" name="Tekstvak 33">
            <a:extLst>
              <a:ext uri="{FF2B5EF4-FFF2-40B4-BE49-F238E27FC236}">
                <a16:creationId xmlns:a16="http://schemas.microsoft.com/office/drawing/2014/main" id="{507F3673-A6D6-8263-13D6-FC62DEC4A5B5}"/>
              </a:ext>
            </a:extLst>
          </p:cNvPr>
          <p:cNvSpPr txBox="1"/>
          <p:nvPr/>
        </p:nvSpPr>
        <p:spPr>
          <a:xfrm>
            <a:off x="2986812" y="4792304"/>
            <a:ext cx="5855451" cy="92333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nl-BE" sz="5400" dirty="0">
                <a:solidFill>
                  <a:schemeClr val="tx1"/>
                </a:solidFill>
                <a:latin typeface="Barlow Condensed" panose="00000506000000000000" pitchFamily="2" charset="0"/>
              </a:rPr>
              <a:t>domain name system</a:t>
            </a:r>
          </a:p>
        </p:txBody>
      </p:sp>
      <p:sp>
        <p:nvSpPr>
          <p:cNvPr id="5" name="Rechthoek 34">
            <a:extLst>
              <a:ext uri="{FF2B5EF4-FFF2-40B4-BE49-F238E27FC236}">
                <a16:creationId xmlns:a16="http://schemas.microsoft.com/office/drawing/2014/main" id="{BC07DFB2-9A3B-DA4D-7B0D-F7944F9C1729}"/>
              </a:ext>
            </a:extLst>
          </p:cNvPr>
          <p:cNvSpPr/>
          <p:nvPr/>
        </p:nvSpPr>
        <p:spPr>
          <a:xfrm>
            <a:off x="34010" y="2155707"/>
            <a:ext cx="3226100" cy="169826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3600" dirty="0">
                <a:latin typeface="Barlow Condensed" panose="00000506000000000000" pitchFamily="2" charset="0"/>
              </a:rPr>
              <a:t>IP-adres</a:t>
            </a:r>
          </a:p>
        </p:txBody>
      </p:sp>
      <p:sp>
        <p:nvSpPr>
          <p:cNvPr id="6" name="Rechthoek 35">
            <a:extLst>
              <a:ext uri="{FF2B5EF4-FFF2-40B4-BE49-F238E27FC236}">
                <a16:creationId xmlns:a16="http://schemas.microsoft.com/office/drawing/2014/main" id="{7D46B1DC-C089-40D5-190E-037152C11552}"/>
              </a:ext>
            </a:extLst>
          </p:cNvPr>
          <p:cNvSpPr/>
          <p:nvPr/>
        </p:nvSpPr>
        <p:spPr>
          <a:xfrm>
            <a:off x="4160174" y="2272949"/>
            <a:ext cx="3176234" cy="169826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3600" dirty="0">
                <a:latin typeface="Barlow Condensed" panose="00000506000000000000" pitchFamily="2" charset="0"/>
              </a:rPr>
              <a:t>semantisch adres</a:t>
            </a:r>
          </a:p>
        </p:txBody>
      </p:sp>
      <p:sp>
        <p:nvSpPr>
          <p:cNvPr id="7" name="Pijl-rechts 36">
            <a:extLst>
              <a:ext uri="{FF2B5EF4-FFF2-40B4-BE49-F238E27FC236}">
                <a16:creationId xmlns:a16="http://schemas.microsoft.com/office/drawing/2014/main" id="{59950227-E5B0-C81B-B69E-3D3B0DFEEEB1}"/>
              </a:ext>
            </a:extLst>
          </p:cNvPr>
          <p:cNvSpPr/>
          <p:nvPr/>
        </p:nvSpPr>
        <p:spPr>
          <a:xfrm>
            <a:off x="2892528" y="2629023"/>
            <a:ext cx="1182209" cy="994410"/>
          </a:xfrm>
          <a:prstGeom prst="rightArrow">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Rechthoek 38">
            <a:extLst>
              <a:ext uri="{FF2B5EF4-FFF2-40B4-BE49-F238E27FC236}">
                <a16:creationId xmlns:a16="http://schemas.microsoft.com/office/drawing/2014/main" id="{9F5FB63D-B8E3-EC05-85EA-0B978644B38C}"/>
              </a:ext>
            </a:extLst>
          </p:cNvPr>
          <p:cNvSpPr/>
          <p:nvPr/>
        </p:nvSpPr>
        <p:spPr>
          <a:xfrm>
            <a:off x="8361840" y="2242938"/>
            <a:ext cx="3176234" cy="1698262"/>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nl-BE" sz="3600" dirty="0">
                <a:latin typeface="Barlow Condensed" panose="00000506000000000000" pitchFamily="2" charset="0"/>
              </a:rPr>
              <a:t>URL – uniform resource </a:t>
            </a:r>
            <a:r>
              <a:rPr lang="nl-BE" sz="3600" dirty="0" err="1">
                <a:latin typeface="Barlow Condensed" panose="00000506000000000000" pitchFamily="2" charset="0"/>
              </a:rPr>
              <a:t>locator</a:t>
            </a:r>
            <a:endParaRPr lang="nl-BE" sz="3600" dirty="0">
              <a:latin typeface="Barlow Condensed" panose="00000506000000000000" pitchFamily="2" charset="0"/>
            </a:endParaRPr>
          </a:p>
        </p:txBody>
      </p:sp>
      <p:sp>
        <p:nvSpPr>
          <p:cNvPr id="16" name="Pijl-rechts 36">
            <a:extLst>
              <a:ext uri="{FF2B5EF4-FFF2-40B4-BE49-F238E27FC236}">
                <a16:creationId xmlns:a16="http://schemas.microsoft.com/office/drawing/2014/main" id="{93AA3EEF-247A-BB0E-2659-8428D032BAE0}"/>
              </a:ext>
            </a:extLst>
          </p:cNvPr>
          <p:cNvSpPr/>
          <p:nvPr/>
        </p:nvSpPr>
        <p:spPr>
          <a:xfrm>
            <a:off x="7421845" y="2629023"/>
            <a:ext cx="1182209" cy="994410"/>
          </a:xfrm>
          <a:prstGeom prst="rightArrow">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32113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0F0B8-255F-CB96-E5D1-B94A7CDF0C39}"/>
              </a:ext>
            </a:extLst>
          </p:cNvPr>
          <p:cNvSpPr>
            <a:spLocks noGrp="1"/>
          </p:cNvSpPr>
          <p:nvPr>
            <p:ph type="title"/>
          </p:nvPr>
        </p:nvSpPr>
        <p:spPr/>
        <p:txBody>
          <a:bodyPr/>
          <a:lstStyle/>
          <a:p>
            <a:r>
              <a:rPr lang="en-US" dirty="0"/>
              <a:t>Uniform Resource Locator</a:t>
            </a:r>
            <a:endParaRPr lang="LID4096" dirty="0"/>
          </a:p>
        </p:txBody>
      </p:sp>
      <p:sp>
        <p:nvSpPr>
          <p:cNvPr id="4" name="Tekstvak 33">
            <a:extLst>
              <a:ext uri="{FF2B5EF4-FFF2-40B4-BE49-F238E27FC236}">
                <a16:creationId xmlns:a16="http://schemas.microsoft.com/office/drawing/2014/main" id="{3EB3BAEE-6954-276C-CF52-1134B764C50F}"/>
              </a:ext>
            </a:extLst>
          </p:cNvPr>
          <p:cNvSpPr txBox="1"/>
          <p:nvPr/>
        </p:nvSpPr>
        <p:spPr>
          <a:xfrm>
            <a:off x="988670" y="1974396"/>
            <a:ext cx="10515599" cy="815608"/>
          </a:xfrm>
          <a:prstGeom prst="rect">
            <a:avLst/>
          </a:prstGeom>
          <a:noFill/>
        </p:spPr>
        <p:txBody>
          <a:bodyPr wrap="square" rtlCol="0">
            <a:spAutoFit/>
          </a:bodyPr>
          <a:lstStyle/>
          <a:p>
            <a:pPr algn="ctr"/>
            <a:r>
              <a:rPr lang="nl-BE" sz="4700" dirty="0">
                <a:latin typeface="Barlow Condensed" panose="00000506000000000000" pitchFamily="2" charset="0"/>
              </a:rPr>
              <a:t>https://www.sleutelboek.eu/netwerken/dns.html</a:t>
            </a:r>
          </a:p>
        </p:txBody>
      </p:sp>
      <p:sp>
        <p:nvSpPr>
          <p:cNvPr id="5" name="Rectangle 4">
            <a:extLst>
              <a:ext uri="{FF2B5EF4-FFF2-40B4-BE49-F238E27FC236}">
                <a16:creationId xmlns:a16="http://schemas.microsoft.com/office/drawing/2014/main" id="{3540EFE5-20CD-8068-1E54-5497CF96928C}"/>
              </a:ext>
            </a:extLst>
          </p:cNvPr>
          <p:cNvSpPr/>
          <p:nvPr/>
        </p:nvSpPr>
        <p:spPr>
          <a:xfrm>
            <a:off x="1145894" y="1974396"/>
            <a:ext cx="1701478" cy="81560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LID4096"/>
          </a:p>
        </p:txBody>
      </p:sp>
      <p:sp>
        <p:nvSpPr>
          <p:cNvPr id="6" name="TextBox 5">
            <a:extLst>
              <a:ext uri="{FF2B5EF4-FFF2-40B4-BE49-F238E27FC236}">
                <a16:creationId xmlns:a16="http://schemas.microsoft.com/office/drawing/2014/main" id="{D01A56C2-901B-5D1F-6DDE-9254339E945D}"/>
              </a:ext>
            </a:extLst>
          </p:cNvPr>
          <p:cNvSpPr txBox="1"/>
          <p:nvPr/>
        </p:nvSpPr>
        <p:spPr>
          <a:xfrm>
            <a:off x="3943109" y="3865944"/>
            <a:ext cx="4305782" cy="1200329"/>
          </a:xfrm>
          <a:prstGeom prst="rect">
            <a:avLst/>
          </a:prstGeom>
          <a:noFill/>
        </p:spPr>
        <p:txBody>
          <a:bodyPr wrap="square" rtlCol="0">
            <a:spAutoFit/>
          </a:bodyPr>
          <a:lstStyle/>
          <a:p>
            <a:pPr algn="ctr"/>
            <a:r>
              <a:rPr lang="en-US" sz="7200" dirty="0"/>
              <a:t>Protocol</a:t>
            </a:r>
            <a:endParaRPr lang="LID4096" sz="7200" dirty="0"/>
          </a:p>
        </p:txBody>
      </p:sp>
    </p:spTree>
    <p:extLst>
      <p:ext uri="{BB962C8B-B14F-4D97-AF65-F5344CB8AC3E}">
        <p14:creationId xmlns:p14="http://schemas.microsoft.com/office/powerpoint/2010/main" val="2855320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D34D1-9B62-64CF-99E2-0B4C95697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B2105-D176-0F0C-B196-CDA70BF83F9F}"/>
              </a:ext>
            </a:extLst>
          </p:cNvPr>
          <p:cNvSpPr>
            <a:spLocks noGrp="1"/>
          </p:cNvSpPr>
          <p:nvPr>
            <p:ph type="title"/>
          </p:nvPr>
        </p:nvSpPr>
        <p:spPr/>
        <p:txBody>
          <a:bodyPr/>
          <a:lstStyle/>
          <a:p>
            <a:r>
              <a:rPr lang="en-US" dirty="0"/>
              <a:t>Uniform Resource Locator</a:t>
            </a:r>
            <a:endParaRPr lang="LID4096" dirty="0"/>
          </a:p>
        </p:txBody>
      </p:sp>
      <p:sp>
        <p:nvSpPr>
          <p:cNvPr id="4" name="Tekstvak 33">
            <a:extLst>
              <a:ext uri="{FF2B5EF4-FFF2-40B4-BE49-F238E27FC236}">
                <a16:creationId xmlns:a16="http://schemas.microsoft.com/office/drawing/2014/main" id="{1DCE16B4-535D-D6C8-05EF-0AD406C7A085}"/>
              </a:ext>
            </a:extLst>
          </p:cNvPr>
          <p:cNvSpPr txBox="1"/>
          <p:nvPr/>
        </p:nvSpPr>
        <p:spPr>
          <a:xfrm>
            <a:off x="988670" y="1974396"/>
            <a:ext cx="10515599" cy="815608"/>
          </a:xfrm>
          <a:prstGeom prst="rect">
            <a:avLst/>
          </a:prstGeom>
          <a:noFill/>
        </p:spPr>
        <p:txBody>
          <a:bodyPr wrap="square" rtlCol="0">
            <a:spAutoFit/>
          </a:bodyPr>
          <a:lstStyle/>
          <a:p>
            <a:pPr algn="ctr"/>
            <a:r>
              <a:rPr lang="nl-BE" sz="4700" dirty="0">
                <a:latin typeface="Barlow Condensed" panose="00000506000000000000" pitchFamily="2" charset="0"/>
              </a:rPr>
              <a:t>https://www.sleutelboek.eu/netwerken/dns.html</a:t>
            </a:r>
          </a:p>
        </p:txBody>
      </p:sp>
      <p:sp>
        <p:nvSpPr>
          <p:cNvPr id="5" name="Rectangle 4">
            <a:extLst>
              <a:ext uri="{FF2B5EF4-FFF2-40B4-BE49-F238E27FC236}">
                <a16:creationId xmlns:a16="http://schemas.microsoft.com/office/drawing/2014/main" id="{35625ED2-AFFB-655F-522D-0AC893719314}"/>
              </a:ext>
            </a:extLst>
          </p:cNvPr>
          <p:cNvSpPr/>
          <p:nvPr/>
        </p:nvSpPr>
        <p:spPr>
          <a:xfrm>
            <a:off x="2835797" y="1992670"/>
            <a:ext cx="1107312" cy="81560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LID4096"/>
          </a:p>
        </p:txBody>
      </p:sp>
      <p:sp>
        <p:nvSpPr>
          <p:cNvPr id="6" name="TextBox 5">
            <a:extLst>
              <a:ext uri="{FF2B5EF4-FFF2-40B4-BE49-F238E27FC236}">
                <a16:creationId xmlns:a16="http://schemas.microsoft.com/office/drawing/2014/main" id="{1EC061AA-CE82-44E7-EF4D-FC9DC8822EEE}"/>
              </a:ext>
            </a:extLst>
          </p:cNvPr>
          <p:cNvSpPr txBox="1"/>
          <p:nvPr/>
        </p:nvSpPr>
        <p:spPr>
          <a:xfrm>
            <a:off x="3663385" y="4049723"/>
            <a:ext cx="5166168" cy="1200329"/>
          </a:xfrm>
          <a:prstGeom prst="rect">
            <a:avLst/>
          </a:prstGeom>
          <a:noFill/>
        </p:spPr>
        <p:txBody>
          <a:bodyPr wrap="square" rtlCol="0">
            <a:spAutoFit/>
          </a:bodyPr>
          <a:lstStyle/>
          <a:p>
            <a:pPr algn="ctr"/>
            <a:r>
              <a:rPr lang="en-US" sz="7200" dirty="0" err="1"/>
              <a:t>Subdomein</a:t>
            </a:r>
            <a:endParaRPr lang="LID4096" sz="7200" dirty="0"/>
          </a:p>
        </p:txBody>
      </p:sp>
    </p:spTree>
    <p:extLst>
      <p:ext uri="{BB962C8B-B14F-4D97-AF65-F5344CB8AC3E}">
        <p14:creationId xmlns:p14="http://schemas.microsoft.com/office/powerpoint/2010/main" val="480963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5226-9E31-70CB-9986-B4542014A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C4A273-4538-ECEE-653A-A9E05FFDEE05}"/>
              </a:ext>
            </a:extLst>
          </p:cNvPr>
          <p:cNvSpPr>
            <a:spLocks noGrp="1"/>
          </p:cNvSpPr>
          <p:nvPr>
            <p:ph type="title"/>
          </p:nvPr>
        </p:nvSpPr>
        <p:spPr/>
        <p:txBody>
          <a:bodyPr/>
          <a:lstStyle/>
          <a:p>
            <a:r>
              <a:rPr lang="en-US" dirty="0"/>
              <a:t>Uniform Resource Locator</a:t>
            </a:r>
            <a:endParaRPr lang="LID4096" dirty="0"/>
          </a:p>
        </p:txBody>
      </p:sp>
      <p:sp>
        <p:nvSpPr>
          <p:cNvPr id="4" name="Tekstvak 33">
            <a:extLst>
              <a:ext uri="{FF2B5EF4-FFF2-40B4-BE49-F238E27FC236}">
                <a16:creationId xmlns:a16="http://schemas.microsoft.com/office/drawing/2014/main" id="{08E7DB09-64DF-7023-C146-D2C86A1DA9EA}"/>
              </a:ext>
            </a:extLst>
          </p:cNvPr>
          <p:cNvSpPr txBox="1"/>
          <p:nvPr/>
        </p:nvSpPr>
        <p:spPr>
          <a:xfrm>
            <a:off x="988670" y="1974396"/>
            <a:ext cx="10515599" cy="815608"/>
          </a:xfrm>
          <a:prstGeom prst="rect">
            <a:avLst/>
          </a:prstGeom>
          <a:noFill/>
        </p:spPr>
        <p:txBody>
          <a:bodyPr wrap="square" rtlCol="0">
            <a:spAutoFit/>
          </a:bodyPr>
          <a:lstStyle/>
          <a:p>
            <a:pPr algn="ctr"/>
            <a:r>
              <a:rPr lang="nl-BE" sz="4700" dirty="0">
                <a:latin typeface="Barlow Condensed" panose="00000506000000000000" pitchFamily="2" charset="0"/>
              </a:rPr>
              <a:t>https://www.sleutelboek.eu/netwerken/dns.html</a:t>
            </a:r>
          </a:p>
        </p:txBody>
      </p:sp>
      <p:sp>
        <p:nvSpPr>
          <p:cNvPr id="5" name="Rectangle 4">
            <a:extLst>
              <a:ext uri="{FF2B5EF4-FFF2-40B4-BE49-F238E27FC236}">
                <a16:creationId xmlns:a16="http://schemas.microsoft.com/office/drawing/2014/main" id="{18F69C9E-9D15-F3C5-2D43-D6D8874E61E2}"/>
              </a:ext>
            </a:extLst>
          </p:cNvPr>
          <p:cNvSpPr/>
          <p:nvPr/>
        </p:nvSpPr>
        <p:spPr>
          <a:xfrm>
            <a:off x="3993264" y="1992669"/>
            <a:ext cx="2268639" cy="81560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LID4096"/>
          </a:p>
        </p:txBody>
      </p:sp>
      <p:sp>
        <p:nvSpPr>
          <p:cNvPr id="6" name="TextBox 5">
            <a:extLst>
              <a:ext uri="{FF2B5EF4-FFF2-40B4-BE49-F238E27FC236}">
                <a16:creationId xmlns:a16="http://schemas.microsoft.com/office/drawing/2014/main" id="{6933C4A8-BB50-1A23-E141-C71D7861AB05}"/>
              </a:ext>
            </a:extLst>
          </p:cNvPr>
          <p:cNvSpPr txBox="1"/>
          <p:nvPr/>
        </p:nvSpPr>
        <p:spPr>
          <a:xfrm>
            <a:off x="3373052" y="4049724"/>
            <a:ext cx="5746833" cy="1200329"/>
          </a:xfrm>
          <a:prstGeom prst="rect">
            <a:avLst/>
          </a:prstGeom>
          <a:noFill/>
        </p:spPr>
        <p:txBody>
          <a:bodyPr wrap="square" rtlCol="0">
            <a:spAutoFit/>
          </a:bodyPr>
          <a:lstStyle/>
          <a:p>
            <a:pPr algn="ctr"/>
            <a:r>
              <a:rPr lang="en-US" sz="7200" dirty="0" err="1"/>
              <a:t>Domeinnaam</a:t>
            </a:r>
            <a:endParaRPr lang="LID4096" sz="7200" dirty="0"/>
          </a:p>
        </p:txBody>
      </p:sp>
    </p:spTree>
    <p:extLst>
      <p:ext uri="{BB962C8B-B14F-4D97-AF65-F5344CB8AC3E}">
        <p14:creationId xmlns:p14="http://schemas.microsoft.com/office/powerpoint/2010/main" val="2349916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74B8A-A465-D26E-72E1-E14717CAE2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D8E906-F08B-A6B1-A569-9D56C202FCE2}"/>
              </a:ext>
            </a:extLst>
          </p:cNvPr>
          <p:cNvSpPr>
            <a:spLocks noGrp="1"/>
          </p:cNvSpPr>
          <p:nvPr>
            <p:ph type="title"/>
          </p:nvPr>
        </p:nvSpPr>
        <p:spPr/>
        <p:txBody>
          <a:bodyPr/>
          <a:lstStyle/>
          <a:p>
            <a:r>
              <a:rPr lang="en-US" dirty="0"/>
              <a:t>Uniform Resource Locator</a:t>
            </a:r>
            <a:endParaRPr lang="LID4096" dirty="0"/>
          </a:p>
        </p:txBody>
      </p:sp>
      <p:sp>
        <p:nvSpPr>
          <p:cNvPr id="4" name="Tekstvak 33">
            <a:extLst>
              <a:ext uri="{FF2B5EF4-FFF2-40B4-BE49-F238E27FC236}">
                <a16:creationId xmlns:a16="http://schemas.microsoft.com/office/drawing/2014/main" id="{F239AF24-CF3D-CEB5-1D05-E9BE3F992454}"/>
              </a:ext>
            </a:extLst>
          </p:cNvPr>
          <p:cNvSpPr txBox="1"/>
          <p:nvPr/>
        </p:nvSpPr>
        <p:spPr>
          <a:xfrm>
            <a:off x="988670" y="1974396"/>
            <a:ext cx="10515599" cy="815608"/>
          </a:xfrm>
          <a:prstGeom prst="rect">
            <a:avLst/>
          </a:prstGeom>
          <a:noFill/>
        </p:spPr>
        <p:txBody>
          <a:bodyPr wrap="square" rtlCol="0">
            <a:spAutoFit/>
          </a:bodyPr>
          <a:lstStyle/>
          <a:p>
            <a:pPr algn="ctr"/>
            <a:r>
              <a:rPr lang="nl-BE" sz="4700" dirty="0">
                <a:latin typeface="Barlow Condensed" panose="00000506000000000000" pitchFamily="2" charset="0"/>
              </a:rPr>
              <a:t>https://www.sleutelboek.eu/netwerken/dns.html</a:t>
            </a:r>
          </a:p>
        </p:txBody>
      </p:sp>
      <p:sp>
        <p:nvSpPr>
          <p:cNvPr id="5" name="Rectangle 4">
            <a:extLst>
              <a:ext uri="{FF2B5EF4-FFF2-40B4-BE49-F238E27FC236}">
                <a16:creationId xmlns:a16="http://schemas.microsoft.com/office/drawing/2014/main" id="{46C13DC5-DE6F-0C9D-863C-83ADE75B81E2}"/>
              </a:ext>
            </a:extLst>
          </p:cNvPr>
          <p:cNvSpPr/>
          <p:nvPr/>
        </p:nvSpPr>
        <p:spPr>
          <a:xfrm>
            <a:off x="6366075" y="1992668"/>
            <a:ext cx="567159" cy="81560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LID4096"/>
          </a:p>
        </p:txBody>
      </p:sp>
      <p:sp>
        <p:nvSpPr>
          <p:cNvPr id="6" name="TextBox 5">
            <a:extLst>
              <a:ext uri="{FF2B5EF4-FFF2-40B4-BE49-F238E27FC236}">
                <a16:creationId xmlns:a16="http://schemas.microsoft.com/office/drawing/2014/main" id="{B7ABE01A-E9A3-9B21-18DB-7624755C5440}"/>
              </a:ext>
            </a:extLst>
          </p:cNvPr>
          <p:cNvSpPr txBox="1"/>
          <p:nvPr/>
        </p:nvSpPr>
        <p:spPr>
          <a:xfrm>
            <a:off x="2988677" y="4067997"/>
            <a:ext cx="6754796" cy="2308324"/>
          </a:xfrm>
          <a:prstGeom prst="rect">
            <a:avLst/>
          </a:prstGeom>
          <a:noFill/>
        </p:spPr>
        <p:txBody>
          <a:bodyPr wrap="square" rtlCol="0">
            <a:spAutoFit/>
          </a:bodyPr>
          <a:lstStyle/>
          <a:p>
            <a:pPr algn="ctr"/>
            <a:r>
              <a:rPr lang="en-US" sz="7200" dirty="0" err="1"/>
              <a:t>Domeinextensie</a:t>
            </a:r>
            <a:endParaRPr lang="en-US" sz="7200" dirty="0"/>
          </a:p>
          <a:p>
            <a:pPr algn="ctr"/>
            <a:r>
              <a:rPr lang="en-US" sz="7200" dirty="0"/>
              <a:t>TLD</a:t>
            </a:r>
            <a:endParaRPr lang="LID4096" sz="7200" dirty="0"/>
          </a:p>
        </p:txBody>
      </p:sp>
    </p:spTree>
    <p:extLst>
      <p:ext uri="{BB962C8B-B14F-4D97-AF65-F5344CB8AC3E}">
        <p14:creationId xmlns:p14="http://schemas.microsoft.com/office/powerpoint/2010/main" val="1979689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71FD4-21B0-44C8-F91D-1847396B27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CF597-3757-4140-AC22-BB19225240C2}"/>
              </a:ext>
            </a:extLst>
          </p:cNvPr>
          <p:cNvSpPr>
            <a:spLocks noGrp="1"/>
          </p:cNvSpPr>
          <p:nvPr>
            <p:ph type="title"/>
          </p:nvPr>
        </p:nvSpPr>
        <p:spPr/>
        <p:txBody>
          <a:bodyPr/>
          <a:lstStyle/>
          <a:p>
            <a:r>
              <a:rPr lang="en-US" dirty="0"/>
              <a:t>Uniform Resource Locator</a:t>
            </a:r>
            <a:endParaRPr lang="LID4096" dirty="0"/>
          </a:p>
        </p:txBody>
      </p:sp>
      <p:sp>
        <p:nvSpPr>
          <p:cNvPr id="4" name="Tekstvak 33">
            <a:extLst>
              <a:ext uri="{FF2B5EF4-FFF2-40B4-BE49-F238E27FC236}">
                <a16:creationId xmlns:a16="http://schemas.microsoft.com/office/drawing/2014/main" id="{D1214F1F-B7F2-C053-4C25-8DE174817D65}"/>
              </a:ext>
            </a:extLst>
          </p:cNvPr>
          <p:cNvSpPr txBox="1"/>
          <p:nvPr/>
        </p:nvSpPr>
        <p:spPr>
          <a:xfrm>
            <a:off x="988670" y="1974396"/>
            <a:ext cx="10515599" cy="815608"/>
          </a:xfrm>
          <a:prstGeom prst="rect">
            <a:avLst/>
          </a:prstGeom>
          <a:noFill/>
        </p:spPr>
        <p:txBody>
          <a:bodyPr wrap="square" rtlCol="0">
            <a:spAutoFit/>
          </a:bodyPr>
          <a:lstStyle/>
          <a:p>
            <a:pPr algn="ctr"/>
            <a:r>
              <a:rPr lang="nl-BE" sz="4700" dirty="0">
                <a:latin typeface="Barlow Condensed" panose="00000506000000000000" pitchFamily="2" charset="0"/>
              </a:rPr>
              <a:t>https://www.sleutelboek.eu/netwerken/dns.html</a:t>
            </a:r>
          </a:p>
        </p:txBody>
      </p:sp>
      <p:sp>
        <p:nvSpPr>
          <p:cNvPr id="5" name="Rectangle 4">
            <a:extLst>
              <a:ext uri="{FF2B5EF4-FFF2-40B4-BE49-F238E27FC236}">
                <a16:creationId xmlns:a16="http://schemas.microsoft.com/office/drawing/2014/main" id="{A234B7EC-B946-C483-2893-23C75C54211F}"/>
              </a:ext>
            </a:extLst>
          </p:cNvPr>
          <p:cNvSpPr/>
          <p:nvPr/>
        </p:nvSpPr>
        <p:spPr>
          <a:xfrm>
            <a:off x="7083706" y="1974396"/>
            <a:ext cx="2187616" cy="81560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LID4096"/>
          </a:p>
        </p:txBody>
      </p:sp>
      <p:sp>
        <p:nvSpPr>
          <p:cNvPr id="6" name="TextBox 5">
            <a:extLst>
              <a:ext uri="{FF2B5EF4-FFF2-40B4-BE49-F238E27FC236}">
                <a16:creationId xmlns:a16="http://schemas.microsoft.com/office/drawing/2014/main" id="{C8D248BD-8BB9-0CCB-1566-BCFD9F6CE0A9}"/>
              </a:ext>
            </a:extLst>
          </p:cNvPr>
          <p:cNvSpPr txBox="1"/>
          <p:nvPr/>
        </p:nvSpPr>
        <p:spPr>
          <a:xfrm>
            <a:off x="2988677" y="4067997"/>
            <a:ext cx="6754796" cy="1200329"/>
          </a:xfrm>
          <a:prstGeom prst="rect">
            <a:avLst/>
          </a:prstGeom>
          <a:noFill/>
        </p:spPr>
        <p:txBody>
          <a:bodyPr wrap="square" rtlCol="0">
            <a:spAutoFit/>
          </a:bodyPr>
          <a:lstStyle/>
          <a:p>
            <a:pPr algn="ctr"/>
            <a:r>
              <a:rPr lang="en-US" sz="7200" dirty="0" err="1"/>
              <a:t>Mapstructuur</a:t>
            </a:r>
            <a:endParaRPr lang="LID4096" sz="7200" dirty="0"/>
          </a:p>
        </p:txBody>
      </p:sp>
    </p:spTree>
    <p:extLst>
      <p:ext uri="{BB962C8B-B14F-4D97-AF65-F5344CB8AC3E}">
        <p14:creationId xmlns:p14="http://schemas.microsoft.com/office/powerpoint/2010/main" val="45784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B0FEE-01B4-2F4D-0CCE-9FDA29C35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472566-1194-9D1B-EE98-B21953740839}"/>
              </a:ext>
            </a:extLst>
          </p:cNvPr>
          <p:cNvSpPr>
            <a:spLocks noGrp="1"/>
          </p:cNvSpPr>
          <p:nvPr>
            <p:ph type="title"/>
          </p:nvPr>
        </p:nvSpPr>
        <p:spPr/>
        <p:txBody>
          <a:bodyPr/>
          <a:lstStyle/>
          <a:p>
            <a:r>
              <a:rPr lang="en-US" dirty="0"/>
              <a:t>Uniform Resource Locator</a:t>
            </a:r>
            <a:endParaRPr lang="LID4096" dirty="0"/>
          </a:p>
        </p:txBody>
      </p:sp>
      <p:sp>
        <p:nvSpPr>
          <p:cNvPr id="4" name="Tekstvak 33">
            <a:extLst>
              <a:ext uri="{FF2B5EF4-FFF2-40B4-BE49-F238E27FC236}">
                <a16:creationId xmlns:a16="http://schemas.microsoft.com/office/drawing/2014/main" id="{4EA058DA-02C5-14ED-CAFC-F45A91F490C2}"/>
              </a:ext>
            </a:extLst>
          </p:cNvPr>
          <p:cNvSpPr txBox="1"/>
          <p:nvPr/>
        </p:nvSpPr>
        <p:spPr>
          <a:xfrm>
            <a:off x="988670" y="1974396"/>
            <a:ext cx="10515599" cy="815608"/>
          </a:xfrm>
          <a:prstGeom prst="rect">
            <a:avLst/>
          </a:prstGeom>
          <a:noFill/>
        </p:spPr>
        <p:txBody>
          <a:bodyPr wrap="square" rtlCol="0">
            <a:spAutoFit/>
          </a:bodyPr>
          <a:lstStyle/>
          <a:p>
            <a:pPr algn="ctr"/>
            <a:r>
              <a:rPr lang="nl-BE" sz="4700" dirty="0">
                <a:latin typeface="Barlow Condensed" panose="00000506000000000000" pitchFamily="2" charset="0"/>
              </a:rPr>
              <a:t>https://www.sleutelboek.eu/netwerken/dns.html</a:t>
            </a:r>
          </a:p>
        </p:txBody>
      </p:sp>
      <p:sp>
        <p:nvSpPr>
          <p:cNvPr id="5" name="Rectangle 4">
            <a:extLst>
              <a:ext uri="{FF2B5EF4-FFF2-40B4-BE49-F238E27FC236}">
                <a16:creationId xmlns:a16="http://schemas.microsoft.com/office/drawing/2014/main" id="{4E2FB364-A3AE-B40C-5956-5BB75C768D9B}"/>
              </a:ext>
            </a:extLst>
          </p:cNvPr>
          <p:cNvSpPr/>
          <p:nvPr/>
        </p:nvSpPr>
        <p:spPr>
          <a:xfrm>
            <a:off x="9410217" y="1981096"/>
            <a:ext cx="1943583" cy="81560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LID4096"/>
          </a:p>
        </p:txBody>
      </p:sp>
      <p:sp>
        <p:nvSpPr>
          <p:cNvPr id="6" name="TextBox 5">
            <a:extLst>
              <a:ext uri="{FF2B5EF4-FFF2-40B4-BE49-F238E27FC236}">
                <a16:creationId xmlns:a16="http://schemas.microsoft.com/office/drawing/2014/main" id="{1340A6B5-D051-9CAF-5A47-F453B6ECA0A7}"/>
              </a:ext>
            </a:extLst>
          </p:cNvPr>
          <p:cNvSpPr txBox="1"/>
          <p:nvPr/>
        </p:nvSpPr>
        <p:spPr>
          <a:xfrm>
            <a:off x="2988677" y="4067997"/>
            <a:ext cx="6754796" cy="1200329"/>
          </a:xfrm>
          <a:prstGeom prst="rect">
            <a:avLst/>
          </a:prstGeom>
          <a:noFill/>
        </p:spPr>
        <p:txBody>
          <a:bodyPr wrap="square" rtlCol="0">
            <a:spAutoFit/>
          </a:bodyPr>
          <a:lstStyle/>
          <a:p>
            <a:pPr algn="ctr"/>
            <a:r>
              <a:rPr lang="en-US" sz="7200" dirty="0" err="1"/>
              <a:t>Bestand</a:t>
            </a:r>
            <a:endParaRPr lang="LID4096" sz="7200" dirty="0"/>
          </a:p>
        </p:txBody>
      </p:sp>
    </p:spTree>
    <p:extLst>
      <p:ext uri="{BB962C8B-B14F-4D97-AF65-F5344CB8AC3E}">
        <p14:creationId xmlns:p14="http://schemas.microsoft.com/office/powerpoint/2010/main" val="1380159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DDEDC-B05D-CF6F-D674-320A80440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0EF20-5D42-858A-C376-209EF896D59C}"/>
              </a:ext>
            </a:extLst>
          </p:cNvPr>
          <p:cNvSpPr>
            <a:spLocks noGrp="1"/>
          </p:cNvSpPr>
          <p:nvPr>
            <p:ph type="ctrTitle"/>
          </p:nvPr>
        </p:nvSpPr>
        <p:spPr>
          <a:xfrm>
            <a:off x="1524000" y="1748005"/>
            <a:ext cx="9144000" cy="2387600"/>
          </a:xfrm>
        </p:spPr>
        <p:txBody>
          <a:bodyPr/>
          <a:lstStyle/>
          <a:p>
            <a:r>
              <a:rPr lang="en-US" dirty="0"/>
              <a:t>Cloud Computing</a:t>
            </a:r>
            <a:endParaRPr lang="LID4096" dirty="0"/>
          </a:p>
        </p:txBody>
      </p:sp>
    </p:spTree>
    <p:extLst>
      <p:ext uri="{BB962C8B-B14F-4D97-AF65-F5344CB8AC3E}">
        <p14:creationId xmlns:p14="http://schemas.microsoft.com/office/powerpoint/2010/main" val="16449098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935CB-2738-1EFD-C69B-31EC73A8DD14}"/>
              </a:ext>
            </a:extLst>
          </p:cNvPr>
          <p:cNvSpPr>
            <a:spLocks noGrp="1"/>
          </p:cNvSpPr>
          <p:nvPr>
            <p:ph type="title"/>
          </p:nvPr>
        </p:nvSpPr>
        <p:spPr/>
        <p:txBody>
          <a:bodyPr/>
          <a:lstStyle/>
          <a:p>
            <a:r>
              <a:rPr lang="en-US" dirty="0"/>
              <a:t>Cloud Computing</a:t>
            </a:r>
            <a:endParaRPr lang="LID4096" dirty="0"/>
          </a:p>
        </p:txBody>
      </p:sp>
      <p:pic>
        <p:nvPicPr>
          <p:cNvPr id="4" name="Picture 2" descr="Smartphone - Free technology icons">
            <a:extLst>
              <a:ext uri="{FF2B5EF4-FFF2-40B4-BE49-F238E27FC236}">
                <a16:creationId xmlns:a16="http://schemas.microsoft.com/office/drawing/2014/main" id="{E190EB31-D1BC-FFA4-5834-69B6649594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4805" y="2823210"/>
            <a:ext cx="2534040" cy="253404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Dropbox logo - Free logo icons">
            <a:extLst>
              <a:ext uri="{FF2B5EF4-FFF2-40B4-BE49-F238E27FC236}">
                <a16:creationId xmlns:a16="http://schemas.microsoft.com/office/drawing/2014/main" id="{EEB14B38-7A08-6832-98C3-4C27F7948B0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60469" y="1517968"/>
            <a:ext cx="1534795" cy="153479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OneDrive Logo, symbol, meaning, history, PNG, brand">
            <a:extLst>
              <a:ext uri="{FF2B5EF4-FFF2-40B4-BE49-F238E27FC236}">
                <a16:creationId xmlns:a16="http://schemas.microsoft.com/office/drawing/2014/main" id="{590885BA-887C-F480-7E63-22F7E165E2F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079688" y="3261807"/>
            <a:ext cx="2210204" cy="12432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2" descr="ICloud icon logo template - ICloud icon logo template vector free download">
            <a:extLst>
              <a:ext uri="{FF2B5EF4-FFF2-40B4-BE49-F238E27FC236}">
                <a16:creationId xmlns:a16="http://schemas.microsoft.com/office/drawing/2014/main" id="{0DFB5D1F-44B6-B43A-F727-965693B951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85661" y="4714091"/>
            <a:ext cx="2029144" cy="202914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4" descr="Spotify: Music and Podcasts - Apps op Google Play">
            <a:extLst>
              <a:ext uri="{FF2B5EF4-FFF2-40B4-BE49-F238E27FC236}">
                <a16:creationId xmlns:a16="http://schemas.microsoft.com/office/drawing/2014/main" id="{0EB2B939-3A05-46EC-7AC7-B36E01BB26B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40285" y="4904166"/>
            <a:ext cx="1648994" cy="164899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8" descr="Netflix Logo and symbol, meaning, history, PNG, brand">
            <a:extLst>
              <a:ext uri="{FF2B5EF4-FFF2-40B4-BE49-F238E27FC236}">
                <a16:creationId xmlns:a16="http://schemas.microsoft.com/office/drawing/2014/main" id="{DC302A49-52C3-81D6-BFFD-4C3B98C4087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052988" y="3442593"/>
            <a:ext cx="216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0" descr="File:Disney+ logo.svg - Wikipedia">
            <a:extLst>
              <a:ext uri="{FF2B5EF4-FFF2-40B4-BE49-F238E27FC236}">
                <a16:creationId xmlns:a16="http://schemas.microsoft.com/office/drawing/2014/main" id="{866C95D5-0B1C-3B51-BC3F-E0C3BCC7E30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473580" y="1517968"/>
            <a:ext cx="2653996" cy="14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23074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ED796-07E5-CE5D-EDCF-469E67E463B4}"/>
              </a:ext>
            </a:extLst>
          </p:cNvPr>
          <p:cNvSpPr>
            <a:spLocks noGrp="1"/>
          </p:cNvSpPr>
          <p:nvPr>
            <p:ph type="title"/>
          </p:nvPr>
        </p:nvSpPr>
        <p:spPr/>
        <p:txBody>
          <a:bodyPr/>
          <a:lstStyle/>
          <a:p>
            <a:r>
              <a:rPr lang="en-US" dirty="0"/>
              <a:t>SaaS – Software as a Service</a:t>
            </a:r>
            <a:endParaRPr lang="LID4096" dirty="0"/>
          </a:p>
        </p:txBody>
      </p:sp>
      <p:pic>
        <p:nvPicPr>
          <p:cNvPr id="4" name="Picture 4" descr="Cloud Diensten • View-Media.be | Computer Solutions">
            <a:extLst>
              <a:ext uri="{FF2B5EF4-FFF2-40B4-BE49-F238E27FC236}">
                <a16:creationId xmlns:a16="http://schemas.microsoft.com/office/drawing/2014/main" id="{3F6EEB7F-1F79-0278-0095-772CB08F97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9447" y="2042071"/>
            <a:ext cx="3747770" cy="374777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How to Set-up Notifications in Google Docs and Sheets - School District 60  | Technology Services">
            <a:extLst>
              <a:ext uri="{FF2B5EF4-FFF2-40B4-BE49-F238E27FC236}">
                <a16:creationId xmlns:a16="http://schemas.microsoft.com/office/drawing/2014/main" id="{830B00AF-F553-B597-1719-D103CFB4705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11550" y="2406180"/>
            <a:ext cx="3099056" cy="3099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65566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B54B9-242E-FAC0-477C-5014D6F61FE2}"/>
              </a:ext>
            </a:extLst>
          </p:cNvPr>
          <p:cNvSpPr>
            <a:spLocks noGrp="1"/>
          </p:cNvSpPr>
          <p:nvPr>
            <p:ph type="title"/>
          </p:nvPr>
        </p:nvSpPr>
        <p:spPr/>
        <p:txBody>
          <a:bodyPr/>
          <a:lstStyle/>
          <a:p>
            <a:r>
              <a:rPr lang="en-US"/>
              <a:t>PaaS – Platform as a Service</a:t>
            </a:r>
            <a:endParaRPr lang="LID4096" dirty="0"/>
          </a:p>
        </p:txBody>
      </p:sp>
      <p:pic>
        <p:nvPicPr>
          <p:cNvPr id="4" name="Picture 2" descr="Citrix Logos">
            <a:extLst>
              <a:ext uri="{FF2B5EF4-FFF2-40B4-BE49-F238E27FC236}">
                <a16:creationId xmlns:a16="http://schemas.microsoft.com/office/drawing/2014/main" id="{FE0AB347-C5BC-73C7-4CCE-184A862DC6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2520" y="2443497"/>
            <a:ext cx="5095875" cy="2857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zure-cloud-logo - Wallit">
            <a:extLst>
              <a:ext uri="{FF2B5EF4-FFF2-40B4-BE49-F238E27FC236}">
                <a16:creationId xmlns:a16="http://schemas.microsoft.com/office/drawing/2014/main" id="{041ACEDE-AA8F-9659-964D-C0326E39B7B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8950" y="2704056"/>
            <a:ext cx="3900805" cy="2229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389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61AC5-FCCD-1B45-FE5D-FF6FB4A5C6D5}"/>
              </a:ext>
            </a:extLst>
          </p:cNvPr>
          <p:cNvSpPr>
            <a:spLocks noGrp="1"/>
          </p:cNvSpPr>
          <p:nvPr>
            <p:ph type="title"/>
          </p:nvPr>
        </p:nvSpPr>
        <p:spPr/>
        <p:txBody>
          <a:bodyPr/>
          <a:lstStyle/>
          <a:p>
            <a:r>
              <a:rPr lang="en-US" dirty="0"/>
              <a:t>IaaS – </a:t>
            </a:r>
            <a:r>
              <a:rPr lang="en-US" dirty="0" err="1"/>
              <a:t>Infrastucture</a:t>
            </a:r>
            <a:r>
              <a:rPr lang="en-US" dirty="0"/>
              <a:t> as a Service</a:t>
            </a:r>
            <a:endParaRPr lang="LID4096" dirty="0"/>
          </a:p>
        </p:txBody>
      </p:sp>
      <p:pic>
        <p:nvPicPr>
          <p:cNvPr id="4" name="Picture 6" descr="iCloud Logo, symbol, meaning, history, PNG, brand">
            <a:extLst>
              <a:ext uri="{FF2B5EF4-FFF2-40B4-BE49-F238E27FC236}">
                <a16:creationId xmlns:a16="http://schemas.microsoft.com/office/drawing/2014/main" id="{9838E0AB-C228-C186-1123-7665D79AEB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85160" y="2026566"/>
            <a:ext cx="5821680" cy="3473137"/>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8">
            <a:extLst>
              <a:ext uri="{FF2B5EF4-FFF2-40B4-BE49-F238E27FC236}">
                <a16:creationId xmlns:a16="http://schemas.microsoft.com/office/drawing/2014/main" id="{A738C1E6-773D-C476-9078-7F8F64D8B1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8156" y="2629006"/>
            <a:ext cx="2611324" cy="2611324"/>
          </a:xfrm>
          <a:prstGeom prst="rect">
            <a:avLst/>
          </a:prstGeom>
        </p:spPr>
      </p:pic>
    </p:spTree>
    <p:extLst>
      <p:ext uri="{BB962C8B-B14F-4D97-AF65-F5344CB8AC3E}">
        <p14:creationId xmlns:p14="http://schemas.microsoft.com/office/powerpoint/2010/main" val="3381965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3F0E0-A468-7289-12DA-FD8FC49F4B7F}"/>
              </a:ext>
            </a:extLst>
          </p:cNvPr>
          <p:cNvSpPr>
            <a:spLocks noGrp="1"/>
          </p:cNvSpPr>
          <p:nvPr>
            <p:ph type="title"/>
          </p:nvPr>
        </p:nvSpPr>
        <p:spPr/>
        <p:txBody>
          <a:bodyPr/>
          <a:lstStyle/>
          <a:p>
            <a:r>
              <a:rPr lang="en-US" dirty="0"/>
              <a:t>Private Cloud Computing</a:t>
            </a:r>
            <a:endParaRPr lang="LID4096" dirty="0"/>
          </a:p>
        </p:txBody>
      </p:sp>
      <p:pic>
        <p:nvPicPr>
          <p:cNvPr id="4" name="Picture 6" descr="iCloud Logo, symbol, meaning, history, PNG, brand">
            <a:extLst>
              <a:ext uri="{FF2B5EF4-FFF2-40B4-BE49-F238E27FC236}">
                <a16:creationId xmlns:a16="http://schemas.microsoft.com/office/drawing/2014/main" id="{CBC9D528-B7BD-158E-E7D6-471CE7DC1ED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27884" y="2720826"/>
            <a:ext cx="3835466" cy="2288188"/>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14">
            <a:extLst>
              <a:ext uri="{FF2B5EF4-FFF2-40B4-BE49-F238E27FC236}">
                <a16:creationId xmlns:a16="http://schemas.microsoft.com/office/drawing/2014/main" id="{719EAF46-BA9B-4017-3F9B-D397243679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42825" y="2801669"/>
            <a:ext cx="2207345" cy="2207345"/>
          </a:xfrm>
          <a:prstGeom prst="rect">
            <a:avLst/>
          </a:prstGeom>
        </p:spPr>
      </p:pic>
      <p:pic>
        <p:nvPicPr>
          <p:cNvPr id="6" name="Picture 2" descr="Office building - Free buildings icons">
            <a:extLst>
              <a:ext uri="{FF2B5EF4-FFF2-40B4-BE49-F238E27FC236}">
                <a16:creationId xmlns:a16="http://schemas.microsoft.com/office/drawing/2014/main" id="{1BE23622-6154-7F06-44E9-FDCF76939E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0650" y="1950388"/>
            <a:ext cx="3829063" cy="3829064"/>
          </a:xfrm>
          <a:prstGeom prst="rect">
            <a:avLst/>
          </a:prstGeom>
          <a:noFill/>
          <a:extLst>
            <a:ext uri="{909E8E84-426E-40DD-AFC4-6F175D3DCCD1}">
              <a14:hiddenFill xmlns:a14="http://schemas.microsoft.com/office/drawing/2010/main">
                <a:solidFill>
                  <a:srgbClr val="FFFFFF"/>
                </a:solidFill>
              </a14:hiddenFill>
            </a:ext>
          </a:extLst>
        </p:spPr>
      </p:pic>
      <p:cxnSp>
        <p:nvCxnSpPr>
          <p:cNvPr id="7" name="Rechte verbindingslijn 16">
            <a:extLst>
              <a:ext uri="{FF2B5EF4-FFF2-40B4-BE49-F238E27FC236}">
                <a16:creationId xmlns:a16="http://schemas.microsoft.com/office/drawing/2014/main" id="{15D25934-F0A7-D409-A11D-12A93CA65DAF}"/>
              </a:ext>
            </a:extLst>
          </p:cNvPr>
          <p:cNvCxnSpPr/>
          <p:nvPr/>
        </p:nvCxnSpPr>
        <p:spPr>
          <a:xfrm flipH="1">
            <a:off x="5299724" y="4124293"/>
            <a:ext cx="2644126" cy="0"/>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47679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840B2-A3C0-6678-FD7B-0996B88D2132}"/>
              </a:ext>
            </a:extLst>
          </p:cNvPr>
          <p:cNvSpPr>
            <a:spLocks noGrp="1"/>
          </p:cNvSpPr>
          <p:nvPr>
            <p:ph type="title"/>
          </p:nvPr>
        </p:nvSpPr>
        <p:spPr/>
        <p:txBody>
          <a:bodyPr/>
          <a:lstStyle/>
          <a:p>
            <a:r>
              <a:rPr lang="en-US" dirty="0"/>
              <a:t>Community Cloud Computing</a:t>
            </a:r>
            <a:endParaRPr lang="LID4096" dirty="0"/>
          </a:p>
        </p:txBody>
      </p:sp>
      <p:pic>
        <p:nvPicPr>
          <p:cNvPr id="4" name="Picture 6" descr="iCloud Logo, symbol, meaning, history, PNG, brand">
            <a:extLst>
              <a:ext uri="{FF2B5EF4-FFF2-40B4-BE49-F238E27FC236}">
                <a16:creationId xmlns:a16="http://schemas.microsoft.com/office/drawing/2014/main" id="{A09AFD7D-8AFA-B4F9-92A1-2562C44BF4D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13534" y="2636572"/>
            <a:ext cx="3835466" cy="2288188"/>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14">
            <a:extLst>
              <a:ext uri="{FF2B5EF4-FFF2-40B4-BE49-F238E27FC236}">
                <a16:creationId xmlns:a16="http://schemas.microsoft.com/office/drawing/2014/main" id="{FCB7741D-AF65-FBC9-3FCA-01EAC1E460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28475" y="2717415"/>
            <a:ext cx="2207345" cy="2207345"/>
          </a:xfrm>
          <a:prstGeom prst="rect">
            <a:avLst/>
          </a:prstGeom>
        </p:spPr>
      </p:pic>
      <p:pic>
        <p:nvPicPr>
          <p:cNvPr id="6" name="Picture 2" descr="Office building - Free buildings icons">
            <a:extLst>
              <a:ext uri="{FF2B5EF4-FFF2-40B4-BE49-F238E27FC236}">
                <a16:creationId xmlns:a16="http://schemas.microsoft.com/office/drawing/2014/main" id="{F424F4FE-4063-D038-ADCA-CE1DAF14F3B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92966" y="1690688"/>
            <a:ext cx="1470992" cy="1470992"/>
          </a:xfrm>
          <a:prstGeom prst="rect">
            <a:avLst/>
          </a:prstGeom>
          <a:noFill/>
          <a:extLst>
            <a:ext uri="{909E8E84-426E-40DD-AFC4-6F175D3DCCD1}">
              <a14:hiddenFill xmlns:a14="http://schemas.microsoft.com/office/drawing/2010/main">
                <a:solidFill>
                  <a:srgbClr val="FFFFFF"/>
                </a:solidFill>
              </a14:hiddenFill>
            </a:ext>
          </a:extLst>
        </p:spPr>
      </p:pic>
      <p:cxnSp>
        <p:nvCxnSpPr>
          <p:cNvPr id="7" name="Rechte verbindingslijn 16">
            <a:extLst>
              <a:ext uri="{FF2B5EF4-FFF2-40B4-BE49-F238E27FC236}">
                <a16:creationId xmlns:a16="http://schemas.microsoft.com/office/drawing/2014/main" id="{35AB2BE4-1FFC-36CA-C73F-41509757770A}"/>
              </a:ext>
            </a:extLst>
          </p:cNvPr>
          <p:cNvCxnSpPr/>
          <p:nvPr/>
        </p:nvCxnSpPr>
        <p:spPr>
          <a:xfrm flipH="1">
            <a:off x="3070129" y="4040039"/>
            <a:ext cx="4359371" cy="0"/>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8" name="Picture 2" descr="Office building - Free buildings icons">
            <a:extLst>
              <a:ext uri="{FF2B5EF4-FFF2-40B4-BE49-F238E27FC236}">
                <a16:creationId xmlns:a16="http://schemas.microsoft.com/office/drawing/2014/main" id="{8F5CB552-4A16-D406-7210-43516950C8E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99137" y="3161680"/>
            <a:ext cx="1470992" cy="147099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Office building - Free buildings icons">
            <a:extLst>
              <a:ext uri="{FF2B5EF4-FFF2-40B4-BE49-F238E27FC236}">
                <a16:creationId xmlns:a16="http://schemas.microsoft.com/office/drawing/2014/main" id="{63E72B32-9398-962B-A667-CB27280815E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92966" y="4473727"/>
            <a:ext cx="1470992" cy="1470992"/>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Rechte verbindingslijn 13">
            <a:extLst>
              <a:ext uri="{FF2B5EF4-FFF2-40B4-BE49-F238E27FC236}">
                <a16:creationId xmlns:a16="http://schemas.microsoft.com/office/drawing/2014/main" id="{8B2BD897-1345-E3F5-5638-939DFAC0A660}"/>
              </a:ext>
            </a:extLst>
          </p:cNvPr>
          <p:cNvCxnSpPr/>
          <p:nvPr/>
        </p:nvCxnSpPr>
        <p:spPr>
          <a:xfrm flipH="1">
            <a:off x="5263958" y="4515949"/>
            <a:ext cx="2179686" cy="693274"/>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Rechte verbindingslijn 17">
            <a:extLst>
              <a:ext uri="{FF2B5EF4-FFF2-40B4-BE49-F238E27FC236}">
                <a16:creationId xmlns:a16="http://schemas.microsoft.com/office/drawing/2014/main" id="{C1EFBFAE-92A2-4CF4-D6D0-C2E1E03A668F}"/>
              </a:ext>
            </a:extLst>
          </p:cNvPr>
          <p:cNvCxnSpPr/>
          <p:nvPr/>
        </p:nvCxnSpPr>
        <p:spPr>
          <a:xfrm flipH="1" flipV="1">
            <a:off x="5263958" y="2753714"/>
            <a:ext cx="2268412" cy="883875"/>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6464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5F502-0FBC-1540-1C23-3E70FB23FFC6}"/>
              </a:ext>
            </a:extLst>
          </p:cNvPr>
          <p:cNvSpPr>
            <a:spLocks noGrp="1"/>
          </p:cNvSpPr>
          <p:nvPr>
            <p:ph type="title"/>
          </p:nvPr>
        </p:nvSpPr>
        <p:spPr/>
        <p:txBody>
          <a:bodyPr/>
          <a:lstStyle/>
          <a:p>
            <a:r>
              <a:rPr lang="en-US" dirty="0"/>
              <a:t>Public Cloud Computing</a:t>
            </a:r>
            <a:endParaRPr lang="LID4096" dirty="0"/>
          </a:p>
        </p:txBody>
      </p:sp>
      <p:pic>
        <p:nvPicPr>
          <p:cNvPr id="4" name="Picture 6" descr="iCloud Logo, symbol, meaning, history, PNG, brand">
            <a:extLst>
              <a:ext uri="{FF2B5EF4-FFF2-40B4-BE49-F238E27FC236}">
                <a16:creationId xmlns:a16="http://schemas.microsoft.com/office/drawing/2014/main" id="{E41168CA-C62B-BE65-27F9-814D8577AC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75434" y="2753458"/>
            <a:ext cx="3835466" cy="2288188"/>
          </a:xfrm>
          <a:prstGeom prst="rect">
            <a:avLst/>
          </a:prstGeom>
          <a:noFill/>
          <a:extLst>
            <a:ext uri="{909E8E84-426E-40DD-AFC4-6F175D3DCCD1}">
              <a14:hiddenFill xmlns:a14="http://schemas.microsoft.com/office/drawing/2010/main">
                <a:solidFill>
                  <a:srgbClr val="FFFFFF"/>
                </a:solidFill>
              </a14:hiddenFill>
            </a:ext>
          </a:extLst>
        </p:spPr>
      </p:pic>
      <p:pic>
        <p:nvPicPr>
          <p:cNvPr id="5" name="Afbeelding 14">
            <a:extLst>
              <a:ext uri="{FF2B5EF4-FFF2-40B4-BE49-F238E27FC236}">
                <a16:creationId xmlns:a16="http://schemas.microsoft.com/office/drawing/2014/main" id="{36D9DE90-2681-1AB8-E0AD-42922C4F98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90375" y="2834301"/>
            <a:ext cx="2207345" cy="2207345"/>
          </a:xfrm>
          <a:prstGeom prst="rect">
            <a:avLst/>
          </a:prstGeom>
        </p:spPr>
      </p:pic>
      <p:pic>
        <p:nvPicPr>
          <p:cNvPr id="6" name="Picture 2" descr="Office building - Free buildings icons">
            <a:extLst>
              <a:ext uri="{FF2B5EF4-FFF2-40B4-BE49-F238E27FC236}">
                <a16:creationId xmlns:a16="http://schemas.microsoft.com/office/drawing/2014/main" id="{6F383378-20E8-49BC-D759-9DBB8FD5DF7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54866" y="1807574"/>
            <a:ext cx="1470992" cy="1470992"/>
          </a:xfrm>
          <a:prstGeom prst="rect">
            <a:avLst/>
          </a:prstGeom>
          <a:noFill/>
          <a:extLst>
            <a:ext uri="{909E8E84-426E-40DD-AFC4-6F175D3DCCD1}">
              <a14:hiddenFill xmlns:a14="http://schemas.microsoft.com/office/drawing/2010/main">
                <a:solidFill>
                  <a:srgbClr val="FFFFFF"/>
                </a:solidFill>
              </a14:hiddenFill>
            </a:ext>
          </a:extLst>
        </p:spPr>
      </p:pic>
      <p:cxnSp>
        <p:nvCxnSpPr>
          <p:cNvPr id="7" name="Rechte verbindingslijn 16">
            <a:extLst>
              <a:ext uri="{FF2B5EF4-FFF2-40B4-BE49-F238E27FC236}">
                <a16:creationId xmlns:a16="http://schemas.microsoft.com/office/drawing/2014/main" id="{2A40B5C2-BBFB-4DCA-1CD3-9F8ACDA7DB02}"/>
              </a:ext>
            </a:extLst>
          </p:cNvPr>
          <p:cNvCxnSpPr/>
          <p:nvPr/>
        </p:nvCxnSpPr>
        <p:spPr>
          <a:xfrm flipH="1">
            <a:off x="3032029" y="4156925"/>
            <a:ext cx="4359371" cy="0"/>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8" name="Picture 2" descr="Office building - Free buildings icons">
            <a:extLst>
              <a:ext uri="{FF2B5EF4-FFF2-40B4-BE49-F238E27FC236}">
                <a16:creationId xmlns:a16="http://schemas.microsoft.com/office/drawing/2014/main" id="{A70D4D2E-6FD8-7680-863B-9A94D87B985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61037" y="3278566"/>
            <a:ext cx="1470992" cy="147099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Office building - Free buildings icons">
            <a:extLst>
              <a:ext uri="{FF2B5EF4-FFF2-40B4-BE49-F238E27FC236}">
                <a16:creationId xmlns:a16="http://schemas.microsoft.com/office/drawing/2014/main" id="{AF3D66D4-DA69-DFDD-1EE2-706AE6731E2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54866" y="4590613"/>
            <a:ext cx="1470992" cy="1470992"/>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Rechte verbindingslijn 13">
            <a:extLst>
              <a:ext uri="{FF2B5EF4-FFF2-40B4-BE49-F238E27FC236}">
                <a16:creationId xmlns:a16="http://schemas.microsoft.com/office/drawing/2014/main" id="{55799E2F-3319-80F0-8F8C-531F185BC758}"/>
              </a:ext>
            </a:extLst>
          </p:cNvPr>
          <p:cNvCxnSpPr/>
          <p:nvPr/>
        </p:nvCxnSpPr>
        <p:spPr>
          <a:xfrm flipH="1">
            <a:off x="5225858" y="4632835"/>
            <a:ext cx="2179686" cy="693274"/>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Rechte verbindingslijn 17">
            <a:extLst>
              <a:ext uri="{FF2B5EF4-FFF2-40B4-BE49-F238E27FC236}">
                <a16:creationId xmlns:a16="http://schemas.microsoft.com/office/drawing/2014/main" id="{16CE7BB0-8C7C-A41A-D576-19D437C369AF}"/>
              </a:ext>
            </a:extLst>
          </p:cNvPr>
          <p:cNvCxnSpPr/>
          <p:nvPr/>
        </p:nvCxnSpPr>
        <p:spPr>
          <a:xfrm flipH="1" flipV="1">
            <a:off x="5225858" y="2870600"/>
            <a:ext cx="2268412" cy="883875"/>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2" name="Afbeelding 6">
            <a:extLst>
              <a:ext uri="{FF2B5EF4-FFF2-40B4-BE49-F238E27FC236}">
                <a16:creationId xmlns:a16="http://schemas.microsoft.com/office/drawing/2014/main" id="{6E847828-FA03-5DC4-9F94-F7214C021BEF}"/>
              </a:ext>
            </a:extLst>
          </p:cNvPr>
          <p:cNvPicPr>
            <a:picLocks noChangeAspect="1"/>
          </p:cNvPicPr>
          <p:nvPr/>
        </p:nvPicPr>
        <p:blipFill>
          <a:blip r:embed="rId6"/>
          <a:stretch>
            <a:fillRect/>
          </a:stretch>
        </p:blipFill>
        <p:spPr>
          <a:xfrm>
            <a:off x="6486526" y="1690688"/>
            <a:ext cx="688908" cy="786452"/>
          </a:xfrm>
          <a:prstGeom prst="rect">
            <a:avLst/>
          </a:prstGeom>
        </p:spPr>
      </p:pic>
      <p:pic>
        <p:nvPicPr>
          <p:cNvPr id="13" name="Afbeelding 18">
            <a:extLst>
              <a:ext uri="{FF2B5EF4-FFF2-40B4-BE49-F238E27FC236}">
                <a16:creationId xmlns:a16="http://schemas.microsoft.com/office/drawing/2014/main" id="{6309C6D4-DECB-B43D-B856-C311BAD4D260}"/>
              </a:ext>
            </a:extLst>
          </p:cNvPr>
          <p:cNvPicPr>
            <a:picLocks noChangeAspect="1"/>
          </p:cNvPicPr>
          <p:nvPr/>
        </p:nvPicPr>
        <p:blipFill>
          <a:blip r:embed="rId6"/>
          <a:stretch>
            <a:fillRect/>
          </a:stretch>
        </p:blipFill>
        <p:spPr>
          <a:xfrm>
            <a:off x="6570346" y="5374037"/>
            <a:ext cx="688908" cy="786452"/>
          </a:xfrm>
          <a:prstGeom prst="rect">
            <a:avLst/>
          </a:prstGeom>
        </p:spPr>
      </p:pic>
      <p:pic>
        <p:nvPicPr>
          <p:cNvPr id="14" name="Picture 2" descr="Smartphone - Free technology icons">
            <a:extLst>
              <a:ext uri="{FF2B5EF4-FFF2-40B4-BE49-F238E27FC236}">
                <a16:creationId xmlns:a16="http://schemas.microsoft.com/office/drawing/2014/main" id="{5BBFEE4D-9FC7-36CF-7600-519A1D50BA6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25858" y="3358358"/>
            <a:ext cx="525976" cy="52597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Smartphone - Free technology icons">
            <a:extLst>
              <a:ext uri="{FF2B5EF4-FFF2-40B4-BE49-F238E27FC236}">
                <a16:creationId xmlns:a16="http://schemas.microsoft.com/office/drawing/2014/main" id="{B1DF2E83-A3A7-0097-A72A-E63005CFDA8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26715" y="4385843"/>
            <a:ext cx="525976" cy="52597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Rechte verbindingslijn 21">
            <a:extLst>
              <a:ext uri="{FF2B5EF4-FFF2-40B4-BE49-F238E27FC236}">
                <a16:creationId xmlns:a16="http://schemas.microsoft.com/office/drawing/2014/main" id="{FC8260B5-73FA-764E-5584-678902FAD405}"/>
              </a:ext>
            </a:extLst>
          </p:cNvPr>
          <p:cNvCxnSpPr/>
          <p:nvPr/>
        </p:nvCxnSpPr>
        <p:spPr>
          <a:xfrm flipH="1">
            <a:off x="5710689" y="4385843"/>
            <a:ext cx="1680711" cy="280102"/>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Rechte verbindingslijn 23">
            <a:extLst>
              <a:ext uri="{FF2B5EF4-FFF2-40B4-BE49-F238E27FC236}">
                <a16:creationId xmlns:a16="http://schemas.microsoft.com/office/drawing/2014/main" id="{A1CF4889-B77D-6FDC-2834-B095242FF128}"/>
              </a:ext>
            </a:extLst>
          </p:cNvPr>
          <p:cNvCxnSpPr/>
          <p:nvPr/>
        </p:nvCxnSpPr>
        <p:spPr>
          <a:xfrm flipH="1" flipV="1">
            <a:off x="5724834" y="3629543"/>
            <a:ext cx="1666566" cy="314963"/>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Rechte verbindingslijn 25">
            <a:extLst>
              <a:ext uri="{FF2B5EF4-FFF2-40B4-BE49-F238E27FC236}">
                <a16:creationId xmlns:a16="http://schemas.microsoft.com/office/drawing/2014/main" id="{9A3028E6-9BDE-0AB2-0ADE-B8D8564CD2A9}"/>
              </a:ext>
            </a:extLst>
          </p:cNvPr>
          <p:cNvCxnSpPr/>
          <p:nvPr/>
        </p:nvCxnSpPr>
        <p:spPr>
          <a:xfrm flipH="1" flipV="1">
            <a:off x="7235920" y="2483371"/>
            <a:ext cx="714940" cy="802008"/>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Rechte verbindingslijn 28">
            <a:extLst>
              <a:ext uri="{FF2B5EF4-FFF2-40B4-BE49-F238E27FC236}">
                <a16:creationId xmlns:a16="http://schemas.microsoft.com/office/drawing/2014/main" id="{358B9C07-4FB8-AF7F-D094-347AF83BA80C}"/>
              </a:ext>
            </a:extLst>
          </p:cNvPr>
          <p:cNvCxnSpPr/>
          <p:nvPr/>
        </p:nvCxnSpPr>
        <p:spPr>
          <a:xfrm flipH="1">
            <a:off x="7259254" y="4894862"/>
            <a:ext cx="429326" cy="497179"/>
          </a:xfrm>
          <a:prstGeom prst="line">
            <a:avLst/>
          </a:prstGeom>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8352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E0130-1CB4-F3E7-5BCA-A54CAF94390B}"/>
              </a:ext>
            </a:extLst>
          </p:cNvPr>
          <p:cNvSpPr>
            <a:spLocks noGrp="1"/>
          </p:cNvSpPr>
          <p:nvPr>
            <p:ph type="title"/>
          </p:nvPr>
        </p:nvSpPr>
        <p:spPr/>
        <p:txBody>
          <a:bodyPr/>
          <a:lstStyle/>
          <a:p>
            <a:r>
              <a:rPr lang="en-US" dirty="0"/>
              <a:t>Cloud Computing +</a:t>
            </a:r>
            <a:endParaRPr lang="LID4096" dirty="0"/>
          </a:p>
        </p:txBody>
      </p:sp>
      <p:sp>
        <p:nvSpPr>
          <p:cNvPr id="3" name="Content Placeholder 2">
            <a:extLst>
              <a:ext uri="{FF2B5EF4-FFF2-40B4-BE49-F238E27FC236}">
                <a16:creationId xmlns:a16="http://schemas.microsoft.com/office/drawing/2014/main" id="{61A52543-9F65-15B2-3A73-34C6CB6800C2}"/>
              </a:ext>
            </a:extLst>
          </p:cNvPr>
          <p:cNvSpPr>
            <a:spLocks noGrp="1"/>
          </p:cNvSpPr>
          <p:nvPr>
            <p:ph idx="1"/>
          </p:nvPr>
        </p:nvSpPr>
        <p:spPr/>
        <p:txBody>
          <a:bodyPr/>
          <a:lstStyle/>
          <a:p>
            <a:r>
              <a:rPr lang="en-US" dirty="0" err="1"/>
              <a:t>Onafhankelijk</a:t>
            </a:r>
            <a:r>
              <a:rPr lang="en-US" dirty="0"/>
              <a:t> van </a:t>
            </a:r>
            <a:r>
              <a:rPr lang="en-US" dirty="0" err="1"/>
              <a:t>plaats</a:t>
            </a:r>
            <a:r>
              <a:rPr lang="en-US" dirty="0"/>
              <a:t> of </a:t>
            </a:r>
            <a:r>
              <a:rPr lang="en-US" dirty="0" err="1"/>
              <a:t>toestel</a:t>
            </a:r>
            <a:endParaRPr lang="en-US" dirty="0"/>
          </a:p>
          <a:p>
            <a:r>
              <a:rPr lang="en-US" dirty="0"/>
              <a:t>Vaak </a:t>
            </a:r>
            <a:r>
              <a:rPr lang="en-US" dirty="0" err="1"/>
              <a:t>goedkoper</a:t>
            </a:r>
            <a:endParaRPr lang="en-US" dirty="0"/>
          </a:p>
          <a:p>
            <a:r>
              <a:rPr lang="en-US" dirty="0" err="1"/>
              <a:t>Makkelijker</a:t>
            </a:r>
            <a:r>
              <a:rPr lang="en-US" dirty="0"/>
              <a:t> </a:t>
            </a:r>
            <a:r>
              <a:rPr lang="en-US" dirty="0" err="1"/>
              <a:t>schaalbaar</a:t>
            </a:r>
            <a:endParaRPr lang="en-US" dirty="0"/>
          </a:p>
          <a:p>
            <a:r>
              <a:rPr lang="en-US" dirty="0" err="1"/>
              <a:t>Betere</a:t>
            </a:r>
            <a:r>
              <a:rPr lang="en-US" dirty="0"/>
              <a:t> </a:t>
            </a:r>
            <a:r>
              <a:rPr lang="en-US" dirty="0" err="1"/>
              <a:t>beveiliging</a:t>
            </a:r>
            <a:endParaRPr lang="en-US" dirty="0"/>
          </a:p>
          <a:p>
            <a:r>
              <a:rPr lang="en-US" dirty="0" err="1"/>
              <a:t>Makkelijker</a:t>
            </a:r>
            <a:r>
              <a:rPr lang="en-US" dirty="0"/>
              <a:t> up-to-date </a:t>
            </a:r>
            <a:r>
              <a:rPr lang="en-US" dirty="0" err="1"/>
              <a:t>houden</a:t>
            </a:r>
            <a:endParaRPr lang="en-US" dirty="0"/>
          </a:p>
          <a:p>
            <a:r>
              <a:rPr lang="en-US" dirty="0"/>
              <a:t>Minder eigen servers</a:t>
            </a:r>
          </a:p>
          <a:p>
            <a:r>
              <a:rPr lang="en-US" dirty="0" err="1"/>
              <a:t>Makkelijker</a:t>
            </a:r>
            <a:r>
              <a:rPr lang="en-US" dirty="0"/>
              <a:t> </a:t>
            </a:r>
            <a:r>
              <a:rPr lang="en-US" dirty="0" err="1"/>
              <a:t>samenwerken</a:t>
            </a:r>
            <a:endParaRPr lang="LID4096" dirty="0"/>
          </a:p>
        </p:txBody>
      </p:sp>
    </p:spTree>
    <p:extLst>
      <p:ext uri="{BB962C8B-B14F-4D97-AF65-F5344CB8AC3E}">
        <p14:creationId xmlns:p14="http://schemas.microsoft.com/office/powerpoint/2010/main" val="30430436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8902-CD60-A2EA-2B67-D231F7E73EF2}"/>
              </a:ext>
            </a:extLst>
          </p:cNvPr>
          <p:cNvSpPr>
            <a:spLocks noGrp="1"/>
          </p:cNvSpPr>
          <p:nvPr>
            <p:ph type="title"/>
          </p:nvPr>
        </p:nvSpPr>
        <p:spPr/>
        <p:txBody>
          <a:bodyPr/>
          <a:lstStyle/>
          <a:p>
            <a:r>
              <a:rPr lang="en-US" dirty="0"/>
              <a:t>Cloud Computing -</a:t>
            </a:r>
            <a:endParaRPr lang="LID4096" dirty="0"/>
          </a:p>
        </p:txBody>
      </p:sp>
      <p:sp>
        <p:nvSpPr>
          <p:cNvPr id="3" name="Content Placeholder 2">
            <a:extLst>
              <a:ext uri="{FF2B5EF4-FFF2-40B4-BE49-F238E27FC236}">
                <a16:creationId xmlns:a16="http://schemas.microsoft.com/office/drawing/2014/main" id="{D28BA1D9-A273-5065-280E-2E9EA592330A}"/>
              </a:ext>
            </a:extLst>
          </p:cNvPr>
          <p:cNvSpPr>
            <a:spLocks noGrp="1"/>
          </p:cNvSpPr>
          <p:nvPr>
            <p:ph idx="1"/>
          </p:nvPr>
        </p:nvSpPr>
        <p:spPr/>
        <p:txBody>
          <a:bodyPr/>
          <a:lstStyle/>
          <a:p>
            <a:r>
              <a:rPr lang="en-US" dirty="0" err="1"/>
              <a:t>Afhankelijk</a:t>
            </a:r>
            <a:r>
              <a:rPr lang="en-US" dirty="0"/>
              <a:t> van externe </a:t>
            </a:r>
            <a:r>
              <a:rPr lang="en-US" dirty="0" err="1"/>
              <a:t>bronnen</a:t>
            </a:r>
            <a:endParaRPr lang="en-US" dirty="0"/>
          </a:p>
          <a:p>
            <a:r>
              <a:rPr lang="en-US" dirty="0" err="1"/>
              <a:t>Nodig</a:t>
            </a:r>
            <a:r>
              <a:rPr lang="en-US" dirty="0"/>
              <a:t> </a:t>
            </a:r>
            <a:r>
              <a:rPr lang="en-US" dirty="0" err="1"/>
              <a:t>vertrouwen</a:t>
            </a:r>
            <a:r>
              <a:rPr lang="en-US" dirty="0"/>
              <a:t> in de </a:t>
            </a:r>
            <a:r>
              <a:rPr lang="en-US" dirty="0" err="1"/>
              <a:t>aanbieder</a:t>
            </a:r>
            <a:endParaRPr lang="en-US" dirty="0"/>
          </a:p>
          <a:p>
            <a:r>
              <a:rPr lang="en-US" dirty="0" err="1"/>
              <a:t>Juridische</a:t>
            </a:r>
            <a:r>
              <a:rPr lang="en-US" dirty="0"/>
              <a:t> </a:t>
            </a:r>
            <a:r>
              <a:rPr lang="en-US" dirty="0" err="1"/>
              <a:t>onzekerheid</a:t>
            </a:r>
            <a:r>
              <a:rPr lang="en-US" dirty="0"/>
              <a:t> over </a:t>
            </a:r>
            <a:r>
              <a:rPr lang="en-US" dirty="0" err="1"/>
              <a:t>eigendom</a:t>
            </a:r>
            <a:r>
              <a:rPr lang="en-US" dirty="0"/>
              <a:t> </a:t>
            </a:r>
            <a:r>
              <a:rPr lang="en-US" dirty="0" err="1"/>
              <a:t>gegevens</a:t>
            </a:r>
            <a:endParaRPr lang="en-US" dirty="0"/>
          </a:p>
          <a:p>
            <a:r>
              <a:rPr lang="en-US" dirty="0"/>
              <a:t>Groot </a:t>
            </a:r>
            <a:r>
              <a:rPr lang="en-US" dirty="0" err="1"/>
              <a:t>doelwit</a:t>
            </a:r>
            <a:r>
              <a:rPr lang="en-US" dirty="0"/>
              <a:t> </a:t>
            </a:r>
            <a:r>
              <a:rPr lang="en-US" dirty="0" err="1"/>
              <a:t>voor</a:t>
            </a:r>
            <a:r>
              <a:rPr lang="en-US" dirty="0"/>
              <a:t> hackers</a:t>
            </a:r>
          </a:p>
          <a:p>
            <a:r>
              <a:rPr lang="en-US" dirty="0"/>
              <a:t>Wat </a:t>
            </a:r>
            <a:r>
              <a:rPr lang="en-US" dirty="0" err="1"/>
              <a:t>als</a:t>
            </a:r>
            <a:r>
              <a:rPr lang="en-US" dirty="0"/>
              <a:t> </a:t>
            </a:r>
            <a:r>
              <a:rPr lang="en-US" dirty="0" err="1"/>
              <a:t>aanbieder</a:t>
            </a:r>
            <a:r>
              <a:rPr lang="en-US" dirty="0"/>
              <a:t> </a:t>
            </a:r>
            <a:r>
              <a:rPr lang="en-US" dirty="0" err="1"/>
              <a:t>stopt</a:t>
            </a:r>
            <a:r>
              <a:rPr lang="en-US" dirty="0"/>
              <a:t>?</a:t>
            </a:r>
          </a:p>
          <a:p>
            <a:r>
              <a:rPr lang="en-US" dirty="0"/>
              <a:t>Geen </a:t>
            </a:r>
            <a:r>
              <a:rPr lang="en-US" dirty="0" err="1"/>
              <a:t>makkelijke</a:t>
            </a:r>
            <a:r>
              <a:rPr lang="en-US" dirty="0"/>
              <a:t> </a:t>
            </a:r>
            <a:r>
              <a:rPr lang="en-US" dirty="0" err="1"/>
              <a:t>overstap</a:t>
            </a:r>
            <a:r>
              <a:rPr lang="en-US" dirty="0"/>
              <a:t> (lock-in)</a:t>
            </a:r>
            <a:endParaRPr lang="LID4096" dirty="0"/>
          </a:p>
        </p:txBody>
      </p:sp>
    </p:spTree>
    <p:extLst>
      <p:ext uri="{BB962C8B-B14F-4D97-AF65-F5344CB8AC3E}">
        <p14:creationId xmlns:p14="http://schemas.microsoft.com/office/powerpoint/2010/main" val="9145673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3279</Words>
  <Application>Microsoft Office PowerPoint</Application>
  <PresentationFormat>Widescreen</PresentationFormat>
  <Paragraphs>224</Paragraphs>
  <Slides>38</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Aptos</vt:lpstr>
      <vt:lpstr>Aptos Display</vt:lpstr>
      <vt:lpstr>Arial</vt:lpstr>
      <vt:lpstr>Barlow Condensed</vt:lpstr>
      <vt:lpstr>Wingdings</vt:lpstr>
      <vt:lpstr>Office Theme</vt:lpstr>
      <vt:lpstr>Het Internet</vt:lpstr>
      <vt:lpstr>PowerPoint Presentation</vt:lpstr>
      <vt:lpstr>ARPA</vt:lpstr>
      <vt:lpstr>IP-routering</vt:lpstr>
      <vt:lpstr>IP-routering – Time to live</vt:lpstr>
      <vt:lpstr>IP-routering</vt:lpstr>
      <vt:lpstr>IP-routering – Hot Potato</vt:lpstr>
      <vt:lpstr>IP-routering – Static Routing</vt:lpstr>
      <vt:lpstr>IP-routering – Static Routing</vt:lpstr>
      <vt:lpstr>IP-routering – Dynamic routing</vt:lpstr>
      <vt:lpstr>IP-routering – Dynamic routing</vt:lpstr>
      <vt:lpstr>IP-routering – Dynamic routing</vt:lpstr>
      <vt:lpstr>IP-routering – Dynamic routing</vt:lpstr>
      <vt:lpstr>IP-routering – Dynamic routing</vt:lpstr>
      <vt:lpstr>IP-routering – Dynamic routing</vt:lpstr>
      <vt:lpstr>IP-routering – Dynamic routing</vt:lpstr>
      <vt:lpstr>IP-routering – Dynamic routing</vt:lpstr>
      <vt:lpstr>IP-routering – Distributed adaptive routing</vt:lpstr>
      <vt:lpstr>IP-routering – Centralized adaptive routing</vt:lpstr>
      <vt:lpstr>Network Address Translation</vt:lpstr>
      <vt:lpstr>NAT-Table</vt:lpstr>
      <vt:lpstr>DNS</vt:lpstr>
      <vt:lpstr>Uniform Resource Locator</vt:lpstr>
      <vt:lpstr>Uniform Resource Locator</vt:lpstr>
      <vt:lpstr>Uniform Resource Locator</vt:lpstr>
      <vt:lpstr>Uniform Resource Locator</vt:lpstr>
      <vt:lpstr>Uniform Resource Locator</vt:lpstr>
      <vt:lpstr>Uniform Resource Locator</vt:lpstr>
      <vt:lpstr>Cloud Computing</vt:lpstr>
      <vt:lpstr>Cloud Computing</vt:lpstr>
      <vt:lpstr>SaaS – Software as a Service</vt:lpstr>
      <vt:lpstr>PaaS – Platform as a Service</vt:lpstr>
      <vt:lpstr>IaaS – Infrastucture as a Service</vt:lpstr>
      <vt:lpstr>Private Cloud Computing</vt:lpstr>
      <vt:lpstr>Community Cloud Computing</vt:lpstr>
      <vt:lpstr>Public Cloud Computing</vt:lpstr>
      <vt:lpstr>Cloud Computing +</vt:lpstr>
      <vt:lpstr>Cloud Computing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Vital Vercleyen | Benedictuspoort</dc:creator>
  <cp:lastModifiedBy>Vital Vercleyen | Benedictuspoort</cp:lastModifiedBy>
  <cp:revision>8</cp:revision>
  <dcterms:created xsi:type="dcterms:W3CDTF">2025-11-12T13:36:31Z</dcterms:created>
  <dcterms:modified xsi:type="dcterms:W3CDTF">2025-11-18T15:13:52Z</dcterms:modified>
</cp:coreProperties>
</file>